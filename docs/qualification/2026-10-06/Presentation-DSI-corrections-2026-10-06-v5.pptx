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751904e8624528" /><Relationship Type="http://schemas.openxmlformats.org/officeDocument/2006/relationships/extended-properties" Target="/docProps/app.xml" Id="R3f931f18325a494f" /><Relationship Type="http://schemas.openxmlformats.org/officeDocument/2006/relationships/officeDocument" Target="/ppt/presentation.xml" Id="R62f6e923e5b440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2e5aaa1a89434c"/>
  </p:sldMasterIdLst>
  <p:notesMasterIdLst>
    <p:notesMasterId xmlns:r="http://schemas.openxmlformats.org/officeDocument/2006/relationships" r:id="R61c13638876b483f"/>
  </p:notesMasterIdLst>
  <p:sldIdLst>
    <p:sldId xmlns:r="http://schemas.openxmlformats.org/officeDocument/2006/relationships" id="256" r:id="R7cc3284b6a3a44eb"/>
    <p:sldId xmlns:r="http://schemas.openxmlformats.org/officeDocument/2006/relationships" id="257" r:id="R206ecbfea9bd4216"/>
    <p:sldId xmlns:r="http://schemas.openxmlformats.org/officeDocument/2006/relationships" id="258" r:id="R66e70e7add2e46fd"/>
    <p:sldId xmlns:r="http://schemas.openxmlformats.org/officeDocument/2006/relationships" id="259" r:id="R66b53ffd84ba469f"/>
    <p:sldId xmlns:r="http://schemas.openxmlformats.org/officeDocument/2006/relationships" id="260" r:id="R9ffd4b68435441e3"/>
    <p:sldId xmlns:r="http://schemas.openxmlformats.org/officeDocument/2006/relationships" id="261" r:id="R55f0520d9e7f48d8"/>
    <p:sldId xmlns:r="http://schemas.openxmlformats.org/officeDocument/2006/relationships" id="262" r:id="R5ebf1f32ac5d4be8"/>
    <p:sldId xmlns:r="http://schemas.openxmlformats.org/officeDocument/2006/relationships" id="263" r:id="R7e9e1af8eb4a4c60"/>
    <p:sldId xmlns:r="http://schemas.openxmlformats.org/officeDocument/2006/relationships" id="264" r:id="R87656ae868e84d54"/>
    <p:sldId xmlns:r="http://schemas.openxmlformats.org/officeDocument/2006/relationships" id="265" r:id="Rad896e57d0ab4819"/>
    <p:sldId xmlns:r="http://schemas.openxmlformats.org/officeDocument/2006/relationships" id="266" r:id="R9bea9f981a0a4f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6ba80deb604742" /><Relationship Type="http://schemas.openxmlformats.org/officeDocument/2006/relationships/slideMaster" Target="/ppt/slideMasters/slideMaster1.xml" Id="Rf72e5aaa1a89434c" /><Relationship Type="http://schemas.openxmlformats.org/officeDocument/2006/relationships/notesMaster" Target="/ppt/notesMasters/notesMaster1.xml" Id="R61c13638876b483f" /><Relationship Type="http://schemas.openxmlformats.org/officeDocument/2006/relationships/presProps" Target="/ppt/presProps.xml" Id="Rb1c3d514d26c410b" /><Relationship Type="http://schemas.openxmlformats.org/officeDocument/2006/relationships/tableStyles" Target="/ppt/tableStyles.xml" Id="Rf2341d9be0f34355" /><Relationship Type="http://schemas.openxmlformats.org/officeDocument/2006/relationships/slide" Target="/ppt/slides/slide1.xml" Id="R7cc3284b6a3a44eb" /><Relationship Type="http://schemas.openxmlformats.org/officeDocument/2006/relationships/slide" Target="/ppt/slides/slide2.xml" Id="R206ecbfea9bd4216" /><Relationship Type="http://schemas.openxmlformats.org/officeDocument/2006/relationships/slide" Target="/ppt/slides/slide3.xml" Id="R66e70e7add2e46fd" /><Relationship Type="http://schemas.openxmlformats.org/officeDocument/2006/relationships/slide" Target="/ppt/slides/slide4.xml" Id="R66b53ffd84ba469f" /><Relationship Type="http://schemas.openxmlformats.org/officeDocument/2006/relationships/slide" Target="/ppt/slides/slide5.xml" Id="R9ffd4b68435441e3" /><Relationship Type="http://schemas.openxmlformats.org/officeDocument/2006/relationships/slide" Target="/ppt/slides/slide6.xml" Id="R55f0520d9e7f48d8" /><Relationship Type="http://schemas.openxmlformats.org/officeDocument/2006/relationships/slide" Target="/ppt/slides/slide7.xml" Id="R5ebf1f32ac5d4be8" /><Relationship Type="http://schemas.openxmlformats.org/officeDocument/2006/relationships/slide" Target="/ppt/slides/slide8.xml" Id="R7e9e1af8eb4a4c60" /><Relationship Type="http://schemas.openxmlformats.org/officeDocument/2006/relationships/slide" Target="/ppt/slides/slide9.xml" Id="R87656ae868e84d54" /><Relationship Type="http://schemas.openxmlformats.org/officeDocument/2006/relationships/slide" Target="/ppt/slides/slide10.xml" Id="Rad896e57d0ab4819" /><Relationship Type="http://schemas.openxmlformats.org/officeDocument/2006/relationships/slide" Target="/ppt/slides/slide11.xml" Id="R9bea9f981a0a4f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2c6592bfd04c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07aaa7613f416a" /><Relationship Type="http://schemas.openxmlformats.org/officeDocument/2006/relationships/notesMaster" Target="/ppt/notesMasters/notesMaster1.xml" Id="R1bc25c7dfe9e43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fcdf7833204690" /><Relationship Type="http://schemas.openxmlformats.org/officeDocument/2006/relationships/notesMaster" Target="/ppt/notesMasters/notesMaster1.xml" Id="R05e84d50421c4e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9e8c6b3799452b" /><Relationship Type="http://schemas.openxmlformats.org/officeDocument/2006/relationships/notesMaster" Target="/ppt/notesMasters/notesMaster1.xml" Id="R1bc5dd3152c94e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e4e48056e74603" /><Relationship Type="http://schemas.openxmlformats.org/officeDocument/2006/relationships/notesMaster" Target="/ppt/notesMasters/notesMaster1.xml" Id="Rab058476449944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b64255bb16419e" /><Relationship Type="http://schemas.openxmlformats.org/officeDocument/2006/relationships/notesMaster" Target="/ppt/notesMasters/notesMaster1.xml" Id="R294d684aefe14b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b1060f63bf42c4" /><Relationship Type="http://schemas.openxmlformats.org/officeDocument/2006/relationships/notesMaster" Target="/ppt/notesMasters/notesMaster1.xml" Id="Rfab5e49fbd9940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1fd81aa0534c3e" /><Relationship Type="http://schemas.openxmlformats.org/officeDocument/2006/relationships/notesMaster" Target="/ppt/notesMasters/notesMaster1.xml" Id="Rcc54bb20c58343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c6f349705143d2" /><Relationship Type="http://schemas.openxmlformats.org/officeDocument/2006/relationships/notesMaster" Target="/ppt/notesMasters/notesMaster1.xml" Id="R4efa416058a946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968c1dc5984cab" /><Relationship Type="http://schemas.openxmlformats.org/officeDocument/2006/relationships/notesMaster" Target="/ppt/notesMasters/notesMaster1.xml" Id="R6e543212130646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e4795a690774ed8" /><Relationship Type="http://schemas.openxmlformats.org/officeDocument/2006/relationships/notesMaster" Target="/ppt/notesMasters/notesMaster1.xml" Id="Rcdd81834a9564e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a3b7149b6234c55" /><Relationship Type="http://schemas.openxmlformats.org/officeDocument/2006/relationships/notesMaster" Target="/ppt/notesMasters/notesMaster1.xml" Id="R6f9ba368b6b64b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Mesure autonome native-r2 : 704e5dd6a3d15994ed431b23585aabd72086ca75, 28 questions lues intégralement, 56 identités retenues. Le message initial chiffré du fournisseur n'est pas attesté en clair. Coactivation r6 dev.3 : f002356ab68282fab21fe713cf71098a6a1d0bf0, APJA échoué documentaire (4 invariants satisfaits et un false), quinze refus de quota. Dernier correctif dev.4 non mesuré, aucun résultat r6 transféré. Ancienne r4 conservée séparément. release_ready=false. Archive ed7c9532790124d976187ffe82a17cadfcb585f84d25f3d785a24b36a6989e75 rejouée hors ligne et altération rejetée. Avis humains et smoke Codex ouverts.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Mesure autonome native-r2 : 704e5dd6a3d15994ed431b23585aabd72086ca75, 28 questions lues intégralement, 56 identités retenues. Le message initial chiffré du fournisseur n'est pas attesté en clair. Coactivation r6 dev.3 : f002356ab68282fab21fe713cf71098a6a1d0bf0, APJA échoué documentaire (4 invariants satisfaits et un false), quinze refus de quota. Dernier correctif dev.4 non mesuré, aucun résultat r6 transféré. Ancienne r4 conservée séparément. release_ready=false. Archive ed7c9532790124d976187ffe82a17cadfcb585f84d25f3d785a24b36a6989e75 rejouée hors ligne et altération rejetée. Avis humains et smoke Codex ouverts.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Mesure autonome native-r2 : 704e5dd6a3d15994ed431b23585aabd72086ca75, 28 questions lues intégralement, 56 identités retenues. Le message initial chiffré du fournisseur n'est pas attesté en clair. Coactivation r6 dev.3 : f002356ab68282fab21fe713cf71098a6a1d0bf0, APJA échoué documentaire (4 invariants satisfaits et un false), quinze refus de quota. Dernier correctif dev.4 non mesuré, aucun résultat r6 transféré. Ancienne r4 conservée séparément. release_ready=false. Archive ed7c9532790124d976187ffe82a17cadfcb585f84d25f3d785a24b36a6989e75 rejouée hors ligne et altération rejetée. Avis humains et smoke Codex ouverts.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Mesure autonome native-r2 : 704e5dd6a3d15994ed431b23585aabd72086ca75, 28 questions lues intégralement, 56 identités retenues. Le message initial chiffré du fournisseur n'est pas attesté en clair. Coactivation r6 dev.3 : f002356ab68282fab21fe713cf71098a6a1d0bf0, APJA échoué documentaire (4 invariants satisfaits et un false), quinze refus de quota. Dernier correctif dev.4 non mesuré, aucun résultat r6 transféré. Ancienne r4 conservée séparément. release_ready=false. Archive ed7c9532790124d976187ffe82a17cadfcb585f84d25f3d785a24b36a6989e75 rejouée hors ligne et altération rejetée. Avis humains et smoke Codex ouverts.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Mesure autonome native-r2 : 704e5dd6a3d15994ed431b23585aabd72086ca75, 28 questions lues intégralement, 56 identités retenues. Le message initial chiffré du fournisseur n'est pas attesté en clair. Coactivation r6 dev.3 : f002356ab68282fab21fe713cf71098a6a1d0bf0, APJA échoué documentaire (4 invariants satisfaits et un false), quinze refus de quota. Dernier correctif dev.4 non mesuré, aucun résultat r6 transféré. Ancienne r4 conservée séparément. release_ready=false. Archive ed7c9532790124d976187ffe82a17cadfcb585f84d25f3d785a24b36a6989e75 rejouée hors ligne et altération rejetée. Avis humains et smoke Codex ouverts.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Mesure autonome native-r2 : 704e5dd6a3d15994ed431b23585aabd72086ca75, 28 questions lues intégralement, 56 identités retenues. Le message initial chiffré du fournisseur n'est pas attesté en clair. Coactivation r6 dev.3 : f002356ab68282fab21fe713cf71098a6a1d0bf0, APJA échoué documentaire (4 invariants satisfaits et un false), quinze refus de quota. Dernier correctif dev.4 non mesuré, aucun résultat r6 transféré. Ancienne r4 conservée séparément. release_ready=false. Archive ed7c9532790124d976187ffe82a17cadfcb585f84d25f3d785a24b36a6989e75 rejouée hors ligne et altération rejetée. Avis humains et smoke Codex ouverts.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Mesure autonome native-r2 : 704e5dd6a3d15994ed431b23585aabd72086ca75, 28 questions lues intégralement, 56 identités retenues. Le message initial chiffré du fournisseur n'est pas attesté en clair. Coactivation r6 dev.3 : f002356ab68282fab21fe713cf71098a6a1d0bf0, APJA échoué documentaire (4 invariants satisfaits et un false), quinze refus de quota. Dernier correctif dev.4 non mesuré, aucun résultat r6 transféré. Ancienne r4 conservée séparément. release_ready=false. Archive ed7c9532790124d976187ffe82a17cadfcb585f84d25f3d785a24b36a6989e75 rejouée hors ligne et altération rejetée. Avis humains et smoke Codex ouverts.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Mesure autonome native-r2 : 704e5dd6a3d15994ed431b23585aabd72086ca75, 28 questions lues intégralement, 56 identités retenues. Le message initial chiffré du fournisseur n'est pas attesté en clair. Coactivation r6 dev.3 : f002356ab68282fab21fe713cf71098a6a1d0bf0, APJA échoué documentaire (4 invariants satisfaits et un false), quinze refus de quota. Dernier correctif dev.4 non mesuré, aucun résultat r6 transféré. Ancienne r4 conservée séparément. release_ready=false. Archive ed7c9532790124d976187ffe82a17cadfcb585f84d25f3d785a24b36a6989e75 rejouée hors ligne et altération rejetée. Avis humains et smoke Codex ouverts.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Mesure autonome native-r2 : 704e5dd6a3d15994ed431b23585aabd72086ca75, 28 questions lues intégralement, 56 identités retenues. Le message initial chiffré du fournisseur n'est pas attesté en clair. Coactivation r6 dev.3 : f002356ab68282fab21fe713cf71098a6a1d0bf0, APJA échoué documentaire (4 invariants satisfaits et un false), quinze refus de quota. Dernier correctif dev.4 non mesuré, aucun résultat r6 transféré. Ancienne r4 conservée séparément. release_ready=false. Archive ed7c9532790124d976187ffe82a17cadfcb585f84d25f3d785a24b36a6989e75 rejouée hors ligne et altération rejetée. Avis humains et smoke Codex ouverts.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Mesure autonome native-r2 : 704e5dd6a3d15994ed431b23585aabd72086ca75, 28 questions lues intégralement, 56 identités retenues. Le message initial chiffré du fournisseur n'est pas attesté en clair. Coactivation r6 dev.3 : f002356ab68282fab21fe713cf71098a6a1d0bf0, APJA échoué documentaire (4 invariants satisfaits et un false), quinze refus de quota. Dernier correctif dev.4 non mesuré, aucun résultat r6 transféré. Ancienne r4 conservée séparément. release_ready=false. Archive ed7c9532790124d976187ffe82a17cadfcb585f84d25f3d785a24b36a6989e75 rejouée hors ligne et altération rejetée. Avis humains et smoke Codex ouverts.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Mesure autonome native-r2 : 704e5dd6a3d15994ed431b23585aabd72086ca75, 28 questions lues intégralement, 56 identités retenues. Le message initial chiffré du fournisseur n'est pas attesté en clair. Coactivation r6 dev.3 : f002356ab68282fab21fe713cf71098a6a1d0bf0, APJA échoué documentaire (4 invariants satisfaits et un false), quinze refus de quota. Dernier correctif dev.4 non mesuré, aucun résultat r6 transféré. Ancienne r4 conservée séparément. release_ready=false. Archive ed7c9532790124d976187ffe82a17cadfcb585f84d25f3d785a24b36a6989e75 rejouée hors ligne et altération rejetée. Avis humains et smoke Codex ouverts.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fde6b399e54b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2bf4054f1446e5" /><Relationship Type="http://schemas.openxmlformats.org/officeDocument/2006/relationships/slideLayout" Target="/ppt/slideLayouts/slideLayout1.xml" Id="R3488290a3ca845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88290a3ca845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3cc568e0b4d42" /><Relationship Type="http://schemas.openxmlformats.org/officeDocument/2006/relationships/notesSlide" Target="/ppt/notesSlides/notesSlide1.xml" Id="R250bd55ffb5a4a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ef95d71ce44e7" /><Relationship Type="http://schemas.openxmlformats.org/officeDocument/2006/relationships/notesSlide" Target="/ppt/notesSlides/notesSlide2.xml" Id="R9b5dee3936294a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d1a7df79b4d59" /><Relationship Type="http://schemas.openxmlformats.org/officeDocument/2006/relationships/notesSlide" Target="/ppt/notesSlides/notesSlide3.xml" Id="Ra2fd1e6dfbab40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885abbd544643" /><Relationship Type="http://schemas.openxmlformats.org/officeDocument/2006/relationships/chart" Target="/ppt/slides/charts/chart1.xml" Id="Rb1402d1bd9da4c42" /><Relationship Type="http://schemas.openxmlformats.org/officeDocument/2006/relationships/notesSlide" Target="/ppt/notesSlides/notesSlide4.xml" Id="R38543bdc062842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31e6764a04f80" /><Relationship Type="http://schemas.openxmlformats.org/officeDocument/2006/relationships/notesSlide" Target="/ppt/notesSlides/notesSlide5.xml" Id="Rfd53857b5dad47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ec901bae1436f" /><Relationship Type="http://schemas.openxmlformats.org/officeDocument/2006/relationships/notesSlide" Target="/ppt/notesSlides/notesSlide6.xml" Id="R6dd4ad2720f442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42e31bcc04e13" /><Relationship Type="http://schemas.openxmlformats.org/officeDocument/2006/relationships/notesSlide" Target="/ppt/notesSlides/notesSlide7.xml" Id="R7908c945b9ff4e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d4af824694aba" /><Relationship Type="http://schemas.openxmlformats.org/officeDocument/2006/relationships/notesSlide" Target="/ppt/notesSlides/notesSlide8.xml" Id="R508d4f80dbff44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e1d6bfb314e36" /><Relationship Type="http://schemas.openxmlformats.org/officeDocument/2006/relationships/notesSlide" Target="/ppt/notesSlides/notesSlide9.xml" Id="R6ddc4c9c54dc4a7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6f5fade7c4f78" /><Relationship Type="http://schemas.openxmlformats.org/officeDocument/2006/relationships/notesSlide" Target="/ppt/notesSlides/notesSlide10.xml" Id="Redcdc23ff11f4ff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d11858de740b9" /><Relationship Type="http://schemas.openxmlformats.org/officeDocument/2006/relationships/notesSlide" Target="/ppt/notesSlides/notesSlide11.xml" Id="Rdb99157ee10741f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ns1="http://schemas.openxmlformats.org/drawingml/2006/main" xmlns:ns2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Nombre de cas</c:v>
          </c:tx>
          <c:spPr>
            <ns1:solidFill>
              <ns1:srgbClr val="176E78"/>
            </ns1:solidFill>
          </c:spPr>
          <c:cat>
            <c:strRef>
              <c:f>'Chart Data'!$A$2:$A$4</c:f>
              <c:strCache>
                <c:ptCount val="3"/>
                <c:pt idx="0">
                  <c:v>Réussite</c:v>
                </c:pt>
                <c:pt idx="1">
                  <c:v>Demi-réussite</c:v>
                </c:pt>
                <c:pt idx="2">
                  <c:v>Échec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28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txPr>
            <ns1:bodyPr anchorCtr="1"/>
            <ns1:lstStyle/>
            <ns1:p>
              <ns1:pPr>
                <ns1:defRPr sz="1950" b="1">
                  <ns1:latin typeface="Arial"/>
                  <ns1:ea typeface="Arial"/>
                  <ns1:cs typeface="Arial"/>
                </ns1:defRPr>
              </ns1:pPr>
            </ns1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spPr>
          <ns1:ln w="9525">
            <ns1:solidFill>
              <ns1:srgbClr val="D4D4D4"/>
            </ns1:solidFill>
            <ns1:prstDash val="solid"/>
          </ns1:ln>
        </c:spPr>
        <c:txPr>
          <ns1:bodyPr anchorCtr="1"/>
          <ns1:lstStyle/>
          <ns1:p>
            <ns1:pPr>
              <ns1:defRPr sz="1800">
                <ns1:solidFill>
                  <ns1:srgbClr val="666666"/>
                </ns1:solidFill>
                <ns1:latin typeface="Arial"/>
                <ns1:ea typeface="Arial"/>
                <ns1:cs typeface="Arial"/>
              </ns1:defRPr>
            </ns1:pPr>
          </ns1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0"/>
        <c:majorTickMark val="none"/>
        <c:minorTickMark val="none"/>
        <c:spPr>
          <ns1:ln w="9525">
            <ns1:solidFill>
              <ns1:srgbClr val="D4D4D4"/>
            </ns1:solidFill>
            <ns1:prstDash val="solid"/>
          </ns1:ln>
        </c:spPr>
        <c:txPr>
          <ns1:bodyPr anchorCtr="1"/>
          <ns1:lstStyle/>
          <ns1:p>
            <ns1:pPr>
              <ns1:defRPr sz="1800">
                <ns1:solidFill>
                  <ns1:srgbClr val="666666"/>
                </ns1:solidFill>
                <ns1:latin typeface="Arial"/>
                <ns1:ea typeface="Arial"/>
                <ns1:cs typeface="Arial"/>
              </ns1:defRPr>
            </ns1:pPr>
          </ns1:p>
        </c:txPr>
        <c:crossAx val="48650112"/>
        <c:crossBetween val="between"/>
      </c:valAx>
      <c:spPr>
        <ns1:solidFill>
          <ns1:srgbClr val="FFFFFF"/>
        </ns1:solidFill>
      </c:spPr>
    </c:plotArea>
    <c:plotVisOnly val="1"/>
  </c:chart>
  <c:spPr>
    <ns1:solidFill>
      <ns1:srgbClr val="FFFFFF"/>
    </ns1:solidFill>
  </c:spPr>
  <c:externalData ns2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B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AE9A2-FD8D-4068-9CC7-A8065370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DSI-fpt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E18696-105B-4E85-89D4-02A7447F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Corrections et revue praticien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76213-5DDE-4572-8074-8655BEC3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C5D9E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5D9E2"/>
                </a:solidFill>
                <a:latin typeface="Arial"/>
                <a:ea typeface="Arial"/>
                <a:cs typeface="Arial"/>
              </a:rPr>
              <a:t>Collectivités territoriales · 6 octobre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11A41C-64C3-41CC-BECE-5430C3EF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EFD49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FD49D"/>
                </a:solidFill>
                <a:latin typeface="Arial"/>
                <a:ea typeface="Arial"/>
                <a:cs typeface="Arial"/>
              </a:rPr>
              <a:t>Candidat corrigé · coactivation à terminer</a:t>
            </a:r>
          </a:p>
        </p:txBody>
      </p:sp>
    </p:spTree>
    <p:extLst>
      <p:ext uri="{BB962C8B-B14F-4D97-AF65-F5344CB8AC3E}">
        <p14:creationId xmlns:p14="http://schemas.microsoft.com/office/powerpoint/2010/main" val="5472100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BAA5E-D97C-4490-A32F-EF74A573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2B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B40"/>
                </a:solidFill>
                <a:latin typeface="Arial"/>
                <a:ea typeface="Arial"/>
                <a:cs typeface="Arial"/>
              </a:rPr>
              <a:t>Périmètre de la fonction 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652F18-BC94-4C06-9782-A26605F0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Cadrer le besoin et les responsabilités, en informatique interne, mutualisée ou externalisée.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1EBF96-3B98-40E3-BB6F-CA276EAD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Gouvernance, sécurité, continuité, infrastructures, hébergement et applications métiers.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911F68-FB50-4030-81CF-456B6898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Téléservices, accessibilité, IA, exécution des contrats et réversibilité technique.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599E0-D0C9-49E8-A3E6-20FBEF54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Livrables : fiche projet, rapport d’incident, cahier des charges technique, charte et note d’homologation.</a:t>
            </a:r>
          </a:p>
        </p:txBody>
      </p:sp>
    </p:spTree>
    <p:extLst>
      <p:ext uri="{BB962C8B-B14F-4D97-AF65-F5344CB8AC3E}">
        <p14:creationId xmlns:p14="http://schemas.microsoft.com/office/powerpoint/2010/main" val="11086350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34660A-3F44-4C11-B82A-1E57E495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2B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B40"/>
                </a:solidFill>
                <a:latin typeface="Arial"/>
                <a:ea typeface="Arial"/>
                <a:cs typeface="Arial"/>
              </a:rPr>
              <a:t>Responsabilités partagées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723900" y="1581150"/>
          <a:ext xmlns:a="http://schemas.openxmlformats.org/drawingml/2006/main" cx="107442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410450"/>
              </a:tblGrid>
              <a:tr h="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Rôle</a:t>
                      </a:r>
                    </a:p>
                  </a:txBody>
                  <a:tcPr marL="152400" marR="152400" marT="57150" marB="57150">
                    <a:solidFill>
                      <a:srgbClr val="11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Volet à instruire</a:t>
                      </a:r>
                    </a:p>
                  </a:txBody>
                  <a:tcPr marL="152400" marR="152400" marT="57150" marB="57150">
                    <a:solidFill>
                      <a:srgbClr val="112B40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DSI / RSSI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Besoins, mesures techniques et continuité</a:t>
                      </a:r>
                    </a:p>
                  </a:txBody>
                  <a:tcPr marL="152400" marR="152400" marT="57150" marB="57150"/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DPO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Qualification RGPD et risques pour les personnes</a:t>
                      </a:r>
                    </a:p>
                  </a:txBody>
                  <a:tcPr marL="152400" marR="152400" marT="57150" marB="57150"/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DRH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Fonctions et conséquences statutaires</a:t>
                      </a:r>
                    </a:p>
                  </a:txBody>
                  <a:tcPr marL="152400" marR="152400" marT="57150" marB="57150"/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Police municipale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Doctrine et autorisations de vidéoprotection</a:t>
                      </a:r>
                    </a:p>
                  </a:txBody>
                  <a:tcPr marL="152400" marR="152400" marT="57150" marB="57150"/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Direction des finances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Arbitrage et qualification budgétaire</a:t>
                      </a:r>
                    </a:p>
                  </a:txBody>
                  <a:tcPr marL="152400" marR="152400" marT="57150" marB="57150"/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Recherche juridique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Sources officielles, vigueur et applicabilité</a:t>
                      </a:r>
                    </a:p>
                  </a:txBody>
                  <a:tcPr marL="152400" marR="152400" marT="57150" marB="5715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75670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D8F674-999F-4999-83B3-0E5947F1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2B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B40"/>
                </a:solidFill>
                <a:latin typeface="Arial"/>
                <a:ea typeface="Arial"/>
                <a:cs typeface="Arial"/>
              </a:rPr>
              <a:t>Mesure DSI autonome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781050" y="1657350"/>
          <a:ext xmlns:a="http://schemas.openxmlformats.org/drawingml/2006/main" cx="7143750" cy="3562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402d1bd9da4c42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E9B84F-7DD2-4215-9CAC-9A3C2642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47875"/>
            <a:ext cx="29718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12B4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2B40"/>
                </a:solidFill>
                <a:latin typeface="Arial"/>
                <a:ea typeface="Arial"/>
                <a:cs typeface="Arial"/>
              </a:rPr>
              <a:t>28 cas réussis</a:t>
            </a:r>
          </a:p>
          <a:p xmlns:a="http://schemas.openxmlformats.org/drawingml/2006/main">
            <a:pPr>
              <a:buNone/>
              <a:defRPr sz="2400" b="1">
                <a:solidFill>
                  <a:srgbClr val="112B4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2B40"/>
                </a:solidFill>
                <a:latin typeface="Arial"/>
                <a:ea typeface="Arial"/>
                <a:cs typeface="Arial"/>
              </a:rPr>
              <a:t>56 rôles retenus</a:t>
            </a:r>
          </a:p>
          <a:p xmlns:a="http://schemas.openxmlformats.org/drawingml/2006/main">
            <a:pPr>
              <a:buNone/>
              <a:defRPr sz="2400" b="1">
                <a:solidFill>
                  <a:srgbClr val="112B4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2B40"/>
                </a:solidFill>
                <a:latin typeface="Arial"/>
                <a:ea typeface="Arial"/>
                <a:cs typeface="Arial"/>
              </a:rPr>
              <a:t>8 critiques réussis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E5592-5ABA-4FCB-8EF8-00A78687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Source 704e5dd mesurée. Revue DSI/RSSI et qualification du plugin encore ouvertes.</a:t>
            </a:r>
          </a:p>
        </p:txBody>
      </p:sp>
    </p:spTree>
    <p:extLst>
      <p:ext uri="{BB962C8B-B14F-4D97-AF65-F5344CB8AC3E}">
        <p14:creationId xmlns:p14="http://schemas.microsoft.com/office/powerpoint/2010/main" val="18129620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CAAC88-D6DB-46D8-8174-F2B9AE31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2B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B40"/>
                </a:solidFill>
                <a:latin typeface="Arial"/>
                <a:ea typeface="Arial"/>
                <a:cs typeface="Arial"/>
              </a:rPr>
              <a:t>Corrections de la mesure autonome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996A96-FC70-4787-99B4-3A26BBA3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74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76E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E78"/>
                </a:solidFill>
                <a:latin typeface="Arial"/>
                <a:ea typeface="Arial"/>
                <a:cs typeface="Arial"/>
              </a:rPr>
              <a:t>Cas 10 — réversibilité contractuelle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E3549-BBE8-4DF3-A822-1D6F0ED6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107442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Bascule vers le rôle compétent et abstention sans source. Le cas 10 réussit sur le candidat corrigé.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5CFCBE-7FEA-4806-92FB-90424BC4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24275"/>
            <a:ext cx="1074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76E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E78"/>
                </a:solidFill>
                <a:latin typeface="Arial"/>
                <a:ea typeface="Arial"/>
                <a:cs typeface="Arial"/>
              </a:rPr>
              <a:t>Cas 14 — clôture d’un incident ancien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85975-C1A3-4508-973D-AD0A0558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107442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Clôture de l’objet ancien, puis réouverture si un nouvel indice la contredit. Le cas 14 réussit.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FA573-B096-49C1-AF03-DE15317C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Les anciennes mesures restent conservées. Le cache est exclu du paquet autonome.</a:t>
            </a:r>
          </a:p>
        </p:txBody>
      </p:sp>
    </p:spTree>
    <p:extLst>
      <p:ext uri="{BB962C8B-B14F-4D97-AF65-F5344CB8AC3E}">
        <p14:creationId xmlns:p14="http://schemas.microsoft.com/office/powerpoint/2010/main" val="12633320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7C5E4-4424-414A-8DF8-6BD50B0D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2B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B40"/>
                </a:solidFill>
                <a:latin typeface="Arial"/>
                <a:ea typeface="Arial"/>
                <a:cs typeface="Arial"/>
              </a:rPr>
              <a:t>Coactivation du candidat à six skills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23900" y="1581150"/>
          <a:ext xmlns:a="http://schemas.openxmlformats.org/drawingml/2006/main" cx="107442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6076950"/>
              </a:tblGrid>
              <a:tr h="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Contrôle</a:t>
                      </a:r>
                    </a:p>
                  </a:txBody>
                  <a:tcPr marL="152400" marR="152400" marT="57150" marB="57150">
                    <a:solidFill>
                      <a:srgbClr val="11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État du candidat corrigé</a:t>
                      </a:r>
                    </a:p>
                  </a:txBody>
                  <a:tcPr marL="152400" marR="152400" marT="57150" marB="57150">
                    <a:solidFill>
                      <a:srgbClr val="112B40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Composition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Six variantes locales · 166 fichiers runtime</a:t>
                      </a:r>
                    </a:p>
                  </a:txBody>
                  <a:tcPr marL="152400" marR="152400" marT="57150" marB="5715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DSI autonome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28/28 sur la source 704e5dd</a:t>
                      </a:r>
                    </a:p>
                  </a:txBody>
                  <a:tcPr marL="152400" marR="152400" marT="57150" marB="5715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Coactivation r6 dev.3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1 réponse échouée · 15 refus de quota</a:t>
                      </a:r>
                    </a:p>
                  </a:txBody>
                  <a:tcPr marL="152400" marR="152400" marT="57150" marB="5715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Dernier correctif dev.4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Concordance des catégories, BASCULE et cadrage technique</a:t>
                      </a:r>
                    </a:p>
                  </a:txBody>
                  <a:tcPr marL="152400" marR="152400" marT="57150" marB="57150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Qualification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Dev.4 non mesuré · release_ready=false</a:t>
                      </a:r>
                    </a:p>
                  </a:txBody>
                  <a:tcPr marL="152400" marR="152400" marT="57150" marB="57150"/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8F169-3F06-4801-AC22-2B9BBBCA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Dev.3 : APJA échoue, 15 cas interrompus. Dev.4 corrigé : nouvelle mesure à conduire.</a:t>
            </a:r>
          </a:p>
        </p:txBody>
      </p:sp>
    </p:spTree>
    <p:extLst>
      <p:ext uri="{BB962C8B-B14F-4D97-AF65-F5344CB8AC3E}">
        <p14:creationId xmlns:p14="http://schemas.microsoft.com/office/powerpoint/2010/main" val="15214036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96D43-3917-4C44-93DD-C1EFD655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2B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B40"/>
                </a:solidFill>
                <a:latin typeface="Arial"/>
                <a:ea typeface="Arial"/>
                <a:cs typeface="Arial"/>
              </a:rPr>
              <a:t>Coactivation : corrections et limite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4E5CE-1E0B-4656-83EF-C079199A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074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76E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E78"/>
                </a:solidFill>
                <a:latin typeface="Arial"/>
                <a:ea typeface="Arial"/>
                <a:cs typeface="Arial"/>
              </a:rPr>
              <a:t>Contrat prioritaire des six skills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FE9D25-9E0A-4BCB-B869-5A7E7268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107442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STOP avant toute annonce ; activation réelle et BASCULE avant le fond métier. Cadrage technique : exploitation, supervision et continuité.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14B17-9DB8-4F00-BBA6-6AC9C2AD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24275"/>
            <a:ext cx="1074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76E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E78"/>
                </a:solidFill>
                <a:latin typeface="Arial"/>
                <a:ea typeface="Arial"/>
                <a:cs typeface="Arial"/>
              </a:rPr>
              <a:t>Source insuffisante — abstention intégrale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CD77AB-3960-42D0-9E6B-49AA771B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107442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Comparer chaque catégorie au texte primaire reçu. Retirer toute règle non prouvée ; une synthèse d’outil et une réserve ne suffisent pas.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FE0F8-5372-4B8B-8DF6-B30B95B1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Dernière correction dev.4 non mesurée : le quota empêche de rejouer la campagne.</a:t>
            </a:r>
          </a:p>
        </p:txBody>
      </p:sp>
    </p:spTree>
    <p:extLst>
      <p:ext uri="{BB962C8B-B14F-4D97-AF65-F5344CB8AC3E}">
        <p14:creationId xmlns:p14="http://schemas.microsoft.com/office/powerpoint/2010/main" val="11252865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581B2-4DCA-4554-8D5B-DFBABEF4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2B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B40"/>
                </a:solidFill>
                <a:latin typeface="Arial"/>
                <a:ea typeface="Arial"/>
                <a:cs typeface="Arial"/>
              </a:rPr>
              <a:t>Coactivation : preuve disponible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098BD2-4FD2-4E39-B160-0573C017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Authentification fonctionnelle. APJA seul achevé ; les autres cas restent sans jugement.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23900" y="2686050"/>
          <a:ext xmlns:a="http://schemas.openxmlformats.org/drawingml/2006/main" cx="107442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505700"/>
              </a:tblGrid>
              <a:tr h="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Contrôle</a:t>
                      </a:r>
                    </a:p>
                  </a:txBody>
                  <a:tcPr marL="152400" marR="152400" marT="57150" marB="57150">
                    <a:solidFill>
                      <a:srgbClr val="11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Portée démontrée</a:t>
                      </a:r>
                    </a:p>
                  </a:txBody>
                  <a:tcPr marL="152400" marR="152400" marT="57150" marB="57150">
                    <a:solidFill>
                      <a:srgbClr val="112B4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Réponse APJA dev.3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STOP et rôles passent ; catégorie restituée à tort</a:t>
                      </a:r>
                    </a:p>
                  </a:txBody>
                  <a:tcPr marL="152400" marR="152400" marT="57150" marB="5715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Dernière correction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Concordance mot à mot imposée ; effet encore non mesuré</a:t>
                      </a:r>
                    </a:p>
                  </a:txBody>
                  <a:tcPr marL="152400" marR="152400" marT="57150" marB="5715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15 autres cas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Quota atteint · aucun score comportemental attribué</a:t>
                      </a:r>
                    </a:p>
                  </a:txBody>
                  <a:tcPr marL="152400" marR="152400" marT="57150" marB="5715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Validation humaine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Avis DSI/RSSI et juridique à recueillir</a:t>
                      </a:r>
                    </a:p>
                  </a:txBody>
                  <a:tcPr marL="152400" marR="152400" marT="57150" marB="57150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3452A-E7A5-41C3-A5E5-533D7E5D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1074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Une réponse isolée ne qualifie pas la campagne. Revue juridique humaine ouverte.</a:t>
            </a:r>
          </a:p>
        </p:txBody>
      </p:sp>
    </p:spTree>
    <p:extLst>
      <p:ext uri="{BB962C8B-B14F-4D97-AF65-F5344CB8AC3E}">
        <p14:creationId xmlns:p14="http://schemas.microsoft.com/office/powerpoint/2010/main" val="18445352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8E0EC-B8BF-4A24-BD69-4F3FD6B3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2B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B40"/>
                </a:solidFill>
                <a:latin typeface="Arial"/>
                <a:ea typeface="Arial"/>
                <a:cs typeface="Arial"/>
              </a:rPr>
              <a:t>Portée des preuves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D555A-AE93-4CE6-B9DA-ABB8925D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Les questions de campagne sont fictives. Aucun document opérationnel de collectivité n’a été fourni.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36402-0895-43C3-852F-6CC2D845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Les appels au modèle passent par un service distant. Le paquet de skills ne réalise aucune opération sur le SI.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0FF96-3299-4AC1-B225-0398D08A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La suite prévoit 11 activations forcées et 5 sélections spontanées ; le quota empêche leur nouvelle qualification complète.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ECB94-56B6-4A20-95F5-9D385981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Les extraits assainis permettent le contrôle des assertions. Ils ne remplacent pas la validation juridique et métier humaine.</a:t>
            </a:r>
          </a:p>
        </p:txBody>
      </p:sp>
    </p:spTree>
    <p:extLst>
      <p:ext uri="{BB962C8B-B14F-4D97-AF65-F5344CB8AC3E}">
        <p14:creationId xmlns:p14="http://schemas.microsoft.com/office/powerpoint/2010/main" val="6013729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FC9737-9514-4257-8916-54FA92DE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2B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B40"/>
                </a:solidFill>
                <a:latin typeface="Arial"/>
                <a:ea typeface="Arial"/>
                <a:cs typeface="Arial"/>
              </a:rPr>
              <a:t>Points soumis au DSI / RSSI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714846-B704-4133-806D-5EEC31B6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Les branches et livrables correspondent-ils aux situations de votre collectivité et à son mode d’exploitation 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E6494C-EC37-41BB-9C78-9D680619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Les responsabilités DSI, RSSI, DPO, RH et finances sont-elles attribuées aux bons interlocuteurs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DA6FE2-DC23-4AB4-9E22-9B697497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Les STOP, préservations de preuves et conditions de reprise sont-ils suffisamment opérationnels 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064C68-B75F-4300-A244-BB86559C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B354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47"/>
                </a:solidFill>
                <a:latin typeface="Arial"/>
                <a:ea typeface="Arial"/>
                <a:cs typeface="Arial"/>
              </a:rPr>
              <a:t>Quelles informations manque-t-il pour utiliser les fiches dans un dossier réel, sans données sensibles ?</a:t>
            </a:r>
          </a:p>
        </p:txBody>
      </p:sp>
    </p:spTree>
    <p:extLst>
      <p:ext uri="{BB962C8B-B14F-4D97-AF65-F5344CB8AC3E}">
        <p14:creationId xmlns:p14="http://schemas.microsoft.com/office/powerpoint/2010/main" val="15665134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4CE54D-0B5C-450E-A077-D655834A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2B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12B40"/>
                </a:solidFill>
                <a:latin typeface="Arial"/>
                <a:ea typeface="Arial"/>
                <a:cs typeface="Arial"/>
              </a:rPr>
              <a:t>Conditions de poursuite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23900" y="1581150"/>
          <a:ext xmlns:a="http://schemas.openxmlformats.org/drawingml/2006/main" cx="1074420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553200"/>
              </a:tblGrid>
              <a:tr h="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Étape</a:t>
                      </a:r>
                    </a:p>
                  </a:txBody>
                  <a:tcPr marL="152400" marR="152400" marT="57150" marB="57150">
                    <a:solidFill>
                      <a:srgbClr val="11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Preuve attendue</a:t>
                      </a:r>
                    </a:p>
                  </a:txBody>
                  <a:tcPr marL="152400" marR="152400" marT="57150" marB="57150">
                    <a:solidFill>
                      <a:srgbClr val="112B40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DSI autonome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28 cas et 56 rôles frais vérifiés sur runtime figé</a:t>
                      </a:r>
                    </a:p>
                  </a:txBody>
                  <a:tcPr marL="152400" marR="152400" marT="57150" marB="57150"/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Coactivation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Rejouer les 16 cas après le 7 octobre à 03:30</a:t>
                      </a:r>
                    </a:p>
                  </a:txBody>
                  <a:tcPr marL="152400" marR="152400" marT="57150" marB="57150"/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Revue praticien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Avis DSI/RSSI sur les branches et livrables</a:t>
                      </a:r>
                    </a:p>
                  </a:txBody>
                  <a:tcPr marL="152400" marR="152400" marT="57150" marB="57150"/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Revue juridique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Contrôle des règles, sources et frontières de rôle</a:t>
                      </a:r>
                    </a:p>
                  </a:txBody>
                  <a:tcPr marL="152400" marR="152400" marT="57150" marB="57150"/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Distribution</a:t>
                      </a:r>
                    </a:p>
                  </a:txBody>
                  <a:tcPr marL="152400" marR="152400" marT="57150" marB="57150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B3547"/>
                          </a:solidFill>
                          <a:latin typeface="Arial"/>
                          <a:ea typeface="Arial"/>
                          <a:cs typeface="Arial"/>
                        </a:rPr>
                        <a:t>Smoke Codex et qualification de release encore ouverts</a:t>
                      </a:r>
                    </a:p>
                  </a:txBody>
                  <a:tcPr marL="152400" marR="152400" marT="57150" marB="57150"/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0F410-1D5E-4051-9320-84D15FE3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1074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4"/>
                </a:solidFill>
                <a:latin typeface="Arial"/>
                <a:ea typeface="Arial"/>
                <a:cs typeface="Arial"/>
              </a:rPr>
              <a:t>PR brouillons à examiner. Reprise de coactivation et validations humaines encore requises.</a:t>
            </a:r>
          </a:p>
        </p:txBody>
      </p:sp>
    </p:spTree>
    <p:extLst>
      <p:ext uri="{BB962C8B-B14F-4D97-AF65-F5344CB8AC3E}">
        <p14:creationId xmlns:p14="http://schemas.microsoft.com/office/powerpoint/2010/main" val="7097419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2026-10-06T21:19:50.7290000Z</dcterms:created>
  <dcterms:modified xsi:type="dcterms:W3CDTF">2026-10-06T21:19:50.7290000Z</dcterms:modified>
</coreProperties>
</file>