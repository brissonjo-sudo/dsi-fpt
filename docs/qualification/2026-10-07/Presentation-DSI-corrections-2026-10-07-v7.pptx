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f88518d164134" /><Relationship Type="http://schemas.openxmlformats.org/officeDocument/2006/relationships/extended-properties" Target="/docProps/app.xml" Id="R51dc3b40d0ab4ced" /><Relationship Type="http://schemas.openxmlformats.org/officeDocument/2006/relationships/officeDocument" Target="/ppt/presentation.xml" Id="R4115088e2231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eb944004dd4fcc"/>
  </p:sldMasterIdLst>
  <p:notesMasterIdLst>
    <p:notesMasterId xmlns:r="http://schemas.openxmlformats.org/officeDocument/2006/relationships" r:id="Re3057208d0e240e3"/>
  </p:notesMasterIdLst>
  <p:sldIdLst>
    <p:sldId xmlns:r="http://schemas.openxmlformats.org/officeDocument/2006/relationships" id="256" r:id="Rbc2bface3d8a410d"/>
    <p:sldId xmlns:r="http://schemas.openxmlformats.org/officeDocument/2006/relationships" id="257" r:id="R9e80aeef81c64bbb"/>
    <p:sldId xmlns:r="http://schemas.openxmlformats.org/officeDocument/2006/relationships" id="258" r:id="Rd141120405674865"/>
    <p:sldId xmlns:r="http://schemas.openxmlformats.org/officeDocument/2006/relationships" id="259" r:id="R6407cdd38c624c0a"/>
    <p:sldId xmlns:r="http://schemas.openxmlformats.org/officeDocument/2006/relationships" id="260" r:id="R07cae029a5f94ae7"/>
    <p:sldId xmlns:r="http://schemas.openxmlformats.org/officeDocument/2006/relationships" id="261" r:id="R85600e7072d6466b"/>
    <p:sldId xmlns:r="http://schemas.openxmlformats.org/officeDocument/2006/relationships" id="262" r:id="R4ac3cdd0625440e5"/>
    <p:sldId xmlns:r="http://schemas.openxmlformats.org/officeDocument/2006/relationships" id="263" r:id="R03d260f53f7d4ab9"/>
    <p:sldId xmlns:r="http://schemas.openxmlformats.org/officeDocument/2006/relationships" id="264" r:id="R364a2ee59a8440be"/>
    <p:sldId xmlns:r="http://schemas.openxmlformats.org/officeDocument/2006/relationships" id="265" r:id="R9019ce53ce734a18"/>
    <p:sldId xmlns:r="http://schemas.openxmlformats.org/officeDocument/2006/relationships" id="266" r:id="Re71b7cc38d2844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6ef1e149f4ccc" /><Relationship Type="http://schemas.openxmlformats.org/officeDocument/2006/relationships/slideMaster" Target="/ppt/slideMasters/slideMaster1.xml" Id="R47eb944004dd4fcc" /><Relationship Type="http://schemas.openxmlformats.org/officeDocument/2006/relationships/notesMaster" Target="/ppt/notesMasters/notesMaster1.xml" Id="Re3057208d0e240e3" /><Relationship Type="http://schemas.openxmlformats.org/officeDocument/2006/relationships/presProps" Target="/ppt/presProps.xml" Id="R36f231d1bf51406b" /><Relationship Type="http://schemas.openxmlformats.org/officeDocument/2006/relationships/tableStyles" Target="/ppt/tableStyles.xml" Id="Rd5935fb19bbd4382" /><Relationship Type="http://schemas.openxmlformats.org/officeDocument/2006/relationships/slide" Target="/ppt/slides/slide1.xml" Id="Rbc2bface3d8a410d" /><Relationship Type="http://schemas.openxmlformats.org/officeDocument/2006/relationships/slide" Target="/ppt/slides/slide2.xml" Id="R9e80aeef81c64bbb" /><Relationship Type="http://schemas.openxmlformats.org/officeDocument/2006/relationships/slide" Target="/ppt/slides/slide3.xml" Id="Rd141120405674865" /><Relationship Type="http://schemas.openxmlformats.org/officeDocument/2006/relationships/slide" Target="/ppt/slides/slide4.xml" Id="R6407cdd38c624c0a" /><Relationship Type="http://schemas.openxmlformats.org/officeDocument/2006/relationships/slide" Target="/ppt/slides/slide5.xml" Id="R07cae029a5f94ae7" /><Relationship Type="http://schemas.openxmlformats.org/officeDocument/2006/relationships/slide" Target="/ppt/slides/slide6.xml" Id="R85600e7072d6466b" /><Relationship Type="http://schemas.openxmlformats.org/officeDocument/2006/relationships/slide" Target="/ppt/slides/slide7.xml" Id="R4ac3cdd0625440e5" /><Relationship Type="http://schemas.openxmlformats.org/officeDocument/2006/relationships/slide" Target="/ppt/slides/slide8.xml" Id="R03d260f53f7d4ab9" /><Relationship Type="http://schemas.openxmlformats.org/officeDocument/2006/relationships/slide" Target="/ppt/slides/slide9.xml" Id="R364a2ee59a8440be" /><Relationship Type="http://schemas.openxmlformats.org/officeDocument/2006/relationships/slide" Target="/ppt/slides/slide10.xml" Id="R9019ce53ce734a18" /><Relationship Type="http://schemas.openxmlformats.org/officeDocument/2006/relationships/slide" Target="/ppt/slides/slide11.xml" Id="Re71b7cc38d2844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6caedb44da41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a5619dcbfe4cd3" /><Relationship Type="http://schemas.openxmlformats.org/officeDocument/2006/relationships/notesMaster" Target="/ppt/notesMasters/notesMaster1.xml" Id="Rb0bf334327ad44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e619cb9277486f" /><Relationship Type="http://schemas.openxmlformats.org/officeDocument/2006/relationships/notesMaster" Target="/ppt/notesMasters/notesMaster1.xml" Id="R9091880a9c2746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800e0dd914b92" /><Relationship Type="http://schemas.openxmlformats.org/officeDocument/2006/relationships/notesMaster" Target="/ppt/notesMasters/notesMaster1.xml" Id="Re625d3c4531f42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2122c0d79e47bd" /><Relationship Type="http://schemas.openxmlformats.org/officeDocument/2006/relationships/notesMaster" Target="/ppt/notesMasters/notesMaster1.xml" Id="Rdbf233f535a5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07ba9508744d93" /><Relationship Type="http://schemas.openxmlformats.org/officeDocument/2006/relationships/notesMaster" Target="/ppt/notesMasters/notesMaster1.xml" Id="R6a190388bc644c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2c782341764ef8" /><Relationship Type="http://schemas.openxmlformats.org/officeDocument/2006/relationships/notesMaster" Target="/ppt/notesMasters/notesMaster1.xml" Id="Rb6cafb137bc64c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3c26241d3949e3" /><Relationship Type="http://schemas.openxmlformats.org/officeDocument/2006/relationships/notesMaster" Target="/ppt/notesMasters/notesMaster1.xml" Id="R1ed18745728d44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1b40cbd92b4ffd" /><Relationship Type="http://schemas.openxmlformats.org/officeDocument/2006/relationships/notesMaster" Target="/ppt/notesMasters/notesMaster1.xml" Id="R03e3ddb0cee34c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1813ab0c514583" /><Relationship Type="http://schemas.openxmlformats.org/officeDocument/2006/relationships/notesMaster" Target="/ppt/notesMasters/notesMaster1.xml" Id="R57c52a58f6a544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837e23c3764e6d" /><Relationship Type="http://schemas.openxmlformats.org/officeDocument/2006/relationships/notesMaster" Target="/ppt/notesMasters/notesMaster1.xml" Id="R184b9720d68443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dd51ca2968460e" /><Relationship Type="http://schemas.openxmlformats.org/officeDocument/2006/relationships/notesMaster" Target="/ppt/notesMasters/notesMaster1.xml" Id="Rf2bd63151d324d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DSI autonome native-r2 : source 704e5dd6a3d15994ed431b23585aabd72086ca75, 28/28 cas et 56 rôles retenus, portée propre. Coactivation Codex dev.5 native-r2 : candidat 3f0d34bd068e3427edc9335a4f1415aaf1c7c98d, source runtime ebeee944e878b11177d5ccb85d9043c4c97260a9, 166 runtime et 211 fichiers gelés ; 16 réponses, 16 juges, 32 identités distinctes. 4 réussites, 6 échecs, 6 bloqués ; 124 invariants : 107 vrais, 6 faux, 11 non démontrés. Chargement file_read_fragments, aucun appel Skill ou smoke plugin attesté. Lectures bornées complètes attestées ; message initial opaque et isolation système non certifiés. Les sources web reçues peuvent être tronquées ; primaire, pertinence et vigueur distincts. Les instructions rappellent STOP et dirigent les cas forcés ; pas de démonstration causale autonome. R1 exploratoire et scores précédents non transférés. Avis humains DSI/RSSI et juridique ouverts ; release_ready=false. Rapport : https://github.com/brissonjo-sudo/collectivite-territoriale/blob/codex/corrections-coactivation-pr5/tests/evidence/coactivation-codex-dev5-r2/rapport.md . PRs #5 et #11 brouillons ; aucun merge ni déploiement. Candidat courant 1.2.0-dev.6, source runtime 3f0df285898cf1e36d1ddda8d85d0c4cd5e0903b : correction distincte après archive dev.5, entièrement non mesurée, aucun score transféré ; release_ready=false.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9250cf9ce43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2f7f096fbc44ec" /><Relationship Type="http://schemas.openxmlformats.org/officeDocument/2006/relationships/slideLayout" Target="/ppt/slideLayouts/slideLayout1.xml" Id="R85c5eda65b5841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c5eda65b5841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81b6b68ae4d67" /><Relationship Type="http://schemas.openxmlformats.org/officeDocument/2006/relationships/notesSlide" Target="/ppt/notesSlides/notesSlide1.xml" Id="R4887be86f34d48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8a1e777e64a31" /><Relationship Type="http://schemas.openxmlformats.org/officeDocument/2006/relationships/notesSlide" Target="/ppt/notesSlides/notesSlide2.xml" Id="R3c3f858147d44e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de459025c49c3" /><Relationship Type="http://schemas.openxmlformats.org/officeDocument/2006/relationships/notesSlide" Target="/ppt/notesSlides/notesSlide3.xml" Id="R69ef6afd47bc47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5424f76314680" /><Relationship Type="http://schemas.openxmlformats.org/officeDocument/2006/relationships/chart" Target="/ppt/slides/charts/chart1.xml" Id="Ra46fde41ec144351" /><Relationship Type="http://schemas.openxmlformats.org/officeDocument/2006/relationships/notesSlide" Target="/ppt/notesSlides/notesSlide4.xml" Id="R9209a88a947040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36b1a2b3a4125" /><Relationship Type="http://schemas.openxmlformats.org/officeDocument/2006/relationships/notesSlide" Target="/ppt/notesSlides/notesSlide5.xml" Id="R7789e3a5a3e1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31b96d7c544a0" /><Relationship Type="http://schemas.openxmlformats.org/officeDocument/2006/relationships/notesSlide" Target="/ppt/notesSlides/notesSlide6.xml" Id="R26ffe20f34c04c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1c8ca891e4143" /><Relationship Type="http://schemas.openxmlformats.org/officeDocument/2006/relationships/notesSlide" Target="/ppt/notesSlides/notesSlide7.xml" Id="R8bab4f294d274a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07f0788bb44d9" /><Relationship Type="http://schemas.openxmlformats.org/officeDocument/2006/relationships/notesSlide" Target="/ppt/notesSlides/notesSlide8.xml" Id="R991203f035cc42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5020e87b345e3" /><Relationship Type="http://schemas.openxmlformats.org/officeDocument/2006/relationships/notesSlide" Target="/ppt/notesSlides/notesSlide9.xml" Id="R113c64a94da44f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22feb6b23460f" /><Relationship Type="http://schemas.openxmlformats.org/officeDocument/2006/relationships/notesSlide" Target="/ppt/notesSlides/notesSlide10.xml" Id="R71bd821d8a114d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cdecf02ab4112" /><Relationship Type="http://schemas.openxmlformats.org/officeDocument/2006/relationships/notesSlide" Target="/ppt/notesSlides/notesSlide11.xml" Id="R014a1b4324ac475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ns1="http://schemas.openxmlformats.org/drawingml/2006/main" xmlns:ns2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Nombre de cas</c:v>
          </c:tx>
          <c:spPr>
            <ns1:solidFill>
              <ns1:srgbClr val="176E78"/>
            </ns1:solidFill>
          </c:spPr>
          <c:cat>
            <c:strRef>
              <c:f>'Chart Data'!$A$2:$A$4</c:f>
              <c:strCache>
                <c:ptCount val="3"/>
                <c:pt idx="0">
                  <c:v>Réussite</c:v>
                </c:pt>
                <c:pt idx="1">
                  <c:v>Demi-réussite</c:v>
                </c:pt>
                <c:pt idx="2">
                  <c:v>Échec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txPr>
            <ns1:bodyPr anchorCtr="1"/>
            <ns1:lstStyle/>
            <ns1:p>
              <ns1:pPr>
                <ns1:defRPr sz="1950" b="1">
                  <ns1:latin typeface="Arial"/>
                  <ns1:ea typeface="Arial"/>
                  <ns1:cs typeface="Arial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80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80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c:txPr>
        <c:crossAx val="48650112"/>
        <c:crossBetween val="between"/>
      </c:valAx>
      <c:spPr>
        <ns1:solidFill>
          <ns1:srgbClr val="FFFFFF"/>
        </ns1:solidFill>
      </c:spPr>
    </c:plotArea>
    <c:plotVisOnly val="1"/>
  </c:chart>
  <c:spPr>
    <ns1:solidFill>
      <ns1:srgbClr val="FFFFFF"/>
    </ns1:solidFill>
  </c:spPr>
  <c:externalData ns2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AE9A2-FD8D-4068-9CC7-A8065370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DSI-fpt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18696-105B-4E85-89D4-02A7447F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Corrections et revue praticien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76213-5DDE-4572-8074-8655BEC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C5D9E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D9E2"/>
                </a:solidFill>
                <a:latin typeface="Arial"/>
                <a:ea typeface="Arial"/>
                <a:cs typeface="Arial"/>
              </a:rPr>
              <a:t>Collectivités territoriales · 7 octobre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1A41C-64C3-41CC-BECE-5430C3EF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FD4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D49D"/>
                </a:solidFill>
                <a:latin typeface="Arial"/>
                <a:ea typeface="Arial"/>
                <a:cs typeface="Arial"/>
              </a:rPr>
              <a:t>Dev.5 mesuré · dev.6 non mesuré</a:t>
            </a:r>
          </a:p>
        </p:txBody>
      </p:sp>
    </p:spTree>
    <p:extLst>
      <p:ext uri="{BB962C8B-B14F-4D97-AF65-F5344CB8AC3E}">
        <p14:creationId xmlns:p14="http://schemas.microsoft.com/office/powerpoint/2010/main" val="547210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BAA5E-D97C-4490-A32F-EF74A573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Périmètre de la fonction 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52F18-BC94-4C06-9782-A26605F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Cadrer le besoin et les responsabilités, en informatique interne, mutualisée ou externalisée.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EBF96-3B98-40E3-BB6F-CA276EAD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Gouvernance, sécurité, continuité, infrastructures, hébergement et applications métiers.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11F68-FB50-4030-81CF-456B6898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Téléservices, accessibilité, IA, exécution des contrats et réversibilité technique.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599E0-D0C9-49E8-A3E6-20FBEF54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Livrables : fiche projet, rapport d’incident, cahier des charges technique, charte et note d’homologation.</a:t>
            </a:r>
          </a:p>
        </p:txBody>
      </p:sp>
    </p:spTree>
    <p:extLst>
      <p:ext uri="{BB962C8B-B14F-4D97-AF65-F5344CB8AC3E}">
        <p14:creationId xmlns:p14="http://schemas.microsoft.com/office/powerpoint/2010/main" val="1108635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4660A-3F44-4C11-B82A-1E57E495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Responsabilités partagées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41045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Volet à instruire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/ RSSI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Besoins, mesures techniques et continuité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DPO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Qualification RGPD et risques pour les personnes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DRH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Fonctions et conséquences statutaires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Police municipale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Doctrine et autorisations de vidéoprotection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Direction des finances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Arbitrage et qualification budgétaire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Recherche juridique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Sources officielles, vigueur et applicabilité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567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8F674-999F-4999-83B3-0E5947F1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Mesure DSI autonome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81050" y="1657350"/>
          <a:ext xmlns:a="http://schemas.openxmlformats.org/drawingml/2006/main" cx="7143750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6fde41ec14435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9B84F-7DD2-4215-9CAC-9A3C2642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7875"/>
            <a:ext cx="29718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28 cas réussis</a:t>
            </a:r>
          </a:p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56 rôles retenus</a:t>
            </a:r>
          </a:p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8 critiques réussis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E5592-5ABA-4FCB-8EF8-00A78687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Source 704e5dd mesurée. Revue DSI/RSSI et qualification du plugin encore ouvertes.</a:t>
            </a:r>
          </a:p>
        </p:txBody>
      </p:sp>
    </p:spTree>
    <p:extLst>
      <p:ext uri="{BB962C8B-B14F-4D97-AF65-F5344CB8AC3E}">
        <p14:creationId xmlns:p14="http://schemas.microsoft.com/office/powerpoint/2010/main" val="1812962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AAC88-D6DB-46D8-8174-F2B9AE31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Corrections de la mesure autonome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96A96-FC70-4787-99B4-3A26BBA3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Cas 10 — réversibilité contractuelle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E3549-BBE8-4DF3-A822-1D6F0ED6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Bascule vers le rôle compétent et abstention sans source. Le cas 10 réussit sur le candidat corrigé.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CFCBE-7FEA-4806-92FB-90424BC4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Cas 14 — clôture d’un incident ancien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85975-C1A3-4508-973D-AD0A0558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Clôture de l’objet ancien, puis réouverture si un nouvel indice la contredit. Le cas 14 réussit.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A573-B096-49C1-AF03-DE15317C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Les anciennes mesures restent conservées. Le cache est exclu du paquet autonome.</a:t>
            </a:r>
          </a:p>
        </p:txBody>
      </p:sp>
    </p:spTree>
    <p:extLst>
      <p:ext uri="{BB962C8B-B14F-4D97-AF65-F5344CB8AC3E}">
        <p14:creationId xmlns:p14="http://schemas.microsoft.com/office/powerpoint/2010/main" val="1263332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7C5E4-4424-414A-8DF8-6BD50B0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du candidat à six skills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07695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État du candidat corrigé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Composition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Six variantes locales · 166 fichiers runtime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autonome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28/28 sur la source 704e5dd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Coactivation Codex dev.5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16 cas jugés · 4 réussites, 6 échecs, 6 bloqués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Correctif dev.6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Candidat distinct non mesuré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Qualification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Mesure native · release_ready=false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8F169-3F06-4801-AC22-2B9BBBCA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Codex natif : 16 réponses et 16 juges. Chargement des fichiers ; activation du plugin non prouvée.</a:t>
            </a:r>
          </a:p>
        </p:txBody>
      </p:sp>
    </p:spTree>
    <p:extLst>
      <p:ext uri="{BB962C8B-B14F-4D97-AF65-F5344CB8AC3E}">
        <p14:creationId xmlns:p14="http://schemas.microsoft.com/office/powerpoint/2010/main" val="1521403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96D43-3917-4C44-93DD-C1EFD655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native : portée et écarts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4E5CE-1E0B-4656-83EF-C079199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Lectures et frontières observées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E9D25-9E0A-4BCB-B869-5A7E7268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Entrées et fichiers complets par fragments. STOP, rôle métier et abstention sont jugés sur les textes reçus.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14B17-9DB8-4F00-BBA6-6AC9C2AD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Correctif dev.6 à qualifier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D77AB-3960-42D0-9E6B-49AA771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STOP conservatoire, transfert DirFi préalable et abstention juridique attribuée. Dev.6 distinct, sans score transféré.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E0F8-5372-4B8B-8DF6-B30B95B1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Résultats propres à dev.5 ; aucun score des campagnes antérieures transféré.</a:t>
            </a:r>
          </a:p>
        </p:txBody>
      </p:sp>
    </p:spTree>
    <p:extLst>
      <p:ext uri="{BB962C8B-B14F-4D97-AF65-F5344CB8AC3E}">
        <p14:creationId xmlns:p14="http://schemas.microsoft.com/office/powerpoint/2010/main" val="11252865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581B2-4DCA-4554-8D5B-DFBABEF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: preuve disponible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98BD2-4FD2-4E39-B160-0573C01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16 cas jugés ici avec des sous-agents Codex : 4 réussites, 6 échecs, 6 bloqués.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23900" y="2686050"/>
          <a:ext xmlns:a="http://schemas.openxmlformats.org/drawingml/2006/main" cx="10744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0570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Portée démontrée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Trois cas sans source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2 réussis, 0 échoués, 1 bloqués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Treize cas nominaux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Preuve primaire reçue dans 8 cas ; pertinence jugée séparément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Fraîcheur et lectures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32 rôles ; entrées, fichiers et paquets complets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Validation humaine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Avis DSI/RSSI et juridique à recueillir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3452A-E7A5-41C3-A5E5-533D7E5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Les résultats natifs restent distincts du smoke plugin. Revues humaines ouvertes.</a:t>
            </a:r>
          </a:p>
        </p:txBody>
      </p:sp>
    </p:spTree>
    <p:extLst>
      <p:ext uri="{BB962C8B-B14F-4D97-AF65-F5344CB8AC3E}">
        <p14:creationId xmlns:p14="http://schemas.microsoft.com/office/powerpoint/2010/main" val="1844535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8E0EC-B8BF-4A24-BD69-4F3FD6B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Portée des preuves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D555A-AE93-4CE6-B9DA-ABB8925D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questions de campagne sont fictives. Aucun document opérationnel de collectivité n’a été fourni.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36402-0895-43C3-852F-6CC2D845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appels au modèle passent par un service distant. Le paquet de skills ne réalise aucune opération sur le 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0FF96-3299-4AC1-B225-0398D08A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11 cas forcés et 5 spontanés exécutés en sessions fraîches. La sélection se juge sur les lectures et les réponses.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ECB94-56B6-4A20-95F5-9D385981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extraits assainis permettent le contrôle des assertions. Ils ne remplacent pas la validation juridique et métier humaine.</a:t>
            </a:r>
          </a:p>
        </p:txBody>
      </p:sp>
    </p:spTree>
    <p:extLst>
      <p:ext uri="{BB962C8B-B14F-4D97-AF65-F5344CB8AC3E}">
        <p14:creationId xmlns:p14="http://schemas.microsoft.com/office/powerpoint/2010/main" val="601372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C9737-9514-4257-8916-54FA92D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Points soumis au DSI / RSSI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14846-B704-4133-806D-5EEC31B6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branches et livrables correspondent-ils aux situations de votre collectivité et à son mode d’exploitation 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6494C-EC37-41BB-9C78-9D680619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responsabilités DSI, RSSI, DPO, RH et finances sont-elles attribuées aux bons interlocuteurs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A6FE2-DC23-4AB4-9E22-9B697497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STOP, préservations de preuves et conditions de reprise sont-ils suffisamment opérationnels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64C68-B75F-4300-A244-BB86559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Quelles informations manque-t-il pour utiliser les fiches dans un dossier réel, sans données sensibles ?</a:t>
            </a:r>
          </a:p>
        </p:txBody>
      </p:sp>
    </p:spTree>
    <p:extLst>
      <p:ext uri="{BB962C8B-B14F-4D97-AF65-F5344CB8AC3E}">
        <p14:creationId xmlns:p14="http://schemas.microsoft.com/office/powerpoint/2010/main" val="1566513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CE54D-0B5C-450E-A077-D655834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Conditions de poursuite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55320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Étape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Preuve attendue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autonome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28 cas et 56 rôles frais vérifiés sur runtime figé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Coactivation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Qualifier dev.6 sans transférer les scores dev.5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Revue praticien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Avis DSI/RSSI sur les branches et livrables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Revue juridique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Contrôle des règles, sources et frontières de rôle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Distribution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Smoke du plugin candidat et qualification encore ouverts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0F410-1D5E-4051-9320-84D15FE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PR brouillons à examiner. Reprise de coactivation et validations humaines encore requises.</a:t>
            </a:r>
          </a:p>
        </p:txBody>
      </p:sp>
    </p:spTree>
    <p:extLst>
      <p:ext uri="{BB962C8B-B14F-4D97-AF65-F5344CB8AC3E}">
        <p14:creationId xmlns:p14="http://schemas.microsoft.com/office/powerpoint/2010/main" val="709741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2026-10-07T19:36:48.2390000Z</dcterms:created>
  <dcterms:modified xsi:type="dcterms:W3CDTF">2026-10-07T19:36:48.2390000Z</dcterms:modified>
</coreProperties>
</file>