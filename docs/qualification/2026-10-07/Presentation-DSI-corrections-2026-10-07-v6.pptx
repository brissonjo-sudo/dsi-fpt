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b299df0f6545c6" /><Relationship Type="http://schemas.openxmlformats.org/officeDocument/2006/relationships/extended-properties" Target="/docProps/app.xml" Id="Rbefbadd01cbd4e7b" /><Relationship Type="http://schemas.openxmlformats.org/officeDocument/2006/relationships/officeDocument" Target="/ppt/presentation.xml" Id="Ra896a25b7dca49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1bbe6e085a486c"/>
  </p:sldMasterIdLst>
  <p:notesMasterIdLst>
    <p:notesMasterId xmlns:r="http://schemas.openxmlformats.org/officeDocument/2006/relationships" r:id="R4fe5e63e692447b2"/>
  </p:notesMasterIdLst>
  <p:sldIdLst>
    <p:sldId xmlns:r="http://schemas.openxmlformats.org/officeDocument/2006/relationships" id="256" r:id="Refee9b45d1b14d43"/>
    <p:sldId xmlns:r="http://schemas.openxmlformats.org/officeDocument/2006/relationships" id="257" r:id="R553269d39c334eef"/>
    <p:sldId xmlns:r="http://schemas.openxmlformats.org/officeDocument/2006/relationships" id="258" r:id="Re1d7850a535c4582"/>
    <p:sldId xmlns:r="http://schemas.openxmlformats.org/officeDocument/2006/relationships" id="259" r:id="Rd76d563c7ea94ef8"/>
    <p:sldId xmlns:r="http://schemas.openxmlformats.org/officeDocument/2006/relationships" id="260" r:id="R05b28a7db6ac492e"/>
    <p:sldId xmlns:r="http://schemas.openxmlformats.org/officeDocument/2006/relationships" id="261" r:id="R776aedc6979349d3"/>
    <p:sldId xmlns:r="http://schemas.openxmlformats.org/officeDocument/2006/relationships" id="262" r:id="R9ffd01b147654912"/>
    <p:sldId xmlns:r="http://schemas.openxmlformats.org/officeDocument/2006/relationships" id="263" r:id="R0427262403024ebb"/>
    <p:sldId xmlns:r="http://schemas.openxmlformats.org/officeDocument/2006/relationships" id="264" r:id="Raf9f7977f8e34bad"/>
    <p:sldId xmlns:r="http://schemas.openxmlformats.org/officeDocument/2006/relationships" id="265" r:id="Rc704a5b8e13d4d52"/>
    <p:sldId xmlns:r="http://schemas.openxmlformats.org/officeDocument/2006/relationships" id="266" r:id="Rc9ec353ea23842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913a196f21408c" /><Relationship Type="http://schemas.openxmlformats.org/officeDocument/2006/relationships/slideMaster" Target="/ppt/slideMasters/slideMaster1.xml" Id="Rf21bbe6e085a486c" /><Relationship Type="http://schemas.openxmlformats.org/officeDocument/2006/relationships/notesMaster" Target="/ppt/notesMasters/notesMaster1.xml" Id="R4fe5e63e692447b2" /><Relationship Type="http://schemas.openxmlformats.org/officeDocument/2006/relationships/presProps" Target="/ppt/presProps.xml" Id="R3e92c1fc2fea40ea" /><Relationship Type="http://schemas.openxmlformats.org/officeDocument/2006/relationships/tableStyles" Target="/ppt/tableStyles.xml" Id="Ra23681be559d4ac9" /><Relationship Type="http://schemas.openxmlformats.org/officeDocument/2006/relationships/slide" Target="/ppt/slides/slide1.xml" Id="Refee9b45d1b14d43" /><Relationship Type="http://schemas.openxmlformats.org/officeDocument/2006/relationships/slide" Target="/ppt/slides/slide2.xml" Id="R553269d39c334eef" /><Relationship Type="http://schemas.openxmlformats.org/officeDocument/2006/relationships/slide" Target="/ppt/slides/slide3.xml" Id="Re1d7850a535c4582" /><Relationship Type="http://schemas.openxmlformats.org/officeDocument/2006/relationships/slide" Target="/ppt/slides/slide4.xml" Id="Rd76d563c7ea94ef8" /><Relationship Type="http://schemas.openxmlformats.org/officeDocument/2006/relationships/slide" Target="/ppt/slides/slide5.xml" Id="R05b28a7db6ac492e" /><Relationship Type="http://schemas.openxmlformats.org/officeDocument/2006/relationships/slide" Target="/ppt/slides/slide6.xml" Id="R776aedc6979349d3" /><Relationship Type="http://schemas.openxmlformats.org/officeDocument/2006/relationships/slide" Target="/ppt/slides/slide7.xml" Id="R9ffd01b147654912" /><Relationship Type="http://schemas.openxmlformats.org/officeDocument/2006/relationships/slide" Target="/ppt/slides/slide8.xml" Id="R0427262403024ebb" /><Relationship Type="http://schemas.openxmlformats.org/officeDocument/2006/relationships/slide" Target="/ppt/slides/slide9.xml" Id="Raf9f7977f8e34bad" /><Relationship Type="http://schemas.openxmlformats.org/officeDocument/2006/relationships/slide" Target="/ppt/slides/slide10.xml" Id="Rc704a5b8e13d4d52" /><Relationship Type="http://schemas.openxmlformats.org/officeDocument/2006/relationships/slide" Target="/ppt/slides/slide11.xml" Id="Rc9ec353ea23842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f1504b620743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3e735305bd433d" /><Relationship Type="http://schemas.openxmlformats.org/officeDocument/2006/relationships/notesMaster" Target="/ppt/notesMasters/notesMaster1.xml" Id="R566f0d3cae1946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1a6d0e14fa4fdb" /><Relationship Type="http://schemas.openxmlformats.org/officeDocument/2006/relationships/notesMaster" Target="/ppt/notesMasters/notesMaster1.xml" Id="R6bcf05435ddd41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bf287b73c94aa1" /><Relationship Type="http://schemas.openxmlformats.org/officeDocument/2006/relationships/notesMaster" Target="/ppt/notesMasters/notesMaster1.xml" Id="R149c576c3e7849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9a6a67683e48f6" /><Relationship Type="http://schemas.openxmlformats.org/officeDocument/2006/relationships/notesMaster" Target="/ppt/notesMasters/notesMaster1.xml" Id="R2936c89b5f6a47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c5ac459bc84628" /><Relationship Type="http://schemas.openxmlformats.org/officeDocument/2006/relationships/notesMaster" Target="/ppt/notesMasters/notesMaster1.xml" Id="Rab481aeb512b4a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9fb4515fae4173" /><Relationship Type="http://schemas.openxmlformats.org/officeDocument/2006/relationships/notesMaster" Target="/ppt/notesMasters/notesMaster1.xml" Id="R721d56e394f54b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ec5cffc11e47e4" /><Relationship Type="http://schemas.openxmlformats.org/officeDocument/2006/relationships/notesMaster" Target="/ppt/notesMasters/notesMaster1.xml" Id="R061f8c4009614d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c9a92d3a674d07" /><Relationship Type="http://schemas.openxmlformats.org/officeDocument/2006/relationships/notesMaster" Target="/ppt/notesMasters/notesMaster1.xml" Id="Rbd56bfba5d6346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16cb2831124ff1" /><Relationship Type="http://schemas.openxmlformats.org/officeDocument/2006/relationships/notesMaster" Target="/ppt/notesMasters/notesMaster1.xml" Id="Ra8820a12c6264f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f56a9140414886" /><Relationship Type="http://schemas.openxmlformats.org/officeDocument/2006/relationships/notesMaster" Target="/ppt/notesMasters/notesMaster1.xml" Id="R28bf0b2d67cb43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03a242d6a347df" /><Relationship Type="http://schemas.openxmlformats.org/officeDocument/2006/relationships/notesMaster" Target="/ppt/notesMasters/notesMaster1.xml" Id="R6c12e24927d84e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cas, 56 rôles retenus. R7 plugin dev.4 : d1ab287376c8ae3605b0459850210be4a4e91bf9, 166 runtime et 211 empreintes intacts ; six réponses et six juges frais, 1 réussite et 5 échecs ; 28 invariants true, 5 false, 10 unknown. Trois nominaux needs-auth ; un cas interrompu sans réponse capturée et neuf non exécutés. Rapport : https://github.com/brissonjo-sudo/collectivite-territoriale/blob/codex/corrections-coactivation-pr5/tests/evidence/coactivation-corrigee/rapport-partiel-corrections-r7.md . Dev.5 distinct entièrement non mesuré. Aucun score r7 transféré. Avis DSI/RSSI et juridique, smoke Codex et release restent ouverts. Messages initiaux opaques non attestés en clair. Archive DSI/r6 du 6 octobre conservée séparément : elle ne contient pas r7. PRs #5 DSI-fpt et #11 collectivite-territoriale brouillons.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cas, 56 rôles retenus. R7 plugin dev.4 : d1ab287376c8ae3605b0459850210be4a4e91bf9, 166 runtime et 211 empreintes intacts ; six réponses et six juges frais, 1 réussite et 5 échecs ; 28 invariants true, 5 false, 10 unknown. Trois nominaux needs-auth ; un cas interrompu sans réponse capturée et neuf non exécutés. Rapport : https://github.com/brissonjo-sudo/collectivite-territoriale/blob/codex/corrections-coactivation-pr5/tests/evidence/coactivation-corrigee/rapport-partiel-corrections-r7.md . Dev.5 distinct entièrement non mesuré. Aucun score r7 transféré. Avis DSI/RSSI et juridique, smoke Codex et release restent ouverts. Messages initiaux opaques non attestés en clair. Archive DSI/r6 du 6 octobre conservée séparément : elle ne contient pas r7. PRs #5 DSI-fpt et #11 collectivite-territoriale brouillons.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cas, 56 rôles retenus. R7 plugin dev.4 : d1ab287376c8ae3605b0459850210be4a4e91bf9, 166 runtime et 211 empreintes intacts ; six réponses et six juges frais, 1 réussite et 5 échecs ; 28 invariants true, 5 false, 10 unknown. Trois nominaux needs-auth ; un cas interrompu sans réponse capturée et neuf non exécutés. Rapport : https://github.com/brissonjo-sudo/collectivite-territoriale/blob/codex/corrections-coactivation-pr5/tests/evidence/coactivation-corrigee/rapport-partiel-corrections-r7.md . Dev.5 distinct entièrement non mesuré. Aucun score r7 transféré. Avis DSI/RSSI et juridique, smoke Codex et release restent ouverts. Messages initiaux opaques non attestés en clair. Archive DSI/r6 du 6 octobre conservée séparément : elle ne contient pas r7. PRs #5 DSI-fpt et #11 collectivite-territoriale brouillons.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cas, 56 rôles retenus. R7 plugin dev.4 : d1ab287376c8ae3605b0459850210be4a4e91bf9, 166 runtime et 211 empreintes intacts ; six réponses et six juges frais, 1 réussite et 5 échecs ; 28 invariants true, 5 false, 10 unknown. Trois nominaux needs-auth ; un cas interrompu sans réponse capturée et neuf non exécutés. Rapport : https://github.com/brissonjo-sudo/collectivite-territoriale/blob/codex/corrections-coactivation-pr5/tests/evidence/coactivation-corrigee/rapport-partiel-corrections-r7.md . Dev.5 distinct entièrement non mesuré. Aucun score r7 transféré. Avis DSI/RSSI et juridique, smoke Codex et release restent ouverts. Messages initiaux opaques non attestés en clair. Archive DSI/r6 du 6 octobre conservée séparément : elle ne contient pas r7. PRs #5 DSI-fpt et #11 collectivite-territoriale brouillons.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cas, 56 rôles retenus. R7 plugin dev.4 : d1ab287376c8ae3605b0459850210be4a4e91bf9, 166 runtime et 211 empreintes intacts ; six réponses et six juges frais, 1 réussite et 5 échecs ; 28 invariants true, 5 false, 10 unknown. Trois nominaux needs-auth ; un cas interrompu sans réponse capturée et neuf non exécutés. Rapport : https://github.com/brissonjo-sudo/collectivite-territoriale/blob/codex/corrections-coactivation-pr5/tests/evidence/coactivation-corrigee/rapport-partiel-corrections-r7.md . Dev.5 distinct entièrement non mesuré. Aucun score r7 transféré. Avis DSI/RSSI et juridique, smoke Codex et release restent ouverts. Messages initiaux opaques non attestés en clair. Archive DSI/r6 du 6 octobre conservée séparément : elle ne contient pas r7. PRs #5 DSI-fpt et #11 collectivite-territoriale brouillons.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cas, 56 rôles retenus. R7 plugin dev.4 : d1ab287376c8ae3605b0459850210be4a4e91bf9, 166 runtime et 211 empreintes intacts ; six réponses et six juges frais, 1 réussite et 5 échecs ; 28 invariants true, 5 false, 10 unknown. Trois nominaux needs-auth ; un cas interrompu sans réponse capturée et neuf non exécutés. Rapport : https://github.com/brissonjo-sudo/collectivite-territoriale/blob/codex/corrections-coactivation-pr5/tests/evidence/coactivation-corrigee/rapport-partiel-corrections-r7.md . Dev.5 distinct entièrement non mesuré. Aucun score r7 transféré. Avis DSI/RSSI et juridique, smoke Codex et release restent ouverts. Messages initiaux opaques non attestés en clair. Archive DSI/r6 du 6 octobre conservée séparément : elle ne contient pas r7. PRs #5 DSI-fpt et #11 collectivite-territoriale brouillons.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cas, 56 rôles retenus. R7 plugin dev.4 : d1ab287376c8ae3605b0459850210be4a4e91bf9, 166 runtime et 211 empreintes intacts ; six réponses et six juges frais, 1 réussite et 5 échecs ; 28 invariants true, 5 false, 10 unknown. Trois nominaux needs-auth ; un cas interrompu sans réponse capturée et neuf non exécutés. Rapport : https://github.com/brissonjo-sudo/collectivite-territoriale/blob/codex/corrections-coactivation-pr5/tests/evidence/coactivation-corrigee/rapport-partiel-corrections-r7.md . Dev.5 distinct entièrement non mesuré. Aucun score r7 transféré. Avis DSI/RSSI et juridique, smoke Codex et release restent ouverts. Messages initiaux opaques non attestés en clair. Archive DSI/r6 du 6 octobre conservée séparément : elle ne contient pas r7. PRs #5 DSI-fpt et #11 collectivite-territoriale brouillons.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cas, 56 rôles retenus. R7 plugin dev.4 : d1ab287376c8ae3605b0459850210be4a4e91bf9, 166 runtime et 211 empreintes intacts ; six réponses et six juges frais, 1 réussite et 5 échecs ; 28 invariants true, 5 false, 10 unknown. Trois nominaux needs-auth ; un cas interrompu sans réponse capturée et neuf non exécutés. Rapport : https://github.com/brissonjo-sudo/collectivite-territoriale/blob/codex/corrections-coactivation-pr5/tests/evidence/coactivation-corrigee/rapport-partiel-corrections-r7.md . Dev.5 distinct entièrement non mesuré. Aucun score r7 transféré. Avis DSI/RSSI et juridique, smoke Codex et release restent ouverts. Messages initiaux opaques non attestés en clair. Archive DSI/r6 du 6 octobre conservée séparément : elle ne contient pas r7. PRs #5 DSI-fpt et #11 collectivite-territoriale brouillons.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cas, 56 rôles retenus. R7 plugin dev.4 : d1ab287376c8ae3605b0459850210be4a4e91bf9, 166 runtime et 211 empreintes intacts ; six réponses et six juges frais, 1 réussite et 5 échecs ; 28 invariants true, 5 false, 10 unknown. Trois nominaux needs-auth ; un cas interrompu sans réponse capturée et neuf non exécutés. Rapport : https://github.com/brissonjo-sudo/collectivite-territoriale/blob/codex/corrections-coactivation-pr5/tests/evidence/coactivation-corrigee/rapport-partiel-corrections-r7.md . Dev.5 distinct entièrement non mesuré. Aucun score r7 transféré. Avis DSI/RSSI et juridique, smoke Codex et release restent ouverts. Messages initiaux opaques non attestés en clair. Archive DSI/r6 du 6 octobre conservée séparément : elle ne contient pas r7. PRs #5 DSI-fpt et #11 collectivite-territoriale brouillons.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cas, 56 rôles retenus. R7 plugin dev.4 : d1ab287376c8ae3605b0459850210be4a4e91bf9, 166 runtime et 211 empreintes intacts ; six réponses et six juges frais, 1 réussite et 5 échecs ; 28 invariants true, 5 false, 10 unknown. Trois nominaux needs-auth ; un cas interrompu sans réponse capturée et neuf non exécutés. Rapport : https://github.com/brissonjo-sudo/collectivite-territoriale/blob/codex/corrections-coactivation-pr5/tests/evidence/coactivation-corrigee/rapport-partiel-corrections-r7.md . Dev.5 distinct entièrement non mesuré. Aucun score r7 transféré. Avis DSI/RSSI et juridique, smoke Codex et release restent ouverts. Messages initiaux opaques non attestés en clair. Archive DSI/r6 du 6 octobre conservée séparément : elle ne contient pas r7. PRs #5 DSI-fpt et #11 collectivite-territoriale brouillons.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cas, 56 rôles retenus. R7 plugin dev.4 : d1ab287376c8ae3605b0459850210be4a4e91bf9, 166 runtime et 211 empreintes intacts ; six réponses et six juges frais, 1 réussite et 5 échecs ; 28 invariants true, 5 false, 10 unknown. Trois nominaux needs-auth ; un cas interrompu sans réponse capturée et neuf non exécutés. Rapport : https://github.com/brissonjo-sudo/collectivite-territoriale/blob/codex/corrections-coactivation-pr5/tests/evidence/coactivation-corrigee/rapport-partiel-corrections-r7.md . Dev.5 distinct entièrement non mesuré. Aucun score r7 transféré. Avis DSI/RSSI et juridique, smoke Codex et release restent ouverts. Messages initiaux opaques non attestés en clair. Archive DSI/r6 du 6 octobre conservée séparément : elle ne contient pas r7. PRs #5 DSI-fpt et #11 collectivite-territoriale brouillons.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c7d3be150f4c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677e1f9da141b2" /><Relationship Type="http://schemas.openxmlformats.org/officeDocument/2006/relationships/slideLayout" Target="/ppt/slideLayouts/slideLayout1.xml" Id="Rec4020e426a24c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4020e426a24c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566f2ea1b4617" /><Relationship Type="http://schemas.openxmlformats.org/officeDocument/2006/relationships/notesSlide" Target="/ppt/notesSlides/notesSlide1.xml" Id="R7809884422d24a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3cc62653a4abb" /><Relationship Type="http://schemas.openxmlformats.org/officeDocument/2006/relationships/notesSlide" Target="/ppt/notesSlides/notesSlide2.xml" Id="R1b8e8ad1b7da4e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21454190d44e9" /><Relationship Type="http://schemas.openxmlformats.org/officeDocument/2006/relationships/notesSlide" Target="/ppt/notesSlides/notesSlide3.xml" Id="R77c651d5b1f04c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ec51e848e4f62" /><Relationship Type="http://schemas.openxmlformats.org/officeDocument/2006/relationships/chart" Target="/ppt/slides/charts/chart1.xml" Id="Rd2aecc3c6f684dbb" /><Relationship Type="http://schemas.openxmlformats.org/officeDocument/2006/relationships/notesSlide" Target="/ppt/notesSlides/notesSlide4.xml" Id="R7e5bf547d33641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c5fd58364495d" /><Relationship Type="http://schemas.openxmlformats.org/officeDocument/2006/relationships/notesSlide" Target="/ppt/notesSlides/notesSlide5.xml" Id="R51284322a11841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958554dae4c9e" /><Relationship Type="http://schemas.openxmlformats.org/officeDocument/2006/relationships/notesSlide" Target="/ppt/notesSlides/notesSlide6.xml" Id="R07e24085eeb044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0af9426e346c2" /><Relationship Type="http://schemas.openxmlformats.org/officeDocument/2006/relationships/notesSlide" Target="/ppt/notesSlides/notesSlide7.xml" Id="R6ff9069fe64f4c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9680767e04b5a" /><Relationship Type="http://schemas.openxmlformats.org/officeDocument/2006/relationships/notesSlide" Target="/ppt/notesSlides/notesSlide8.xml" Id="Rdae76dca37064e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fe50bc850425a" /><Relationship Type="http://schemas.openxmlformats.org/officeDocument/2006/relationships/notesSlide" Target="/ppt/notesSlides/notesSlide9.xml" Id="R0593edbf242c4e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91de5a941494d" /><Relationship Type="http://schemas.openxmlformats.org/officeDocument/2006/relationships/notesSlide" Target="/ppt/notesSlides/notesSlide10.xml" Id="R6035d714c27548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20e52c28b4057" /><Relationship Type="http://schemas.openxmlformats.org/officeDocument/2006/relationships/notesSlide" Target="/ppt/notesSlides/notesSlide11.xml" Id="Re5bcd82d67894ec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ns1="http://schemas.openxmlformats.org/drawingml/2006/main" xmlns:ns2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Nombre de cas</c:v>
          </c:tx>
          <c:spPr>
            <ns1:solidFill>
              <ns1:srgbClr val="176E78"/>
            </ns1:solidFill>
          </c:spPr>
          <c:cat>
            <c:strRef>
              <c:f>'Chart Data'!$A$2:$A$4</c:f>
              <c:strCache>
                <c:ptCount val="3"/>
                <c:pt idx="0">
                  <c:v>Réussite</c:v>
                </c:pt>
                <c:pt idx="1">
                  <c:v>Demi-réussite</c:v>
                </c:pt>
                <c:pt idx="2">
                  <c:v>Échec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28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txPr>
            <ns1:bodyPr anchorCtr="1"/>
            <ns1:lstStyle/>
            <ns1:p>
              <ns1:pPr>
                <ns1:defRPr sz="1950" b="1">
                  <ns1:latin typeface="Arial"/>
                  <ns1:ea typeface="Arial"/>
                  <ns1:cs typeface="Arial"/>
                </ns1:defRPr>
              </ns1:pPr>
            </ns1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 sz="1800">
                <ns1:solidFill>
                  <ns1:srgbClr val="666666"/>
                </ns1:solidFill>
                <ns1:latin typeface="Arial"/>
                <ns1:ea typeface="Arial"/>
                <ns1:cs typeface="Arial"/>
              </ns1:defRPr>
            </ns1:pPr>
          </ns1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 sz="1800">
                <ns1:solidFill>
                  <ns1:srgbClr val="666666"/>
                </ns1:solidFill>
                <ns1:latin typeface="Arial"/>
                <ns1:ea typeface="Arial"/>
                <ns1:cs typeface="Arial"/>
              </ns1:defRPr>
            </ns1:pPr>
          </ns1:p>
        </c:txPr>
        <c:crossAx val="48650112"/>
        <c:crossBetween val="between"/>
      </c:valAx>
      <c:spPr>
        <ns1:solidFill>
          <ns1:srgbClr val="FFFFFF"/>
        </ns1:solidFill>
      </c:spPr>
    </c:plotArea>
    <c:plotVisOnly val="1"/>
  </c:chart>
  <c:spPr>
    <ns1:solidFill>
      <ns1:srgbClr val="FFFFFF"/>
    </ns1:solidFill>
  </c:spPr>
  <c:externalData ns2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B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AE9A2-FD8D-4068-9CC7-A8065370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DSI-fpt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18696-105B-4E85-89D4-02A7447F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Corrections et revue praticien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76213-5DDE-4572-8074-8655BEC3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C5D9E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5D9E2"/>
                </a:solidFill>
                <a:latin typeface="Arial"/>
                <a:ea typeface="Arial"/>
                <a:cs typeface="Arial"/>
              </a:rPr>
              <a:t>Collectivités territoriales · 7 octobre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1A41C-64C3-41CC-BECE-5430C3EF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FD4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D49D"/>
                </a:solidFill>
                <a:latin typeface="Arial"/>
                <a:ea typeface="Arial"/>
                <a:cs typeface="Arial"/>
              </a:rPr>
              <a:t>Dev.5 à mesurer · coactivation inachevée</a:t>
            </a:r>
          </a:p>
        </p:txBody>
      </p:sp>
    </p:spTree>
    <p:extLst>
      <p:ext uri="{BB962C8B-B14F-4D97-AF65-F5344CB8AC3E}">
        <p14:creationId xmlns:p14="http://schemas.microsoft.com/office/powerpoint/2010/main" val="547210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BAA5E-D97C-4490-A32F-EF74A573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Périmètre de la fonction 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52F18-BC94-4C06-9782-A26605F0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Cadrer le besoin et les responsabilités, en informatique interne, mutualisée ou externalisée.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EBF96-3B98-40E3-BB6F-CA276EAD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Gouvernance, sécurité, continuité, infrastructures, hébergement et applications métiers.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11F68-FB50-4030-81CF-456B6898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Téléservices, accessibilité, IA, exécution des contrats et réversibilité technique.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599E0-D0C9-49E8-A3E6-20FBEF54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Livrables : fiche projet, rapport d’incident, cahier des charges technique, charte et note d’homologation.</a:t>
            </a:r>
          </a:p>
        </p:txBody>
      </p:sp>
    </p:spTree>
    <p:extLst>
      <p:ext uri="{BB962C8B-B14F-4D97-AF65-F5344CB8AC3E}">
        <p14:creationId xmlns:p14="http://schemas.microsoft.com/office/powerpoint/2010/main" val="1108635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4660A-3F44-4C11-B82A-1E57E495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Responsabilités partagées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23900" y="1581150"/>
          <a:ext xmlns:a="http://schemas.openxmlformats.org/drawingml/2006/main" cx="107442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410450"/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Rôle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Volet à instruire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DSI / RSSI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Besoins, mesures techniques et continuité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DPO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Qualification RGPD et risques pour les personnes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DRH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Fonctions et conséquences statutaires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Police municipale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Doctrine et autorisations de vidéoprotection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Direction des finances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Arbitrage et qualification budgétaire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Recherche juridique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Sources officielles, vigueur et applicabilité</a:t>
                      </a:r>
                    </a:p>
                  </a:txBody>
                  <a:tcPr marL="152400" marR="152400" marT="57150" marB="571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567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8F674-999F-4999-83B3-0E5947F1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Mesure DSI autonome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81050" y="1657350"/>
          <a:ext xmlns:a="http://schemas.openxmlformats.org/drawingml/2006/main" cx="7143750" cy="3562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aecc3c6f684dbb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9B84F-7DD2-4215-9CAC-9A3C2642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47875"/>
            <a:ext cx="29718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28 cas réussis</a:t>
            </a:r>
          </a:p>
          <a:p xmlns:a="http://schemas.openxmlformats.org/drawingml/2006/main">
            <a:pPr>
              <a:buNone/>
              <a:defRPr sz="24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56 rôles retenus</a:t>
            </a:r>
          </a:p>
          <a:p xmlns:a="http://schemas.openxmlformats.org/drawingml/2006/main">
            <a:pPr>
              <a:buNone/>
              <a:defRPr sz="24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8 critiques réussis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E5592-5ABA-4FCB-8EF8-00A78687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Source 704e5dd mesurée. Revue DSI/RSSI et qualification du plugin encore ouvertes.</a:t>
            </a:r>
          </a:p>
        </p:txBody>
      </p:sp>
    </p:spTree>
    <p:extLst>
      <p:ext uri="{BB962C8B-B14F-4D97-AF65-F5344CB8AC3E}">
        <p14:creationId xmlns:p14="http://schemas.microsoft.com/office/powerpoint/2010/main" val="18129620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AAC88-D6DB-46D8-8174-F2B9AE31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Corrections de la mesure autonome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96A96-FC70-4787-99B4-3A26BBA3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E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E78"/>
                </a:solidFill>
                <a:latin typeface="Arial"/>
                <a:ea typeface="Arial"/>
                <a:cs typeface="Arial"/>
              </a:rPr>
              <a:t>Cas 10 — réversibilité contractuelle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E3549-BBE8-4DF3-A822-1D6F0ED6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Bascule vers le rôle compétent et abstention sans source. Le cas 10 réussit sur le candidat corrigé.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CFCBE-7FEA-4806-92FB-90424BC4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E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E78"/>
                </a:solidFill>
                <a:latin typeface="Arial"/>
                <a:ea typeface="Arial"/>
                <a:cs typeface="Arial"/>
              </a:rPr>
              <a:t>Cas 14 — clôture d’un incident ancien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85975-C1A3-4508-973D-AD0A0558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Clôture de l’objet ancien, puis réouverture si un nouvel indice la contredit. Le cas 14 réussit.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A573-B096-49C1-AF03-DE15317C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Les anciennes mesures restent conservées. Le cache est exclu du paquet autonome.</a:t>
            </a:r>
          </a:p>
        </p:txBody>
      </p:sp>
    </p:spTree>
    <p:extLst>
      <p:ext uri="{BB962C8B-B14F-4D97-AF65-F5344CB8AC3E}">
        <p14:creationId xmlns:p14="http://schemas.microsoft.com/office/powerpoint/2010/main" val="1263332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7C5E4-4424-414A-8DF8-6BD50B0D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Coactivation du candidat à six skills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23900" y="1581150"/>
          <a:ext xmlns:a="http://schemas.openxmlformats.org/drawingml/2006/main" cx="107442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076950"/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Contrôle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État du candidat corrigé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Composition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Six variantes locales · 166 fichiers runtime</a:t>
                      </a:r>
                    </a:p>
                  </a:txBody>
                  <a:tcPr marL="152400" marR="152400" marT="57150" marB="5715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DSI autonome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28/28 sur la source 704e5dd</a:t>
                      </a:r>
                    </a:p>
                  </a:txBody>
                  <a:tcPr marL="152400" marR="152400" marT="57150" marB="5715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Coactivation r7 dev.4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6 réponses jugées · 1 réussite et 5 échecs</a:t>
                      </a:r>
                    </a:p>
                  </a:txBody>
                  <a:tcPr marL="152400" marR="152400" marT="57150" marB="5715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Dernier correctif dev.5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Activation, STOP, transfert RH et abstention</a:t>
                      </a:r>
                    </a:p>
                  </a:txBody>
                  <a:tcPr marL="152400" marR="152400" marT="57150" marB="5715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Qualification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Dev.5 non mesuré · release_ready=false</a:t>
                      </a:r>
                    </a:p>
                  </a:txBody>
                  <a:tcPr marL="152400" marR="152400" marT="57150" marB="5715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8F169-3F06-4801-AC22-2B9BBBCA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R7 dev.4 : six réponses jugées. Dev.5 corrigé : nouvelle mesure requise.</a:t>
            </a:r>
          </a:p>
        </p:txBody>
      </p:sp>
    </p:spTree>
    <p:extLst>
      <p:ext uri="{BB962C8B-B14F-4D97-AF65-F5344CB8AC3E}">
        <p14:creationId xmlns:p14="http://schemas.microsoft.com/office/powerpoint/2010/main" val="1521403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96D43-3917-4C44-93DD-C1EFD655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Coactivation : écarts et corrections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4E5CE-1E0B-4656-83EF-C079199A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E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E78"/>
                </a:solidFill>
                <a:latin typeface="Arial"/>
                <a:ea typeface="Arial"/>
                <a:cs typeface="Arial"/>
              </a:rPr>
              <a:t>Écarts observés sur dev.4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E9D25-9E0A-4BCB-B869-5A7E7268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STOP tardif, transfert RH incomplet et DSI technique non activé. Sans source, des explications juridiques subsistent.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14B17-9DB8-4F00-BBA6-6AC9C2AD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E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E78"/>
                </a:solidFill>
                <a:latin typeface="Arial"/>
                <a:ea typeface="Arial"/>
                <a:cs typeface="Arial"/>
              </a:rPr>
              <a:t>Correctif dev.5 à mesurer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D77AB-3960-42D0-9E6B-49AA771B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Activation DSI explicite, transfert RH jusqu’à la conclusion et voie sans source limitée aux faits et aux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FE0F8-5372-4B8B-8DF6-B30B95B1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Le candidat dev.5 est distinct. Les six résultats r7 restent attachés à dev.4.</a:t>
            </a:r>
          </a:p>
        </p:txBody>
      </p:sp>
    </p:spTree>
    <p:extLst>
      <p:ext uri="{BB962C8B-B14F-4D97-AF65-F5344CB8AC3E}">
        <p14:creationId xmlns:p14="http://schemas.microsoft.com/office/powerpoint/2010/main" val="11252865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581B2-4DCA-4554-8D5B-DFBABEF4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Coactivation : preuve disponible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98BD2-4FD2-4E39-B160-0573C017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R7 : six réponses et six juges frais. Trois nominaux indiquent needs-auth.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23900" y="2686050"/>
          <a:ext xmlns:a="http://schemas.openxmlformats.org/drawingml/2006/main" cx="107442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05700"/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Contrôle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Portée démontrée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Mode sans source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MCP indisponible réussit, les deux cas DSI échouent</a:t>
                      </a:r>
                    </a:p>
                  </a:txBody>
                  <a:tcPr marL="152400" marR="152400" marT="57150" marB="5715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Trois cas nominaux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Échecs avec MCP non connecté, sources absentes</a:t>
                      </a:r>
                    </a:p>
                  </a:txBody>
                  <a:tcPr marL="152400" marR="152400" marT="57150" marB="5715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Dix autres cas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Un interrompu sans réponse, neuf non exécutés</a:t>
                      </a:r>
                    </a:p>
                  </a:txBody>
                  <a:tcPr marL="152400" marR="152400" marT="57150" marB="5715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Validation humaine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Avis DSI/RSSI et juridique à recueillir</a:t>
                      </a:r>
                    </a:p>
                  </a:txBody>
                  <a:tcPr marL="152400" marR="152400" marT="57150" marB="5715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3452A-E7A5-41C3-A5E5-533D7E5D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Cette mesure partielle ne qualifie pas dev.5. Revue juridique humaine ouverte.</a:t>
            </a:r>
          </a:p>
        </p:txBody>
      </p:sp>
    </p:spTree>
    <p:extLst>
      <p:ext uri="{BB962C8B-B14F-4D97-AF65-F5344CB8AC3E}">
        <p14:creationId xmlns:p14="http://schemas.microsoft.com/office/powerpoint/2010/main" val="18445352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8E0EC-B8BF-4A24-BD69-4F3FD6B3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Portée des preuves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D555A-AE93-4CE6-B9DA-ABB8925D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questions de campagne sont fictives. Aucun document opérationnel de collectivité n’a été fourni.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36402-0895-43C3-852F-6CC2D845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appels au modèle passent par un service distant. Le paquet de skills ne réalise aucune opération sur le 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0FF96-3299-4AC1-B225-0398D08A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Suite : 11 activations forcées et 5 sélections spontanées. R7 juge six réponses. La sélection spontanée reste à mesurer.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ECB94-56B6-4A20-95F5-9D385981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extraits assainis permettent le contrôle des assertions. Ils ne remplacent pas la validation juridique et métier humaine.</a:t>
            </a:r>
          </a:p>
        </p:txBody>
      </p:sp>
    </p:spTree>
    <p:extLst>
      <p:ext uri="{BB962C8B-B14F-4D97-AF65-F5344CB8AC3E}">
        <p14:creationId xmlns:p14="http://schemas.microsoft.com/office/powerpoint/2010/main" val="601372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C9737-9514-4257-8916-54FA92DE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Points soumis au DSI / RSSI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14846-B704-4133-806D-5EEC31B6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branches et livrables correspondent-ils aux situations de votre collectivité et à son mode d’exploitation 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6494C-EC37-41BB-9C78-9D680619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responsabilités DSI, RSSI, DPO, RH et finances sont-elles attribuées aux bons interlocuteurs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A6FE2-DC23-4AB4-9E22-9B697497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STOP, préservations de preuves et conditions de reprise sont-ils suffisamment opérationnels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64C68-B75F-4300-A244-BB86559C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Quelles informations manque-t-il pour utiliser les fiches dans un dossier réel, sans données sensibles ?</a:t>
            </a:r>
          </a:p>
        </p:txBody>
      </p:sp>
    </p:spTree>
    <p:extLst>
      <p:ext uri="{BB962C8B-B14F-4D97-AF65-F5344CB8AC3E}">
        <p14:creationId xmlns:p14="http://schemas.microsoft.com/office/powerpoint/2010/main" val="15665134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CE54D-0B5C-450E-A077-D655834A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Conditions de poursuite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23900" y="1581150"/>
          <a:ext xmlns:a="http://schemas.openxmlformats.org/drawingml/2006/main" cx="107442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553200"/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Étape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Preuve attendue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DSI autonome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28 cas et 56 rôles frais vérifiés sur runtime figé</a:t>
                      </a:r>
                    </a:p>
                  </a:txBody>
                  <a:tcPr marL="152400" marR="152400" marT="57150" marB="5715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Coactivation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Réauthentifier le MCP puis mesurer les 16 cas de dev.5</a:t>
                      </a:r>
                    </a:p>
                  </a:txBody>
                  <a:tcPr marL="152400" marR="152400" marT="57150" marB="5715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Revue praticien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Avis DSI/RSSI sur les branches et livrables</a:t>
                      </a:r>
                    </a:p>
                  </a:txBody>
                  <a:tcPr marL="152400" marR="152400" marT="57150" marB="5715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Revue juridique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Contrôle des règles, sources et frontières de rôle</a:t>
                      </a:r>
                    </a:p>
                  </a:txBody>
                  <a:tcPr marL="152400" marR="152400" marT="57150" marB="5715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Distribution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Smoke Codex et qualification de release encore ouverts</a:t>
                      </a:r>
                    </a:p>
                  </a:txBody>
                  <a:tcPr marL="152400" marR="152400" marT="57150" marB="5715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0F410-1D5E-4051-9320-84D15FE3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PR brouillons à examiner. Reprise de coactivation et validations humaines encore requises.</a:t>
            </a:r>
          </a:p>
        </p:txBody>
      </p:sp>
    </p:spTree>
    <p:extLst>
      <p:ext uri="{BB962C8B-B14F-4D97-AF65-F5344CB8AC3E}">
        <p14:creationId xmlns:p14="http://schemas.microsoft.com/office/powerpoint/2010/main" val="709741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2026-10-07T16:50:29.9970000Z</dcterms:created>
  <dcterms:modified xsi:type="dcterms:W3CDTF">2026-10-07T16:50:29.9970000Z</dcterms:modified>
</coreProperties>
</file>