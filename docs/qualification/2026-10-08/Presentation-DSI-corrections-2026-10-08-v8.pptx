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slides/charts/chart1.xml" ContentType="application/vnd.openxmlformats-officedocument.drawingml.chart+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182dceb917644bfa" /><Relationship Type="http://schemas.openxmlformats.org/officeDocument/2006/relationships/extended-properties" Target="/docProps/app.xml" Id="Rdbe22f71e9254603" /><Relationship Type="http://schemas.openxmlformats.org/officeDocument/2006/relationships/officeDocument" Target="/ppt/presentation.xml" Id="R5d164a2c8af643f7" /></Relationships>
</file>

<file path=ppt/presentation.xml><?xml version="1.0" encoding="utf-8"?>
<p:presentation xmlns:p="http://schemas.openxmlformats.org/presentationml/2006/main">
  <p:sldMasterIdLst>
    <p:sldMasterId xmlns:r="http://schemas.openxmlformats.org/officeDocument/2006/relationships" id="2147483648" r:id="Re052dc11a87946c4"/>
  </p:sldMasterIdLst>
  <p:notesMasterIdLst>
    <p:notesMasterId xmlns:r="http://schemas.openxmlformats.org/officeDocument/2006/relationships" r:id="R222bb7ef03ab43ec"/>
  </p:notesMasterIdLst>
  <p:sldIdLst>
    <p:sldId xmlns:r="http://schemas.openxmlformats.org/officeDocument/2006/relationships" id="256" r:id="Ra942a90ca4e84461"/>
    <p:sldId xmlns:r="http://schemas.openxmlformats.org/officeDocument/2006/relationships" id="257" r:id="Re0c222f1eca540de"/>
    <p:sldId xmlns:r="http://schemas.openxmlformats.org/officeDocument/2006/relationships" id="258" r:id="R1ef3d149c1aa43a2"/>
    <p:sldId xmlns:r="http://schemas.openxmlformats.org/officeDocument/2006/relationships" id="259" r:id="Rc1f40e1f05c449a3"/>
    <p:sldId xmlns:r="http://schemas.openxmlformats.org/officeDocument/2006/relationships" id="260" r:id="R535bc1d50cc54ed6"/>
    <p:sldId xmlns:r="http://schemas.openxmlformats.org/officeDocument/2006/relationships" id="261" r:id="R09f56f28c4df4fc9"/>
    <p:sldId xmlns:r="http://schemas.openxmlformats.org/officeDocument/2006/relationships" id="262" r:id="R02420f994e864973"/>
    <p:sldId xmlns:r="http://schemas.openxmlformats.org/officeDocument/2006/relationships" id="263" r:id="R71f9a071f33a4d22"/>
    <p:sldId xmlns:r="http://schemas.openxmlformats.org/officeDocument/2006/relationships" id="264" r:id="Rfc11248ebcec4c02"/>
    <p:sldId xmlns:r="http://schemas.openxmlformats.org/officeDocument/2006/relationships" id="265" r:id="R0d954962a8ae4d9a"/>
    <p:sldId xmlns:r="http://schemas.openxmlformats.org/officeDocument/2006/relationships" id="266" r:id="R0d3813bad81b4c0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83a0e189f25c4165" /><Relationship Type="http://schemas.openxmlformats.org/officeDocument/2006/relationships/slideMaster" Target="/ppt/slideMasters/slideMaster1.xml" Id="Re052dc11a87946c4" /><Relationship Type="http://schemas.openxmlformats.org/officeDocument/2006/relationships/notesMaster" Target="/ppt/notesMasters/notesMaster1.xml" Id="R222bb7ef03ab43ec" /><Relationship Type="http://schemas.openxmlformats.org/officeDocument/2006/relationships/presProps" Target="/ppt/presProps.xml" Id="Ra3b59885f9eb48f5" /><Relationship Type="http://schemas.openxmlformats.org/officeDocument/2006/relationships/tableStyles" Target="/ppt/tableStyles.xml" Id="R0ba2c200a14748a7" /><Relationship Type="http://schemas.openxmlformats.org/officeDocument/2006/relationships/slide" Target="/ppt/slides/slide1.xml" Id="Ra942a90ca4e84461" /><Relationship Type="http://schemas.openxmlformats.org/officeDocument/2006/relationships/slide" Target="/ppt/slides/slide2.xml" Id="Re0c222f1eca540de" /><Relationship Type="http://schemas.openxmlformats.org/officeDocument/2006/relationships/slide" Target="/ppt/slides/slide3.xml" Id="R1ef3d149c1aa43a2" /><Relationship Type="http://schemas.openxmlformats.org/officeDocument/2006/relationships/slide" Target="/ppt/slides/slide4.xml" Id="Rc1f40e1f05c449a3" /><Relationship Type="http://schemas.openxmlformats.org/officeDocument/2006/relationships/slide" Target="/ppt/slides/slide5.xml" Id="R535bc1d50cc54ed6" /><Relationship Type="http://schemas.openxmlformats.org/officeDocument/2006/relationships/slide" Target="/ppt/slides/slide6.xml" Id="R09f56f28c4df4fc9" /><Relationship Type="http://schemas.openxmlformats.org/officeDocument/2006/relationships/slide" Target="/ppt/slides/slide7.xml" Id="R02420f994e864973" /><Relationship Type="http://schemas.openxmlformats.org/officeDocument/2006/relationships/slide" Target="/ppt/slides/slide8.xml" Id="R71f9a071f33a4d22" /><Relationship Type="http://schemas.openxmlformats.org/officeDocument/2006/relationships/slide" Target="/ppt/slides/slide9.xml" Id="Rfc11248ebcec4c02" /><Relationship Type="http://schemas.openxmlformats.org/officeDocument/2006/relationships/slide" Target="/ppt/slides/slide10.xml" Id="R0d954962a8ae4d9a" /><Relationship Type="http://schemas.openxmlformats.org/officeDocument/2006/relationships/slide" Target="/ppt/slides/slide11.xml" Id="R0d3813bad81b4c0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51da02eb3db34c9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45d30a758d3a45d9" /><Relationship Type="http://schemas.openxmlformats.org/officeDocument/2006/relationships/notesMaster" Target="/ppt/notesMasters/notesMaster1.xml" Id="Rd19c0472edc84118"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587c733d8d4869" /><Relationship Type="http://schemas.openxmlformats.org/officeDocument/2006/relationships/notesMaster" Target="/ppt/notesMasters/notesMaster1.xml" Id="R8905caeccbd24b1e" /></Relationships>
</file>

<file path=ppt/notesSlides/_rels/notesSlide3.xml.rels>&#65279;<?xml version="1.0" encoding="utf-8"?><Relationships xmlns="http://schemas.openxmlformats.org/package/2006/relationships"><Relationship Type="http://schemas.openxmlformats.org/officeDocument/2006/relationships/slide" Target="/ppt/slides/slide3.xml" Id="R13983f050f834eeb" /><Relationship Type="http://schemas.openxmlformats.org/officeDocument/2006/relationships/notesMaster" Target="/ppt/notesMasters/notesMaster1.xml" Id="R8c8685adf543453d" /></Relationships>
</file>

<file path=ppt/notesSlides/_rels/notesSlide4.xml.rels>&#65279;<?xml version="1.0" encoding="utf-8"?><Relationships xmlns="http://schemas.openxmlformats.org/package/2006/relationships"><Relationship Type="http://schemas.openxmlformats.org/officeDocument/2006/relationships/slide" Target="/ppt/slides/slide4.xml" Id="Rb025695cde8e48af" /><Relationship Type="http://schemas.openxmlformats.org/officeDocument/2006/relationships/notesMaster" Target="/ppt/notesMasters/notesMaster1.xml" Id="Re3c00d3c9bf048e6" /></Relationships>
</file>

<file path=ppt/notesSlides/_rels/notesSlide5.xml.rels>&#65279;<?xml version="1.0" encoding="utf-8"?><Relationships xmlns="http://schemas.openxmlformats.org/package/2006/relationships"><Relationship Type="http://schemas.openxmlformats.org/officeDocument/2006/relationships/slide" Target="/ppt/slides/slide5.xml" Id="R6d8280c94d454e1d" /><Relationship Type="http://schemas.openxmlformats.org/officeDocument/2006/relationships/notesMaster" Target="/ppt/notesMasters/notesMaster1.xml" Id="R1c8470f181c843cf" /></Relationships>
</file>

<file path=ppt/notesSlides/_rels/notesSlide6.xml.rels>&#65279;<?xml version="1.0" encoding="utf-8"?><Relationships xmlns="http://schemas.openxmlformats.org/package/2006/relationships"><Relationship Type="http://schemas.openxmlformats.org/officeDocument/2006/relationships/slide" Target="/ppt/slides/slide6.xml" Id="R7e338e4e4d0d4d0e" /><Relationship Type="http://schemas.openxmlformats.org/officeDocument/2006/relationships/notesMaster" Target="/ppt/notesMasters/notesMaster1.xml" Id="Re334fe88ce4d4266" /></Relationships>
</file>

<file path=ppt/notesSlides/_rels/notesSlide7.xml.rels>&#65279;<?xml version="1.0" encoding="utf-8"?><Relationships xmlns="http://schemas.openxmlformats.org/package/2006/relationships"><Relationship Type="http://schemas.openxmlformats.org/officeDocument/2006/relationships/slide" Target="/ppt/slides/slide7.xml" Id="R4794bfef29f2415c" /><Relationship Type="http://schemas.openxmlformats.org/officeDocument/2006/relationships/notesMaster" Target="/ppt/notesMasters/notesMaster1.xml" Id="Rd4edab21c12445e1" /></Relationships>
</file>

<file path=ppt/notesSlides/_rels/notesSlide8.xml.rels>&#65279;<?xml version="1.0" encoding="utf-8"?><Relationships xmlns="http://schemas.openxmlformats.org/package/2006/relationships"><Relationship Type="http://schemas.openxmlformats.org/officeDocument/2006/relationships/slide" Target="/ppt/slides/slide8.xml" Id="R8e50d6708bd04686" /><Relationship Type="http://schemas.openxmlformats.org/officeDocument/2006/relationships/notesMaster" Target="/ppt/notesMasters/notesMaster1.xml" Id="R9393e017b5764ada" /></Relationships>
</file>

<file path=ppt/notesSlides/_rels/notesSlide9.xml.rels>&#65279;<?xml version="1.0" encoding="utf-8"?><Relationships xmlns="http://schemas.openxmlformats.org/package/2006/relationships"><Relationship Type="http://schemas.openxmlformats.org/officeDocument/2006/relationships/slide" Target="/ppt/slides/slide9.xml" Id="R632824408e504e80" /><Relationship Type="http://schemas.openxmlformats.org/officeDocument/2006/relationships/notesMaster" Target="/ppt/notesMasters/notesMaster1.xml" Id="R56e0f3f51e2c4d7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af57f016b1b04e3d" /><Relationship Type="http://schemas.openxmlformats.org/officeDocument/2006/relationships/notesMaster" Target="/ppt/notesMasters/notesMaster1.xml" Id="R8875aa8a2dc749cc"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4adf5b9bcfc74242" /><Relationship Type="http://schemas.openxmlformats.org/officeDocument/2006/relationships/notesMaster" Target="/ppt/notesMasters/notesMaster1.xml" Id="Rd94cbd804a7341eb"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Historique DSI autonome : source 704e5dd6a3d15994ed431b23585aabd72086ca75, 28 cas réussis, 56 rôles retenus, 8 critiques. Dev.5 par fichiers : source ebeee944e878b11177d5ccb85d9043c4c97260a9, candidat 3f0d34bd068e3427edc9335a4f1415aaf1c7c98d, 16 cas, 4 réussites, 6 échecs, 6 bloqués, 32 rôles, aucune activation native prouvée. Dev.6 par fichiers : source 3f0df285898cf1e36d1ddda8d85d0c4cd5e0903b, 5 cas jugés, 1 réussite, 1 échec, 3 bloqués, 1 rejet hors score et 10 non exécutés. Le STOP tardif du cas réouverture reste un échec historique. Smoke CLI distinct du 8 octobre : quatre sessions fraîches authentifiées, une tentative chacune, exit_code=0. CLI 0.162.0-alpha.2, modèle observé gpt-6.1-sol, runtime dev.6 source 3f0df285898cf1e36d1ddda8d85d0c4cd5e0903b. Le jugement indépendant atteste trois injections natives complètes DSI et un choix spontané DSI/DirFi sans chargement attesté. Cas 01 : usage DSI vérifié, compléments bloqués. Cas 02 : bloqué. Cas 03 : partiel, premier message STOP, DPO/juridique non chargés. Cas 04 : partiel, attribution juridique et abstention, juridique non chargé. Aucun score aggregate de réussite ni transfert à dev.7. Neuf appels d’outils et cinq résultats bloqués, aucune lecture réussie par outil. Injection et lecture par outil restent distinctes. La découverte globale n’est pas exhaustivement isolée, exposition effective MCP inconnue. Le backend Windows paraît non configuré : hypothèse de diagnostic, cause non démontrée. Aucun auto-install. Référence du jugement : jugement-smoke-cli-dev6-20261008.json, SHA256 bd3417d55593051d976f60c31df035dd848db7c3302a6c7f3d474dee8d4cd1ef. Dev.7 courant : source fb186b4951b95adabf05904f8a34995720588be3, gel statique de 213 fichiers dont 166 runtime, model=null, non mesuré, hypothesis_pending_new_measurement, aucun score historique transféré, release_ready=false. Suite : lecture sandbox opérationnelle, nouvelle campagne dev.7, smoke propre au candidat et avis humains DSI/RSSI/juridiques. Sources : Collectivite-corrections-pr5/docs/qualification/gel-dev7-non-mesure.json ; qualification-coactivation-dev6-codex-r1/synthese-PARTIELLE.json ; qualification-smoke-dev6-cli-20261008-r1/manifest.json ; jugement-smoke-cli-dev6-20261008.md. PRs #5 et #11 demeurent brouillons. Aucune fusion, publication ou release qualifiée.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e464f2b3eff6480a"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bcd0c0127c4f08" /><Relationship Type="http://schemas.openxmlformats.org/officeDocument/2006/relationships/slideLayout" Target="/ppt/slideLayouts/slideLayout1.xml" Id="Rec6912e0358b458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c6912e0358b458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aedd47c8169f4ec6" /><Relationship Type="http://schemas.openxmlformats.org/officeDocument/2006/relationships/notesSlide" Target="/ppt/notesSlides/notesSlide1.xml" Id="Rf6ecd0550477441e"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3ff164d074148ad" /><Relationship Type="http://schemas.openxmlformats.org/officeDocument/2006/relationships/notesSlide" Target="/ppt/notesSlides/notesSlide2.xml" Id="R5af382b89c444791"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d707035f74f34c07" /><Relationship Type="http://schemas.openxmlformats.org/officeDocument/2006/relationships/notesSlide" Target="/ppt/notesSlides/notesSlide3.xml" Id="R008e86dd6a6647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56f6499b4504ff3" /><Relationship Type="http://schemas.openxmlformats.org/officeDocument/2006/relationships/chart" Target="/ppt/slides/charts/chart1.xml" Id="Rd2f1ad94b4f94f16" /><Relationship Type="http://schemas.openxmlformats.org/officeDocument/2006/relationships/notesSlide" Target="/ppt/notesSlides/notesSlide4.xml" Id="R5311fae0999346b2"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49986e98e6aa4fb5" /><Relationship Type="http://schemas.openxmlformats.org/officeDocument/2006/relationships/notesSlide" Target="/ppt/notesSlides/notesSlide5.xml" Id="Rbfae113cc408478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24ef1dc79bbe4ea4" /><Relationship Type="http://schemas.openxmlformats.org/officeDocument/2006/relationships/notesSlide" Target="/ppt/notesSlides/notesSlide6.xml" Id="Rbf714e7f6e6b46dc"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7ccf848536ef49e8" /><Relationship Type="http://schemas.openxmlformats.org/officeDocument/2006/relationships/notesSlide" Target="/ppt/notesSlides/notesSlide7.xml" Id="R82899644c4764eca"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a85b7401dda1434c" /><Relationship Type="http://schemas.openxmlformats.org/officeDocument/2006/relationships/notesSlide" Target="/ppt/notesSlides/notesSlide8.xml" Id="R98882e107bfc40d2"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dee1c7acee224996" /><Relationship Type="http://schemas.openxmlformats.org/officeDocument/2006/relationships/notesSlide" Target="/ppt/notesSlides/notesSlide9.xml" Id="Rb0b6318182af45a1"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ab9bcbb87dfb4485" /><Relationship Type="http://schemas.openxmlformats.org/officeDocument/2006/relationships/notesSlide" Target="/ppt/notesSlides/notesSlide10.xml" Id="Rf813d5a438324cbe"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5fff74b762024ea1" /><Relationship Type="http://schemas.openxmlformats.org/officeDocument/2006/relationships/notesSlide" Target="/ppt/notesSlides/notesSlide11.xml" Id="Rd8067a1a14014ea8"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ns1="http://schemas.openxmlformats.org/drawingml/2006/main" xmlns:ns2="http://schemas.openxmlformats.org/officeDocument/2006/relationships">
  <c:lang val="en-US"/>
  <c:chart>
    <c:plotArea>
      <c:barChart>
        <c:barDir val="bar"/>
        <c:grouping val="clustered"/>
        <c:varyColors val="0"/>
        <c:ser>
          <c:idx val="0"/>
          <c:order val="0"/>
          <c:tx>
            <c:v>Nombre de cas</c:v>
          </c:tx>
          <c:spPr>
            <ns1:solidFill>
              <ns1:srgbClr val="176E78"/>
            </ns1:solidFill>
          </c:spPr>
          <c:cat>
            <c:strRef>
              <c:f>'Chart Data'!$A$2:$A$4</c:f>
              <c:strCache>
                <c:ptCount val="3"/>
                <c:pt idx="0">
                  <c:v>Réussite</c:v>
                </c:pt>
                <c:pt idx="1">
                  <c:v>Demi-réussite</c:v>
                </c:pt>
                <c:pt idx="2">
                  <c:v>Échec</c:v>
                </c:pt>
              </c:strCache>
            </c:strRef>
          </c:cat>
          <c:val>
            <c:numRef>
              <c:f>'Chart Data'!$B$2:$B$4</c:f>
              <c:numCache>
                <c:formatCode>0</c:formatCode>
                <c:ptCount val="3"/>
                <c:pt idx="0">
                  <c:v>28</c:v>
                </c:pt>
                <c:pt idx="1">
                  <c:v>0</c:v>
                </c:pt>
                <c:pt idx="2">
                  <c:v>0</c:v>
                </c:pt>
              </c:numCache>
            </c:numRef>
          </c:val>
        </c:ser>
        <c:dLbls>
          <c:txPr>
            <ns1:bodyPr anchorCtr="1"/>
            <ns1:lstStyle/>
            <ns1:p>
              <ns1:pPr>
                <ns1:defRPr sz="1950" b="1">
                  <ns1:latin typeface="Arial"/>
                  <ns1:ea typeface="Arial"/>
                  <ns1:cs typeface="Arial"/>
                </ns1:defRPr>
              </ns1:pPr>
            </ns1:p>
          </c:txPr>
          <c:dLblPos val="outEnd"/>
          <c:showLegendKey val="0"/>
          <c:showVal val="1"/>
          <c:showCatName val="0"/>
          <c:showSerName val="0"/>
          <c:showPercent val="0"/>
          <c:showBubbleSize val="0"/>
          <c:showLeaderLines val="0"/>
        </c:dLbls>
        <c:axId val="48650112"/>
        <c:axId val="48672768"/>
      </c:barChart>
      <c:catAx>
        <c:axId val="48650112"/>
        <c:scaling>
          <c:orientation val="minMax"/>
        </c:scaling>
        <c:delete val="0"/>
        <c:axPos val="l"/>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72768"/>
      </c:catAx>
      <c:valAx>
        <c:axId val="48672768"/>
        <c:scaling>
          <c:orientation val="minMax"/>
        </c:scaling>
        <c:delete val="0"/>
        <c:axPos val="b"/>
        <c:numFmt formatCode="0"/>
        <c:majorTickMark val="none"/>
        <c:minorTickMark val="none"/>
        <c:spPr>
          <ns1:ln w="9525">
            <ns1:solidFill>
              <ns1:srgbClr val="D4D4D4"/>
            </ns1:solidFill>
            <ns1:prstDash val="solid"/>
          </ns1:ln>
        </c:spPr>
        <c:txPr>
          <ns1:bodyPr anchorCtr="1"/>
          <ns1:lstStyle/>
          <ns1:p>
            <ns1:pPr>
              <ns1:defRPr sz="1800">
                <ns1:solidFill>
                  <ns1:srgbClr val="666666"/>
                </ns1:solidFill>
                <ns1:latin typeface="Arial"/>
                <ns1:ea typeface="Arial"/>
                <ns1:cs typeface="Arial"/>
              </ns1:defRPr>
            </ns1:pPr>
          </ns1:p>
        </c:txPr>
        <c:crossAx val="48650112"/>
        <c:crossBetween val="between"/>
      </c:valAx>
      <c:spPr>
        <ns1:solidFill>
          <ns1:srgbClr val="FFFFFF"/>
        </ns1:solidFill>
      </c:spPr>
    </c:plotArea>
    <c:plotVisOnly val="1"/>
  </c:chart>
  <c:spPr>
    <ns1:solidFill>
      <ns1:srgbClr val="FFFFFF"/>
    </ns1:solidFill>
  </c:spPr>
  <c:externalData ns2:id="rIdChartSnapshot1">
    <c:autoUpdate val="0"/>
  </c:externalData>
</c:chartSpace>
</file>

<file path=ppt/slides/slide1.xml><?xml version="1.0" encoding="utf-8"?>
<p:sld xmlns:p="http://schemas.openxmlformats.org/presentationml/2006/main">
  <p:cSld>
    <p:bg>
      <p:bgPr>
        <a:solidFill xmlns:a="http://schemas.openxmlformats.org/drawingml/2006/main">
          <a:srgbClr val="112B40"/>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51CAE9A2-FD8D-4068-9CC7-A8065370D4B8}"/>
              </a:ext>
            </a:extLst>
          </p:cNvPr>
          <p:cNvSpPr>
            <a:spLocks xmlns:a="http://schemas.openxmlformats.org/drawingml/2006/main" noGrp="1"/>
          </p:cNvSpPr>
          <p:nvPr/>
        </p:nvSpPr>
        <p:spPr>
          <a:xfrm xmlns:a="http://schemas.openxmlformats.org/drawingml/2006/main">
            <a:off x="762000" y="1666875"/>
            <a:ext cx="102870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5700" b="1">
                <a:solidFill>
                  <a:srgbClr val="FFFFFF"/>
                </a:solidFill>
                <a:latin typeface="Arial"/>
                <a:ea typeface="Arial"/>
                <a:cs typeface="Arial"/>
              </a:defRPr>
            </a:pPr>
            <a:r>
              <a:rPr sz="5700" b="1">
                <a:solidFill>
                  <a:srgbClr val="FFFFFF"/>
                </a:solidFill>
                <a:latin typeface="Arial"/>
                <a:ea typeface="Arial"/>
                <a:cs typeface="Arial"/>
              </a:rPr>
              <a:t>DSI-fpt</a:t>
            </a:r>
          </a:p>
        </p:txBody>
      </p:sp>
      <p:sp>
        <p:nvSpPr>
          <p:cNvPr id="2" name="">
            <a:extLst xmlns:a="http://schemas.openxmlformats.org/drawingml/2006/main">
              <a:ext uri="{FF2B5EF4-FFF2-40B4-BE49-F238E27FC236}">
                <a16:creationId xmlns:a16="http://schemas.microsoft.com/office/drawing/2014/main" id="{52E18696-105B-4E85-89D4-02A7447F66AB}"/>
              </a:ext>
            </a:extLst>
          </p:cNvPr>
          <p:cNvSpPr>
            <a:spLocks xmlns:a="http://schemas.openxmlformats.org/drawingml/2006/main" noGrp="1"/>
          </p:cNvSpPr>
          <p:nvPr/>
        </p:nvSpPr>
        <p:spPr>
          <a:xfrm xmlns:a="http://schemas.openxmlformats.org/drawingml/2006/main">
            <a:off x="781050" y="2857500"/>
            <a:ext cx="10287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150" b="0">
                <a:solidFill>
                  <a:srgbClr val="FFFFFF"/>
                </a:solidFill>
                <a:latin typeface="Arial"/>
                <a:ea typeface="Arial"/>
                <a:cs typeface="Arial"/>
              </a:defRPr>
            </a:pPr>
            <a:r>
              <a:rPr sz="3150" b="0">
                <a:solidFill>
                  <a:srgbClr val="FFFFFF"/>
                </a:solidFill>
                <a:latin typeface="Arial"/>
                <a:ea typeface="Arial"/>
                <a:cs typeface="Arial"/>
              </a:rPr>
              <a:t>Corrections et contrôles de coactivation</a:t>
            </a:r>
          </a:p>
        </p:txBody>
      </p:sp>
      <p:sp>
        <p:nvSpPr>
          <p:cNvPr id="3" name="">
            <a:extLst xmlns:a="http://schemas.openxmlformats.org/drawingml/2006/main">
              <a:ext uri="{FF2B5EF4-FFF2-40B4-BE49-F238E27FC236}">
                <a16:creationId xmlns:a16="http://schemas.microsoft.com/office/drawing/2014/main" id="{61F76213-5DDE-4572-8074-8655BEC366C5}"/>
              </a:ext>
            </a:extLst>
          </p:cNvPr>
          <p:cNvSpPr>
            <a:spLocks xmlns:a="http://schemas.openxmlformats.org/drawingml/2006/main" noGrp="1"/>
          </p:cNvSpPr>
          <p:nvPr/>
        </p:nvSpPr>
        <p:spPr>
          <a:xfrm xmlns:a="http://schemas.openxmlformats.org/drawingml/2006/main">
            <a:off x="781050" y="4133850"/>
            <a:ext cx="102870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C5D9E2"/>
                </a:solidFill>
                <a:latin typeface="Arial"/>
                <a:ea typeface="Arial"/>
                <a:cs typeface="Arial"/>
              </a:defRPr>
            </a:pPr>
            <a:r>
              <a:rPr sz="2100" b="0">
                <a:solidFill>
                  <a:srgbClr val="C5D9E2"/>
                </a:solidFill>
                <a:latin typeface="Arial"/>
                <a:ea typeface="Arial"/>
                <a:cs typeface="Arial"/>
              </a:rPr>
              <a:t>Collectivités territoriales, 8 octobre 2026</a:t>
            </a:r>
          </a:p>
        </p:txBody>
      </p:sp>
      <p:sp>
        <p:nvSpPr>
          <p:cNvPr id="4" name="">
            <a:extLst xmlns:a="http://schemas.openxmlformats.org/drawingml/2006/main">
              <a:ext uri="{FF2B5EF4-FFF2-40B4-BE49-F238E27FC236}">
                <a16:creationId xmlns:a16="http://schemas.microsoft.com/office/drawing/2014/main" id="{D111A41C-64C3-41CC-BECE-5430C3EF9C72}"/>
              </a:ext>
            </a:extLst>
          </p:cNvPr>
          <p:cNvSpPr>
            <a:spLocks xmlns:a="http://schemas.openxmlformats.org/drawingml/2006/main" noGrp="1"/>
          </p:cNvSpPr>
          <p:nvPr/>
        </p:nvSpPr>
        <p:spPr>
          <a:xfrm xmlns:a="http://schemas.openxmlformats.org/drawingml/2006/main">
            <a:off x="781050" y="4838700"/>
            <a:ext cx="102870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EFD49D"/>
                </a:solidFill>
                <a:latin typeface="Arial"/>
                <a:ea typeface="Arial"/>
                <a:cs typeface="Arial"/>
              </a:defRPr>
            </a:pPr>
            <a:r>
              <a:rPr sz="2250" b="0">
                <a:solidFill>
                  <a:srgbClr val="EFD49D"/>
                </a:solidFill>
                <a:latin typeface="Arial"/>
                <a:ea typeface="Arial"/>
                <a:cs typeface="Arial"/>
              </a:rPr>
              <a:t>Smoke dev.6 partiel. Dev.7 non mesuré</a:t>
            </a:r>
          </a:p>
        </p:txBody>
      </p:sp>
    </p:spTree>
    <p:extLst>
      <p:ext uri="{BB962C8B-B14F-4D97-AF65-F5344CB8AC3E}">
        <p14:creationId xmlns:p14="http://schemas.microsoft.com/office/powerpoint/2010/main" val="547210070"/>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9F3BAA5E-D97C-4490-A32F-EF74A5730741}"/>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Périmètre de la fonction SI</a:t>
            </a:r>
          </a:p>
        </p:txBody>
      </p:sp>
      <p:sp>
        <p:nvSpPr>
          <p:cNvPr id="2" name="">
            <a:extLst xmlns:a="http://schemas.openxmlformats.org/drawingml/2006/main">
              <a:ext uri="{FF2B5EF4-FFF2-40B4-BE49-F238E27FC236}">
                <a16:creationId xmlns:a16="http://schemas.microsoft.com/office/drawing/2014/main" id="{A9652F18-BC94-4C06-9782-A26605F095FD}"/>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Cadrer le besoin et les responsabilités, en informatique interne, mutualisée ou externalisée.</a:t>
            </a:r>
          </a:p>
        </p:txBody>
      </p:sp>
      <p:sp>
        <p:nvSpPr>
          <p:cNvPr id="3" name="">
            <a:extLst xmlns:a="http://schemas.openxmlformats.org/drawingml/2006/main">
              <a:ext uri="{FF2B5EF4-FFF2-40B4-BE49-F238E27FC236}">
                <a16:creationId xmlns:a16="http://schemas.microsoft.com/office/drawing/2014/main" id="{271EBF96-3B98-40E3-BB6F-CA276EAD4526}"/>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Gouvernance, sécurité, continuité, infrastructures, hébergement et applications métiers.</a:t>
            </a:r>
          </a:p>
        </p:txBody>
      </p:sp>
      <p:sp>
        <p:nvSpPr>
          <p:cNvPr id="4" name="">
            <a:extLst xmlns:a="http://schemas.openxmlformats.org/drawingml/2006/main">
              <a:ext uri="{FF2B5EF4-FFF2-40B4-BE49-F238E27FC236}">
                <a16:creationId xmlns:a16="http://schemas.microsoft.com/office/drawing/2014/main" id="{77911F68-FB50-4030-81CF-456B68985563}"/>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Téléservices, accessibilité, IA, exécution des contrats et réversibilité technique.</a:t>
            </a:r>
          </a:p>
        </p:txBody>
      </p:sp>
      <p:sp>
        <p:nvSpPr>
          <p:cNvPr id="5" name="">
            <a:extLst xmlns:a="http://schemas.openxmlformats.org/drawingml/2006/main">
              <a:ext uri="{FF2B5EF4-FFF2-40B4-BE49-F238E27FC236}">
                <a16:creationId xmlns:a16="http://schemas.microsoft.com/office/drawing/2014/main" id="{4FF599E0-D0C9-49E8-A3E6-20FBEF54B697}"/>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Livrables : fiche projet, rapport d’incident, cahier des charges technique, charte et note d’homologation.</a:t>
            </a:r>
          </a:p>
        </p:txBody>
      </p:sp>
    </p:spTree>
    <p:extLst>
      <p:ext uri="{BB962C8B-B14F-4D97-AF65-F5344CB8AC3E}">
        <p14:creationId xmlns:p14="http://schemas.microsoft.com/office/powerpoint/2010/main" val="1108635015"/>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 name="">
            <a:extLst xmlns:a="http://schemas.openxmlformats.org/drawingml/2006/main">
              <a:ext uri="{FF2B5EF4-FFF2-40B4-BE49-F238E27FC236}">
                <a16:creationId xmlns:a16="http://schemas.microsoft.com/office/drawing/2014/main" id="{A234660A-3F44-4C11-B82A-1E57E495414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Responsabilités partagées</a:t>
            </a:r>
          </a:p>
        </p:txBody>
      </p:sp>
      <p:graphicFrame>
        <p:nvGraphicFramePr>
          <p:cNvPr id="6" name="">
            <a:extLst xmlns:a="http://schemas.openxmlformats.org/drawingml/2006/main">
              <a:ext uri="{FF2B5EF4-FFF2-40B4-BE49-F238E27FC236}">
                <a16:creationId xmlns:a16="http://schemas.microsoft.com/office/drawing/2014/main" id="{8DAE401F-843B-4A8A-AC2A-68FECF6ED3E8}"/>
              </a:ext>
            </a:extLst>
          </p:cNvPr>
          <p:cNvGraphicFramePr/>
          <p:nvPr/>
        </p:nvGraphicFramePr>
        <p:xfrm>
          <a:off xmlns:a="http://schemas.openxmlformats.org/drawingml/2006/main" x="723900" y="1581150"/>
          <a:ext xmlns:a="http://schemas.openxmlformats.org/drawingml/2006/main" cx="10744200" cy="4286250"/>
        </p:xfrm>
        <a:graphic xmlns:a="http://schemas.openxmlformats.org/drawingml/2006/main">
          <a:graphicData uri="http://schemas.openxmlformats.org/drawingml/2006/table">
            <a:tbl>
              <a:tblPr/>
              <a:tblGrid>
                <a:gridCol w="3333750"/>
                <a:gridCol w="7410450"/>
              </a:tblGrid>
              <a:tr h="0">
                <a:tc>
                  <a:txBody>
                    <a:bodyPr/>
                    <a:lstStyle/>
                    <a:p>
                      <a:r>
                        <a:rPr sz="1800" b="1">
                          <a:solidFill>
                            <a:srgbClr val="FFFFFF"/>
                          </a:solidFill>
                          <a:latin typeface="Arial"/>
                          <a:ea typeface="Arial"/>
                          <a:cs typeface="Arial"/>
                        </a:rPr>
                        <a:t>Rôle</a:t>
                      </a:r>
                    </a:p>
                  </a:txBody>
                  <a:tcPr marL="152400" marR="152400" marT="57150" marB="57150">
                    <a:solidFill>
                      <a:srgbClr val="112B40"/>
                    </a:solidFill>
                  </a:tcPr>
                </a:tc>
                <a:tc>
                  <a:txBody>
                    <a:bodyPr/>
                    <a:lstStyle/>
                    <a:p>
                      <a:r>
                        <a:rPr sz="1800" b="1">
                          <a:solidFill>
                            <a:srgbClr val="FFFFFF"/>
                          </a:solidFill>
                          <a:latin typeface="Arial"/>
                          <a:ea typeface="Arial"/>
                          <a:cs typeface="Arial"/>
                        </a:rPr>
                        <a:t>Volet à instruire</a:t>
                      </a:r>
                    </a:p>
                  </a:txBody>
                  <a:tcPr marL="152400" marR="152400" marT="57150" marB="57150">
                    <a:solidFill>
                      <a:srgbClr val="112B40"/>
                    </a:solidFill>
                  </a:tcPr>
                </a:tc>
              </a:tr>
              <a:tr h="612321">
                <a:tc>
                  <a:txBody>
                    <a:bodyPr/>
                    <a:lstStyle/>
                    <a:p>
                      <a:r>
                        <a:rPr sz="1800">
                          <a:solidFill>
                            <a:srgbClr val="1B3547"/>
                          </a:solidFill>
                          <a:latin typeface="Arial"/>
                          <a:ea typeface="Arial"/>
                          <a:cs typeface="Arial"/>
                        </a:rPr>
                        <a:t>DSI / RSSI</a:t>
                      </a:r>
                    </a:p>
                  </a:txBody>
                  <a:tcPr marL="152400" marR="152400" marT="57150" marB="57150"/>
                </a:tc>
                <a:tc>
                  <a:txBody>
                    <a:bodyPr/>
                    <a:lstStyle/>
                    <a:p>
                      <a:r>
                        <a:rPr sz="1800">
                          <a:solidFill>
                            <a:srgbClr val="1B3547"/>
                          </a:solidFill>
                          <a:latin typeface="Arial"/>
                          <a:ea typeface="Arial"/>
                          <a:cs typeface="Arial"/>
                        </a:rPr>
                        <a:t>Besoins, mesures techniques et continuité</a:t>
                      </a:r>
                    </a:p>
                  </a:txBody>
                  <a:tcPr marL="152400" marR="152400" marT="57150" marB="57150"/>
                </a:tc>
              </a:tr>
              <a:tr h="612321">
                <a:tc>
                  <a:txBody>
                    <a:bodyPr/>
                    <a:lstStyle/>
                    <a:p>
                      <a:r>
                        <a:rPr sz="1800">
                          <a:solidFill>
                            <a:srgbClr val="1B3547"/>
                          </a:solidFill>
                          <a:latin typeface="Arial"/>
                          <a:ea typeface="Arial"/>
                          <a:cs typeface="Arial"/>
                        </a:rPr>
                        <a:t>DPO</a:t>
                      </a:r>
                    </a:p>
                  </a:txBody>
                  <a:tcPr marL="152400" marR="152400" marT="57150" marB="57150"/>
                </a:tc>
                <a:tc>
                  <a:txBody>
                    <a:bodyPr/>
                    <a:lstStyle/>
                    <a:p>
                      <a:r>
                        <a:rPr sz="1800">
                          <a:solidFill>
                            <a:srgbClr val="1B3547"/>
                          </a:solidFill>
                          <a:latin typeface="Arial"/>
                          <a:ea typeface="Arial"/>
                          <a:cs typeface="Arial"/>
                        </a:rPr>
                        <a:t>Qualification RGPD et risques pour les personnes</a:t>
                      </a:r>
                    </a:p>
                  </a:txBody>
                  <a:tcPr marL="152400" marR="152400" marT="57150" marB="57150"/>
                </a:tc>
              </a:tr>
              <a:tr h="612321">
                <a:tc>
                  <a:txBody>
                    <a:bodyPr/>
                    <a:lstStyle/>
                    <a:p>
                      <a:r>
                        <a:rPr sz="1800">
                          <a:solidFill>
                            <a:srgbClr val="1B3547"/>
                          </a:solidFill>
                          <a:latin typeface="Arial"/>
                          <a:ea typeface="Arial"/>
                          <a:cs typeface="Arial"/>
                        </a:rPr>
                        <a:t>DRH</a:t>
                      </a:r>
                    </a:p>
                  </a:txBody>
                  <a:tcPr marL="152400" marR="152400" marT="57150" marB="57150"/>
                </a:tc>
                <a:tc>
                  <a:txBody>
                    <a:bodyPr/>
                    <a:lstStyle/>
                    <a:p>
                      <a:r>
                        <a:rPr sz="1800">
                          <a:solidFill>
                            <a:srgbClr val="1B3547"/>
                          </a:solidFill>
                          <a:latin typeface="Arial"/>
                          <a:ea typeface="Arial"/>
                          <a:cs typeface="Arial"/>
                        </a:rPr>
                        <a:t>Fonctions et conséquences statutaires</a:t>
                      </a:r>
                    </a:p>
                  </a:txBody>
                  <a:tcPr marL="152400" marR="152400" marT="57150" marB="57150"/>
                </a:tc>
              </a:tr>
              <a:tr h="612321">
                <a:tc>
                  <a:txBody>
                    <a:bodyPr/>
                    <a:lstStyle/>
                    <a:p>
                      <a:r>
                        <a:rPr sz="1800">
                          <a:solidFill>
                            <a:srgbClr val="1B3547"/>
                          </a:solidFill>
                          <a:latin typeface="Arial"/>
                          <a:ea typeface="Arial"/>
                          <a:cs typeface="Arial"/>
                        </a:rPr>
                        <a:t>Police municipale</a:t>
                      </a:r>
                    </a:p>
                  </a:txBody>
                  <a:tcPr marL="152400" marR="152400" marT="57150" marB="57150"/>
                </a:tc>
                <a:tc>
                  <a:txBody>
                    <a:bodyPr/>
                    <a:lstStyle/>
                    <a:p>
                      <a:r>
                        <a:rPr sz="1800">
                          <a:solidFill>
                            <a:srgbClr val="1B3547"/>
                          </a:solidFill>
                          <a:latin typeface="Arial"/>
                          <a:ea typeface="Arial"/>
                          <a:cs typeface="Arial"/>
                        </a:rPr>
                        <a:t>Doctrine et autorisations de vidéoprotection</a:t>
                      </a:r>
                    </a:p>
                  </a:txBody>
                  <a:tcPr marL="152400" marR="152400" marT="57150" marB="57150"/>
                </a:tc>
              </a:tr>
              <a:tr h="612321">
                <a:tc>
                  <a:txBody>
                    <a:bodyPr/>
                    <a:lstStyle/>
                    <a:p>
                      <a:r>
                        <a:rPr sz="1800">
                          <a:solidFill>
                            <a:srgbClr val="1B3547"/>
                          </a:solidFill>
                          <a:latin typeface="Arial"/>
                          <a:ea typeface="Arial"/>
                          <a:cs typeface="Arial"/>
                        </a:rPr>
                        <a:t>Direction des finances</a:t>
                      </a:r>
                    </a:p>
                  </a:txBody>
                  <a:tcPr marL="152400" marR="152400" marT="57150" marB="57150"/>
                </a:tc>
                <a:tc>
                  <a:txBody>
                    <a:bodyPr/>
                    <a:lstStyle/>
                    <a:p>
                      <a:r>
                        <a:rPr sz="1800">
                          <a:solidFill>
                            <a:srgbClr val="1B3547"/>
                          </a:solidFill>
                          <a:latin typeface="Arial"/>
                          <a:ea typeface="Arial"/>
                          <a:cs typeface="Arial"/>
                        </a:rPr>
                        <a:t>Arbitrage et qualification budgétaire</a:t>
                      </a:r>
                    </a:p>
                  </a:txBody>
                  <a:tcPr marL="152400" marR="152400" marT="57150" marB="57150"/>
                </a:tc>
              </a:tr>
              <a:tr h="612321">
                <a:tc>
                  <a:txBody>
                    <a:bodyPr/>
                    <a:lstStyle/>
                    <a:p>
                      <a:r>
                        <a:rPr sz="1800">
                          <a:solidFill>
                            <a:srgbClr val="1B3547"/>
                          </a:solidFill>
                          <a:latin typeface="Arial"/>
                          <a:ea typeface="Arial"/>
                          <a:cs typeface="Arial"/>
                        </a:rPr>
                        <a:t>Recherche juridique</a:t>
                      </a:r>
                    </a:p>
                  </a:txBody>
                  <a:tcPr marL="152400" marR="152400" marT="57150" marB="57150"/>
                </a:tc>
                <a:tc>
                  <a:txBody>
                    <a:bodyPr/>
                    <a:lstStyle/>
                    <a:p>
                      <a:r>
                        <a:rPr sz="1800">
                          <a:solidFill>
                            <a:srgbClr val="1B3547"/>
                          </a:solidFill>
                          <a:latin typeface="Arial"/>
                          <a:ea typeface="Arial"/>
                          <a:cs typeface="Arial"/>
                        </a:rPr>
                        <a:t>Sources officielles, vigueur et applicabilité</a:t>
                      </a:r>
                    </a:p>
                  </a:txBody>
                  <a:tcPr marL="152400" marR="152400" marT="57150" marB="57150"/>
                </a:tc>
              </a:tr>
            </a:tbl>
          </a:graphicData>
        </a:graphic>
      </p:graphicFrame>
    </p:spTree>
    <p:extLst>
      <p:ext uri="{BB962C8B-B14F-4D97-AF65-F5344CB8AC3E}">
        <p14:creationId xmlns:p14="http://schemas.microsoft.com/office/powerpoint/2010/main" val="1537567089"/>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85D8F674-999F-4999-83B3-0E5947F1175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Mesure DSI autonome</a:t>
            </a:r>
          </a:p>
        </p:txBody>
      </p:sp>
      <p:graphicFrame>
        <p:nvGraphicFramePr>
          <p:cNvPr id="8" name="Chart">
            <a:extLst xmlns:a="http://schemas.openxmlformats.org/drawingml/2006/main">
              <a:ext uri="{FF2B5EF4-FFF2-40B4-BE49-F238E27FC236}">
                <a16:creationId xmlns:a16="http://schemas.microsoft.com/office/drawing/2014/main" id="{417367A3-C2B3-4A0B-A48F-8024299B7257}"/>
              </a:ext>
            </a:extLst>
          </p:cNvPr>
          <p:cNvGraphicFramePr/>
          <p:nvPr/>
        </p:nvGraphicFramePr>
        <p:xfrm>
          <a:off xmlns:a="http://schemas.openxmlformats.org/drawingml/2006/main" x="781050" y="1657350"/>
          <a:ext xmlns:a="http://schemas.openxmlformats.org/drawingml/2006/main" cx="7143750" cy="3562350"/>
        </p:xfrm>
        <a:graphic xmlns:a="http://schemas.openxmlformats.org/drawingml/2006/main">
          <a:graphicData uri="http://schemas.openxmlformats.org/drawingml/2006/chart">
            <c:chart xmlns:r="http://schemas.openxmlformats.org/officeDocument/2006/relationships" xmlns:c="http://schemas.openxmlformats.org/drawingml/2006/chart" r:id="Rd2f1ad94b4f94f16"/>
          </a:graphicData>
        </a:graphic>
      </p:graphicFrame>
      <p:sp>
        <p:nvSpPr>
          <p:cNvPr id="3" name="">
            <a:extLst xmlns:a="http://schemas.openxmlformats.org/drawingml/2006/main">
              <a:ext uri="{FF2B5EF4-FFF2-40B4-BE49-F238E27FC236}">
                <a16:creationId xmlns:a16="http://schemas.microsoft.com/office/drawing/2014/main" id="{E2E9B84F-7DD2-4215-9CAC-9A3C2642F736}"/>
              </a:ext>
            </a:extLst>
          </p:cNvPr>
          <p:cNvSpPr>
            <a:spLocks xmlns:a="http://schemas.openxmlformats.org/drawingml/2006/main" noGrp="1"/>
          </p:cNvSpPr>
          <p:nvPr/>
        </p:nvSpPr>
        <p:spPr>
          <a:xfrm xmlns:a="http://schemas.openxmlformats.org/drawingml/2006/main">
            <a:off x="8420100" y="2047875"/>
            <a:ext cx="2971800" cy="2238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28 cas réussis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56 rôles retenus</a:t>
            </a:r>
          </a:p>
          <a:p xmlns:a="http://schemas.openxmlformats.org/drawingml/2006/main">
            <a:pPr>
              <a:buNone/>
              <a:defRPr sz="2400" b="1">
                <a:solidFill>
                  <a:srgbClr val="112B40"/>
                </a:solidFill>
                <a:latin typeface="Arial"/>
                <a:ea typeface="Arial"/>
                <a:cs typeface="Arial"/>
              </a:defRPr>
            </a:pPr>
            <a:r>
              <a:rPr sz="2400" b="1">
                <a:solidFill>
                  <a:srgbClr val="112B40"/>
                </a:solidFill>
                <a:latin typeface="Arial"/>
                <a:ea typeface="Arial"/>
                <a:cs typeface="Arial"/>
              </a:rPr>
              <a:t>8 critiques réussis</a:t>
            </a:r>
          </a:p>
        </p:txBody>
      </p:sp>
      <p:sp>
        <p:nvSpPr>
          <p:cNvPr id="4" name="">
            <a:extLst xmlns:a="http://schemas.openxmlformats.org/drawingml/2006/main">
              <a:ext uri="{FF2B5EF4-FFF2-40B4-BE49-F238E27FC236}">
                <a16:creationId xmlns:a16="http://schemas.microsoft.com/office/drawing/2014/main" id="{5CBE5592-5ABA-4FCB-8EF8-00A786871C4E}"/>
              </a:ext>
            </a:extLst>
          </p:cNvPr>
          <p:cNvSpPr>
            <a:spLocks xmlns:a="http://schemas.openxmlformats.org/drawingml/2006/main" noGrp="1"/>
          </p:cNvSpPr>
          <p:nvPr/>
        </p:nvSpPr>
        <p:spPr>
          <a:xfrm xmlns:a="http://schemas.openxmlformats.org/drawingml/2006/main">
            <a:off x="781050" y="5591175"/>
            <a:ext cx="10668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100" b="0">
                <a:solidFill>
                  <a:srgbClr val="1B3547"/>
                </a:solidFill>
                <a:latin typeface="Arial"/>
                <a:ea typeface="Arial"/>
                <a:cs typeface="Arial"/>
              </a:defRPr>
            </a:pPr>
            <a:r>
              <a:rPr sz="2100" b="0">
                <a:solidFill>
                  <a:srgbClr val="1B3547"/>
                </a:solidFill>
                <a:latin typeface="Arial"/>
                <a:ea typeface="Arial"/>
                <a:cs typeface="Arial"/>
              </a:rPr>
              <a:t>Source 704e5dd mesurée. Revue DSI/RSSI et qualification du plugin encore ouvertes.</a:t>
            </a:r>
          </a:p>
        </p:txBody>
      </p:sp>
    </p:spTree>
    <p:extLst>
      <p:ext uri="{BB962C8B-B14F-4D97-AF65-F5344CB8AC3E}">
        <p14:creationId xmlns:p14="http://schemas.microsoft.com/office/powerpoint/2010/main" val="181296202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DECAAC88-D6DB-46D8-8174-F2B9AE31B97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Corrections de la mesure autonome</a:t>
            </a:r>
          </a:p>
        </p:txBody>
      </p:sp>
      <p:sp>
        <p:nvSpPr>
          <p:cNvPr id="2" name="">
            <a:extLst xmlns:a="http://schemas.openxmlformats.org/drawingml/2006/main">
              <a:ext uri="{FF2B5EF4-FFF2-40B4-BE49-F238E27FC236}">
                <a16:creationId xmlns:a16="http://schemas.microsoft.com/office/drawing/2014/main" id="{45996A96-FC70-4787-99B4-3A26BBA30C6D}"/>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10 — réversibilité contractuelle</a:t>
            </a:r>
          </a:p>
        </p:txBody>
      </p:sp>
      <p:sp>
        <p:nvSpPr>
          <p:cNvPr id="3" name="">
            <a:extLst xmlns:a="http://schemas.openxmlformats.org/drawingml/2006/main">
              <a:ext uri="{FF2B5EF4-FFF2-40B4-BE49-F238E27FC236}">
                <a16:creationId xmlns:a16="http://schemas.microsoft.com/office/drawing/2014/main" id="{970E3549-BBE8-4DF3-A822-1D6F0ED6DCF6}"/>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Bascule vers le rôle compétent et abstention sans source. Le cas 10 réussit sur le candidat corrigé.</a:t>
            </a:r>
          </a:p>
        </p:txBody>
      </p:sp>
      <p:sp>
        <p:nvSpPr>
          <p:cNvPr id="4" name="">
            <a:extLst xmlns:a="http://schemas.openxmlformats.org/drawingml/2006/main">
              <a:ext uri="{FF2B5EF4-FFF2-40B4-BE49-F238E27FC236}">
                <a16:creationId xmlns:a16="http://schemas.microsoft.com/office/drawing/2014/main" id="{B35CFCBE-7FEA-4806-92FB-90424BC4F87B}"/>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Cas 14 — clôture d’un incident ancien</a:t>
            </a:r>
          </a:p>
        </p:txBody>
      </p:sp>
      <p:sp>
        <p:nvSpPr>
          <p:cNvPr id="5" name="">
            <a:extLst xmlns:a="http://schemas.openxmlformats.org/drawingml/2006/main">
              <a:ext uri="{FF2B5EF4-FFF2-40B4-BE49-F238E27FC236}">
                <a16:creationId xmlns:a16="http://schemas.microsoft.com/office/drawing/2014/main" id="{B1F85975-C1A3-4508-973D-AD0A05584EDF}"/>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Clôture de l’objet ancien, puis réouverture si un nouvel indice la contredit. Le cas 14 réussit.</a:t>
            </a:r>
          </a:p>
        </p:txBody>
      </p:sp>
      <p:sp>
        <p:nvSpPr>
          <p:cNvPr id="6" name="">
            <a:extLst xmlns:a="http://schemas.openxmlformats.org/drawingml/2006/main">
              <a:ext uri="{FF2B5EF4-FFF2-40B4-BE49-F238E27FC236}">
                <a16:creationId xmlns:a16="http://schemas.microsoft.com/office/drawing/2014/main" id="{3B2FA573-B096-49C1-AF03-DE15317C7E66}"/>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Les anciennes mesures restent conservées. Le cache est exclu du paquet autonome.</a:t>
            </a:r>
          </a:p>
        </p:txBody>
      </p:sp>
    </p:spTree>
    <p:extLst>
      <p:ext uri="{BB962C8B-B14F-4D97-AF65-F5344CB8AC3E}">
        <p14:creationId xmlns:p14="http://schemas.microsoft.com/office/powerpoint/2010/main" val="1263332089"/>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D8C7C5E4-4424-414A-8DF8-6BD50B0D280A}"/>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Coactivation du candidat à six skills</a:t>
            </a:r>
          </a:p>
        </p:txBody>
      </p:sp>
      <p:graphicFrame>
        <p:nvGraphicFramePr>
          <p:cNvPr id="7" name="">
            <a:extLst xmlns:a="http://schemas.openxmlformats.org/drawingml/2006/main">
              <a:ext uri="{FF2B5EF4-FFF2-40B4-BE49-F238E27FC236}">
                <a16:creationId xmlns:a16="http://schemas.microsoft.com/office/drawing/2014/main" id="{AE2917E9-7205-459F-99F4-B048E1C7648B}"/>
              </a:ext>
            </a:extLst>
          </p:cNvPr>
          <p:cNvGraphicFramePr/>
          <p:nvPr/>
        </p:nvGraphicFramePr>
        <p:xfrm>
          <a:off xmlns:a="http://schemas.openxmlformats.org/drawingml/2006/main" x="723900" y="1581150"/>
          <a:ext xmlns:a="http://schemas.openxmlformats.org/drawingml/2006/main" cx="10744200" cy="4191000"/>
        </p:xfrm>
        <a:graphic xmlns:a="http://schemas.openxmlformats.org/drawingml/2006/main">
          <a:graphicData uri="http://schemas.openxmlformats.org/drawingml/2006/table">
            <a:tbl>
              <a:tblPr/>
              <a:tblGrid>
                <a:gridCol w="4667250"/>
                <a:gridCol w="6076950"/>
              </a:tblGrid>
              <a:tr h="0">
                <a:tc>
                  <a:txBody>
                    <a:bodyPr/>
                    <a:lstStyle/>
                    <a:p>
                      <a:r>
                        <a:rPr sz="1800" b="1">
                          <a:solidFill>
                            <a:srgbClr val="FFFFFF"/>
                          </a:solidFill>
                          <a:latin typeface="Arial"/>
                          <a:ea typeface="Arial"/>
                          <a:cs typeface="Arial"/>
                        </a:rPr>
                        <a:t>Contrôle</a:t>
                      </a:r>
                    </a:p>
                  </a:txBody>
                  <a:tcPr marL="152400" marR="152400" marT="57150" marB="57150">
                    <a:solidFill>
                      <a:srgbClr val="112B40"/>
                    </a:solidFill>
                  </a:tcPr>
                </a:tc>
                <a:tc>
                  <a:txBody>
                    <a:bodyPr/>
                    <a:lstStyle/>
                    <a:p>
                      <a:r>
                        <a:rPr sz="1800" b="1">
                          <a:solidFill>
                            <a:srgbClr val="FFFFFF"/>
                          </a:solidFill>
                          <a:latin typeface="Arial"/>
                          <a:ea typeface="Arial"/>
                          <a:cs typeface="Arial"/>
                        </a:rPr>
                        <a:t>État et portée</a:t>
                      </a:r>
                    </a:p>
                  </a:txBody>
                  <a:tcPr marL="152400" marR="152400" marT="57150" marB="57150">
                    <a:solidFill>
                      <a:srgbClr val="112B40"/>
                    </a:solidFill>
                  </a:tcPr>
                </a:tc>
              </a:tr>
              <a:tr h="698500">
                <a:tc>
                  <a:txBody>
                    <a:bodyPr/>
                    <a:lstStyle/>
                    <a:p>
                      <a:r>
                        <a:rPr sz="1800">
                          <a:solidFill>
                            <a:srgbClr val="1B3547"/>
                          </a:solidFill>
                          <a:latin typeface="Arial"/>
                          <a:ea typeface="Arial"/>
                          <a:cs typeface="Arial"/>
                        </a:rPr>
                        <a:t>Composition</a:t>
                      </a:r>
                    </a:p>
                  </a:txBody>
                  <a:tcPr marL="152400" marR="152400" marT="57150" marB="57150"/>
                </a:tc>
                <a:tc>
                  <a:txBody>
                    <a:bodyPr/>
                    <a:lstStyle/>
                    <a:p>
                      <a:r>
                        <a:rPr sz="1800">
                          <a:solidFill>
                            <a:srgbClr val="1B3547"/>
                          </a:solidFill>
                          <a:latin typeface="Arial"/>
                          <a:ea typeface="Arial"/>
                          <a:cs typeface="Arial"/>
                        </a:rPr>
                        <a:t>Six skills, 166 fichiers runtime</a:t>
                      </a:r>
                    </a:p>
                  </a:txBody>
                  <a:tcPr marL="152400" marR="152400" marT="57150" marB="57150"/>
                </a:tc>
              </a:tr>
              <a:tr h="698500">
                <a:tc>
                  <a:txBody>
                    <a:bodyPr/>
                    <a:lstStyle/>
                    <a:p>
                      <a:r>
                        <a:rPr sz="1800">
                          <a:solidFill>
                            <a:srgbClr val="1B3547"/>
                          </a:solidFill>
                          <a:latin typeface="Arial"/>
                          <a:ea typeface="Arial"/>
                          <a:cs typeface="Arial"/>
                        </a:rPr>
                        <a:t>Dev.5 historique</a:t>
                      </a:r>
                    </a:p>
                  </a:txBody>
                  <a:tcPr marL="152400" marR="152400" marT="57150" marB="57150"/>
                </a:tc>
                <a:tc>
                  <a:txBody>
                    <a:bodyPr/>
                    <a:lstStyle/>
                    <a:p>
                      <a:r>
                        <a:rPr sz="1800">
                          <a:solidFill>
                            <a:srgbClr val="1B3547"/>
                          </a:solidFill>
                          <a:latin typeface="Arial"/>
                          <a:ea typeface="Arial"/>
                          <a:cs typeface="Arial"/>
                        </a:rPr>
                        <a:t>16 cas : 4 réussites, 6 échecs, 6 bloqués</a:t>
                      </a:r>
                    </a:p>
                  </a:txBody>
                  <a:tcPr marL="152400" marR="152400" marT="57150" marB="57150"/>
                </a:tc>
              </a:tr>
              <a:tr h="698500">
                <a:tc>
                  <a:txBody>
                    <a:bodyPr/>
                    <a:lstStyle/>
                    <a:p>
                      <a:r>
                        <a:rPr sz="1800">
                          <a:solidFill>
                            <a:srgbClr val="1B3547"/>
                          </a:solidFill>
                          <a:latin typeface="Arial"/>
                          <a:ea typeface="Arial"/>
                          <a:cs typeface="Arial"/>
                        </a:rPr>
                        <a:t>Dev.6, pilote partiel</a:t>
                      </a:r>
                    </a:p>
                  </a:txBody>
                  <a:tcPr marL="152400" marR="152400" marT="57150" marB="57150"/>
                </a:tc>
                <a:tc>
                  <a:txBody>
                    <a:bodyPr/>
                    <a:lstStyle/>
                    <a:p>
                      <a:r>
                        <a:rPr sz="1800">
                          <a:solidFill>
                            <a:srgbClr val="1B3547"/>
                          </a:solidFill>
                          <a:latin typeface="Arial"/>
                          <a:ea typeface="Arial"/>
                          <a:cs typeface="Arial"/>
                        </a:rPr>
                        <a:t>5 cas jugés : 1 réussite, 1 échec, 3 bloqués</a:t>
                      </a:r>
                    </a:p>
                  </a:txBody>
                  <a:tcPr marL="152400" marR="152400" marT="57150" marB="57150"/>
                </a:tc>
              </a:tr>
              <a:tr h="698500">
                <a:tc>
                  <a:txBody>
                    <a:bodyPr/>
                    <a:lstStyle/>
                    <a:p>
                      <a:r>
                        <a:rPr sz="1800">
                          <a:solidFill>
                            <a:srgbClr val="1B3547"/>
                          </a:solidFill>
                          <a:latin typeface="Arial"/>
                          <a:ea typeface="Arial"/>
                          <a:cs typeface="Arial"/>
                        </a:rPr>
                        <a:t>Dev.6, smoke CLI</a:t>
                      </a:r>
                    </a:p>
                  </a:txBody>
                  <a:tcPr marL="152400" marR="152400" marT="57150" marB="57150"/>
                </a:tc>
                <a:tc>
                  <a:txBody>
                    <a:bodyPr/>
                    <a:lstStyle/>
                    <a:p>
                      <a:r>
                        <a:rPr sz="1800">
                          <a:solidFill>
                            <a:srgbClr val="1B3547"/>
                          </a:solidFill>
                          <a:latin typeface="Arial"/>
                          <a:ea typeface="Arial"/>
                          <a:cs typeface="Arial"/>
                        </a:rPr>
                        <a:t>4 sessions authentifiées, coactivation incomplète</a:t>
                      </a:r>
                    </a:p>
                  </a:txBody>
                  <a:tcPr marL="152400" marR="152400" marT="57150" marB="57150"/>
                </a:tc>
              </a:tr>
              <a:tr h="698500">
                <a:tc>
                  <a:txBody>
                    <a:bodyPr/>
                    <a:lstStyle/>
                    <a:p>
                      <a:r>
                        <a:rPr sz="1800">
                          <a:solidFill>
                            <a:srgbClr val="1B3547"/>
                          </a:solidFill>
                          <a:latin typeface="Arial"/>
                          <a:ea typeface="Arial"/>
                          <a:cs typeface="Arial"/>
                        </a:rPr>
                        <a:t>Dev.7, candidat courant</a:t>
                      </a:r>
                    </a:p>
                  </a:txBody>
                  <a:tcPr marL="152400" marR="152400" marT="57150" marB="57150"/>
                </a:tc>
                <a:tc>
                  <a:txBody>
                    <a:bodyPr/>
                    <a:lstStyle/>
                    <a:p>
                      <a:r>
                        <a:rPr sz="1800">
                          <a:solidFill>
                            <a:srgbClr val="1B3547"/>
                          </a:solidFill>
                          <a:latin typeface="Arial"/>
                          <a:ea typeface="Arial"/>
                          <a:cs typeface="Arial"/>
                        </a:rPr>
                        <a:t>fb186b4, non mesuré, release_ready=false</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78A8F169-3F06-4801-AC22-2B9BBBCADB1F}"/>
              </a:ext>
            </a:extLst>
          </p:cNvPr>
          <p:cNvSpPr>
            <a:spLocks xmlns:a="http://schemas.openxmlformats.org/drawingml/2006/main" noGrp="1"/>
          </p:cNvSpPr>
          <p:nvPr/>
        </p:nvSpPr>
        <p:spPr>
          <a:xfrm xmlns:a="http://schemas.openxmlformats.org/drawingml/2006/main">
            <a:off x="723900" y="6038850"/>
            <a:ext cx="107442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Pilote dev.6 : un rejet hors score et dix cas non exécutés. Revues humaines ouvertes.</a:t>
            </a:r>
          </a:p>
        </p:txBody>
      </p:sp>
    </p:spTree>
    <p:extLst>
      <p:ext uri="{BB962C8B-B14F-4D97-AF65-F5344CB8AC3E}">
        <p14:creationId xmlns:p14="http://schemas.microsoft.com/office/powerpoint/2010/main" val="1521403643"/>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CEA96D43-3917-4C44-93DD-C1EFD655B1B2}"/>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STOP : observations et hypothèse</a:t>
            </a:r>
          </a:p>
        </p:txBody>
      </p:sp>
      <p:sp>
        <p:nvSpPr>
          <p:cNvPr id="2" name="">
            <a:extLst xmlns:a="http://schemas.openxmlformats.org/drawingml/2006/main">
              <a:ext uri="{FF2B5EF4-FFF2-40B4-BE49-F238E27FC236}">
                <a16:creationId xmlns:a16="http://schemas.microsoft.com/office/drawing/2014/main" id="{A0C4E5CE-1E0B-4656-83EF-C079199ABA61}"/>
              </a:ext>
            </a:extLst>
          </p:cNvPr>
          <p:cNvSpPr>
            <a:spLocks xmlns:a="http://schemas.openxmlformats.org/drawingml/2006/main" noGrp="1"/>
          </p:cNvSpPr>
          <p:nvPr/>
        </p:nvSpPr>
        <p:spPr>
          <a:xfrm xmlns:a="http://schemas.openxmlformats.org/drawingml/2006/main">
            <a:off x="723900" y="1619250"/>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Pilote dev.6 par fichiers</a:t>
            </a:r>
          </a:p>
        </p:txBody>
      </p:sp>
      <p:sp>
        <p:nvSpPr>
          <p:cNvPr id="3" name="">
            <a:extLst xmlns:a="http://schemas.openxmlformats.org/drawingml/2006/main">
              <a:ext uri="{FF2B5EF4-FFF2-40B4-BE49-F238E27FC236}">
                <a16:creationId xmlns:a16="http://schemas.microsoft.com/office/drawing/2014/main" id="{C7FE9D25-9E0A-4BCB-B869-5A7E726802B9}"/>
              </a:ext>
            </a:extLst>
          </p:cNvPr>
          <p:cNvSpPr>
            <a:spLocks xmlns:a="http://schemas.openxmlformats.org/drawingml/2006/main" noGrp="1"/>
          </p:cNvSpPr>
          <p:nvPr/>
        </p:nvSpPr>
        <p:spPr>
          <a:xfrm xmlns:a="http://schemas.openxmlformats.org/drawingml/2006/main">
            <a:off x="723900" y="2228850"/>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Une annonce précède le STOP du cas réouverture. L’échec historique reste acquis, même avec un STOP en tête de réponse finale.</a:t>
            </a:r>
          </a:p>
        </p:txBody>
      </p:sp>
      <p:sp>
        <p:nvSpPr>
          <p:cNvPr id="4" name="">
            <a:extLst xmlns:a="http://schemas.openxmlformats.org/drawingml/2006/main">
              <a:ext uri="{FF2B5EF4-FFF2-40B4-BE49-F238E27FC236}">
                <a16:creationId xmlns:a16="http://schemas.microsoft.com/office/drawing/2014/main" id="{CC714B17-9DB8-4F00-BBA6-6AC9C2AD5246}"/>
              </a:ext>
            </a:extLst>
          </p:cNvPr>
          <p:cNvSpPr>
            <a:spLocks xmlns:a="http://schemas.openxmlformats.org/drawingml/2006/main" noGrp="1"/>
          </p:cNvSpPr>
          <p:nvPr/>
        </p:nvSpPr>
        <p:spPr>
          <a:xfrm xmlns:a="http://schemas.openxmlformats.org/drawingml/2006/main">
            <a:off x="723900" y="3724275"/>
            <a:ext cx="10744200" cy="514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400" b="1">
                <a:solidFill>
                  <a:srgbClr val="176E78"/>
                </a:solidFill>
                <a:latin typeface="Arial"/>
                <a:ea typeface="Arial"/>
                <a:cs typeface="Arial"/>
              </a:defRPr>
            </a:pPr>
            <a:r>
              <a:rPr sz="2400" b="1">
                <a:solidFill>
                  <a:srgbClr val="176E78"/>
                </a:solidFill>
                <a:latin typeface="Arial"/>
                <a:ea typeface="Arial"/>
                <a:cs typeface="Arial"/>
              </a:rPr>
              <a:t>Correctif dev.7 non mesuré</a:t>
            </a:r>
          </a:p>
        </p:txBody>
      </p:sp>
      <p:sp>
        <p:nvSpPr>
          <p:cNvPr id="5" name="">
            <a:extLst xmlns:a="http://schemas.openxmlformats.org/drawingml/2006/main">
              <a:ext uri="{FF2B5EF4-FFF2-40B4-BE49-F238E27FC236}">
                <a16:creationId xmlns:a16="http://schemas.microsoft.com/office/drawing/2014/main" id="{2FCD77AB-3960-42D0-9E6B-49AA771BD0D6}"/>
              </a:ext>
            </a:extLst>
          </p:cNvPr>
          <p:cNvSpPr>
            <a:spLocks xmlns:a="http://schemas.openxmlformats.org/drawingml/2006/main" noGrp="1"/>
          </p:cNvSpPr>
          <p:nvPr/>
        </p:nvSpPr>
        <p:spPr>
          <a:xfrm xmlns:a="http://schemas.openxmlformats.org/drawingml/2006/main">
            <a:off x="723900" y="4333875"/>
            <a:ext cx="10744200" cy="1104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Dev.7 précise le STOP dans le premier commentaire avant outils. Le smoke explicite dev.6 observe ce placement dans un seul cas.</a:t>
            </a:r>
          </a:p>
        </p:txBody>
      </p:sp>
      <p:sp>
        <p:nvSpPr>
          <p:cNvPr id="6" name="">
            <a:extLst xmlns:a="http://schemas.openxmlformats.org/drawingml/2006/main">
              <a:ext uri="{FF2B5EF4-FFF2-40B4-BE49-F238E27FC236}">
                <a16:creationId xmlns:a16="http://schemas.microsoft.com/office/drawing/2014/main" id="{4BAFE0F8-5372-4B8B-8DF6-B30B95B106BC}"/>
              </a:ext>
            </a:extLst>
          </p:cNvPr>
          <p:cNvSpPr>
            <a:spLocks xmlns:a="http://schemas.openxmlformats.org/drawingml/2006/main" noGrp="1"/>
          </p:cNvSpPr>
          <p:nvPr/>
        </p:nvSpPr>
        <p:spPr>
          <a:xfrm xmlns:a="http://schemas.openxmlformats.org/drawingml/2006/main">
            <a:off x="723900" y="5867400"/>
            <a:ext cx="107442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75" b="0">
                <a:solidFill>
                  <a:srgbClr val="526774"/>
                </a:solidFill>
                <a:latin typeface="Arial"/>
                <a:ea typeface="Arial"/>
                <a:cs typeface="Arial"/>
              </a:defRPr>
            </a:pPr>
            <a:r>
              <a:rPr sz="1875" b="0">
                <a:solidFill>
                  <a:srgbClr val="526774"/>
                </a:solidFill>
                <a:latin typeface="Arial"/>
                <a:ea typeface="Arial"/>
                <a:cs typeface="Arial"/>
              </a:rPr>
              <a:t>Dev.7 fb186b4 : 213 fichiers gelés, dont 166 runtime. Aucun score transféré.</a:t>
            </a:r>
          </a:p>
        </p:txBody>
      </p:sp>
    </p:spTree>
    <p:extLst>
      <p:ext uri="{BB962C8B-B14F-4D97-AF65-F5344CB8AC3E}">
        <p14:creationId xmlns:p14="http://schemas.microsoft.com/office/powerpoint/2010/main" val="1125286565"/>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 name="">
            <a:extLst xmlns:a="http://schemas.openxmlformats.org/drawingml/2006/main">
              <a:ext uri="{FF2B5EF4-FFF2-40B4-BE49-F238E27FC236}">
                <a16:creationId xmlns:a16="http://schemas.microsoft.com/office/drawing/2014/main" id="{01C581B2-4DCA-4554-8D5B-DFBABEF42623}"/>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Smoke CLI dev.6 : résultats par cas</a:t>
            </a:r>
          </a:p>
        </p:txBody>
      </p:sp>
      <p:sp>
        <p:nvSpPr>
          <p:cNvPr id="2" name="">
            <a:extLst xmlns:a="http://schemas.openxmlformats.org/drawingml/2006/main">
              <a:ext uri="{FF2B5EF4-FFF2-40B4-BE49-F238E27FC236}">
                <a16:creationId xmlns:a16="http://schemas.microsoft.com/office/drawing/2014/main" id="{52098BD2-4FD2-4E39-B160-0573C0172F02}"/>
              </a:ext>
            </a:extLst>
          </p:cNvPr>
          <p:cNvSpPr>
            <a:spLocks xmlns:a="http://schemas.openxmlformats.org/drawingml/2006/main" noGrp="1"/>
          </p:cNvSpPr>
          <p:nvPr/>
        </p:nvSpPr>
        <p:spPr>
          <a:xfrm xmlns:a="http://schemas.openxmlformats.org/drawingml/2006/main">
            <a:off x="723900" y="1504950"/>
            <a:ext cx="107442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Profil connecté, CLI 0.162.0-alpha.2. Modèle observé : gpt-6.1-sol.</a:t>
            </a:r>
          </a:p>
        </p:txBody>
      </p:sp>
      <p:graphicFrame>
        <p:nvGraphicFramePr>
          <p:cNvPr id="9" name="">
            <a:extLst xmlns:a="http://schemas.openxmlformats.org/drawingml/2006/main">
              <a:ext uri="{FF2B5EF4-FFF2-40B4-BE49-F238E27FC236}">
                <a16:creationId xmlns:a16="http://schemas.microsoft.com/office/drawing/2014/main" id="{CD549B5E-2CFB-48DF-9A9D-930C6A54A775}"/>
              </a:ext>
            </a:extLst>
          </p:cNvPr>
          <p:cNvGraphicFramePr/>
          <p:nvPr/>
        </p:nvGraphicFramePr>
        <p:xfrm>
          <a:off xmlns:a="http://schemas.openxmlformats.org/drawingml/2006/main" x="723900" y="2686050"/>
          <a:ext xmlns:a="http://schemas.openxmlformats.org/drawingml/2006/main" cx="10744200" cy="3048000"/>
        </p:xfrm>
        <a:graphic xmlns:a="http://schemas.openxmlformats.org/drawingml/2006/main">
          <a:graphicData uri="http://schemas.openxmlformats.org/drawingml/2006/table">
            <a:tbl>
              <a:tblPr/>
              <a:tblGrid>
                <a:gridCol w="3238500"/>
                <a:gridCol w="7505700"/>
              </a:tblGrid>
              <a:tr h="0">
                <a:tc>
                  <a:txBody>
                    <a:bodyPr/>
                    <a:lstStyle/>
                    <a:p>
                      <a:r>
                        <a:rPr sz="1800" b="1">
                          <a:solidFill>
                            <a:srgbClr val="FFFFFF"/>
                          </a:solidFill>
                          <a:latin typeface="Arial"/>
                          <a:ea typeface="Arial"/>
                          <a:cs typeface="Arial"/>
                        </a:rPr>
                        <a:t>Cas et conclusion</a:t>
                      </a:r>
                    </a:p>
                  </a:txBody>
                  <a:tcPr marL="152400" marR="152400" marT="57150" marB="57150">
                    <a:solidFill>
                      <a:srgbClr val="112B40"/>
                    </a:solidFill>
                  </a:tcPr>
                </a:tc>
                <a:tc>
                  <a:txBody>
                    <a:bodyPr/>
                    <a:lstStyle/>
                    <a:p>
                      <a:r>
                        <a:rPr sz="1800" b="1">
                          <a:solidFill>
                            <a:srgbClr val="FFFFFF"/>
                          </a:solidFill>
                          <a:latin typeface="Arial"/>
                          <a:ea typeface="Arial"/>
                          <a:cs typeface="Arial"/>
                        </a:rPr>
                        <a:t>Preuve et limite</a:t>
                      </a:r>
                    </a:p>
                  </a:txBody>
                  <a:tcPr marL="152400" marR="152400" marT="57150" marB="57150">
                    <a:solidFill>
                      <a:srgbClr val="112B40"/>
                    </a:solidFill>
                  </a:tcPr>
                </a:tc>
              </a:tr>
              <a:tr h="609600">
                <a:tc>
                  <a:txBody>
                    <a:bodyPr/>
                    <a:lstStyle/>
                    <a:p>
                      <a:r>
                        <a:rPr sz="1800">
                          <a:solidFill>
                            <a:srgbClr val="1B3547"/>
                          </a:solidFill>
                          <a:latin typeface="Arial"/>
                          <a:ea typeface="Arial"/>
                          <a:cs typeface="Arial"/>
                        </a:rPr>
                        <a:t>01 Technique, usage DSI vérifié</a:t>
                      </a:r>
                    </a:p>
                  </a:txBody>
                  <a:tcPr marL="152400" marR="152400" marT="57150" marB="57150"/>
                </a:tc>
                <a:tc>
                  <a:txBody>
                    <a:bodyPr/>
                    <a:lstStyle/>
                    <a:p>
                      <a:r>
                        <a:rPr sz="1800">
                          <a:solidFill>
                            <a:srgbClr val="1B3547"/>
                          </a:solidFill>
                          <a:latin typeface="Arial"/>
                          <a:ea typeface="Arial"/>
                          <a:cs typeface="Arial"/>
                        </a:rPr>
                        <a:t>DSI complet injecté, cadrage conforme. Lectures bloquées</a:t>
                      </a:r>
                    </a:p>
                  </a:txBody>
                  <a:tcPr marL="152400" marR="152400" marT="57150" marB="57150"/>
                </a:tc>
              </a:tr>
              <a:tr h="609600">
                <a:tc>
                  <a:txBody>
                    <a:bodyPr/>
                    <a:lstStyle/>
                    <a:p>
                      <a:r>
                        <a:rPr sz="1800">
                          <a:solidFill>
                            <a:srgbClr val="1B3547"/>
                          </a:solidFill>
                          <a:latin typeface="Arial"/>
                          <a:ea typeface="Arial"/>
                          <a:cs typeface="Arial"/>
                        </a:rPr>
                        <a:t>02 Budget, bloqué</a:t>
                      </a:r>
                    </a:p>
                  </a:txBody>
                  <a:tcPr marL="152400" marR="152400" marT="57150" marB="57150"/>
                </a:tc>
                <a:tc>
                  <a:txBody>
                    <a:bodyPr/>
                    <a:lstStyle/>
                    <a:p>
                      <a:r>
                        <a:rPr sz="1800">
                          <a:solidFill>
                            <a:srgbClr val="1B3547"/>
                          </a:solidFill>
                          <a:latin typeface="Arial"/>
                          <a:ea typeface="Arial"/>
                          <a:cs typeface="Arial"/>
                        </a:rPr>
                        <a:t>DSI/DirFi sélectionnés, chargement non établi</a:t>
                      </a:r>
                    </a:p>
                  </a:txBody>
                  <a:tcPr marL="152400" marR="152400" marT="57150" marB="57150"/>
                </a:tc>
              </a:tr>
              <a:tr h="609600">
                <a:tc>
                  <a:txBody>
                    <a:bodyPr/>
                    <a:lstStyle/>
                    <a:p>
                      <a:r>
                        <a:rPr sz="1800">
                          <a:solidFill>
                            <a:srgbClr val="1B3547"/>
                          </a:solidFill>
                          <a:latin typeface="Arial"/>
                          <a:ea typeface="Arial"/>
                          <a:cs typeface="Arial"/>
                        </a:rPr>
                        <a:t>03 Réouverture, partiel</a:t>
                      </a:r>
                    </a:p>
                  </a:txBody>
                  <a:tcPr marL="152400" marR="152400" marT="57150" marB="57150"/>
                </a:tc>
                <a:tc>
                  <a:txBody>
                    <a:bodyPr/>
                    <a:lstStyle/>
                    <a:p>
                      <a:r>
                        <a:rPr sz="1800">
                          <a:solidFill>
                            <a:srgbClr val="1B3547"/>
                          </a:solidFill>
                          <a:latin typeface="Arial"/>
                          <a:ea typeface="Arial"/>
                          <a:cs typeface="Arial"/>
                        </a:rPr>
                        <a:t>STOP premier. DSI injecté, DPO/juridique non chargés</a:t>
                      </a:r>
                    </a:p>
                  </a:txBody>
                  <a:tcPr marL="152400" marR="152400" marT="57150" marB="57150"/>
                </a:tc>
              </a:tr>
              <a:tr h="609600">
                <a:tc>
                  <a:txBody>
                    <a:bodyPr/>
                    <a:lstStyle/>
                    <a:p>
                      <a:r>
                        <a:rPr sz="1800">
                          <a:solidFill>
                            <a:srgbClr val="1B3547"/>
                          </a:solidFill>
                          <a:latin typeface="Arial"/>
                          <a:ea typeface="Arial"/>
                          <a:cs typeface="Arial"/>
                        </a:rPr>
                        <a:t>04 Réversibilité, partiel</a:t>
                      </a:r>
                    </a:p>
                  </a:txBody>
                  <a:tcPr marL="152400" marR="152400" marT="57150" marB="57150"/>
                </a:tc>
                <a:tc>
                  <a:txBody>
                    <a:bodyPr/>
                    <a:lstStyle/>
                    <a:p>
                      <a:r>
                        <a:rPr sz="1800">
                          <a:solidFill>
                            <a:srgbClr val="1B3547"/>
                          </a:solidFill>
                          <a:latin typeface="Arial"/>
                          <a:ea typeface="Arial"/>
                          <a:cs typeface="Arial"/>
                        </a:rPr>
                        <a:t>DSI injecté, abstention ciblée. Juridique non chargé</a:t>
                      </a:r>
                    </a:p>
                  </a:txBody>
                  <a:tcPr marL="152400" marR="152400" marT="57150" marB="57150"/>
                </a:tc>
              </a:tr>
            </a:tbl>
          </a:graphicData>
        </a:graphic>
      </p:graphicFrame>
      <p:sp>
        <p:nvSpPr>
          <p:cNvPr id="4" name="">
            <a:extLst xmlns:a="http://schemas.openxmlformats.org/drawingml/2006/main">
              <a:ext uri="{FF2B5EF4-FFF2-40B4-BE49-F238E27FC236}">
                <a16:creationId xmlns:a16="http://schemas.microsoft.com/office/drawing/2014/main" id="{05D3452A-E7A5-41C3-A5E5-533D7E5DAFC5}"/>
              </a:ext>
            </a:extLst>
          </p:cNvPr>
          <p:cNvSpPr>
            <a:spLocks xmlns:a="http://schemas.openxmlformats.org/drawingml/2006/main" noGrp="1"/>
          </p:cNvSpPr>
          <p:nvPr/>
        </p:nvSpPr>
        <p:spPr>
          <a:xfrm xmlns:a="http://schemas.openxmlformats.org/drawingml/2006/main">
            <a:off x="723900" y="6076950"/>
            <a:ext cx="107442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Lectures par outils bloquées. La coactivation et la qualification restent ouvertes.</a:t>
            </a:r>
          </a:p>
        </p:txBody>
      </p:sp>
    </p:spTree>
    <p:extLst>
      <p:ext uri="{BB962C8B-B14F-4D97-AF65-F5344CB8AC3E}">
        <p14:creationId xmlns:p14="http://schemas.microsoft.com/office/powerpoint/2010/main" val="1844535271"/>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DEA8E0EC-B8BF-4A24-BD69-4F3FD6B3CD97}"/>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Portée des preuves</a:t>
            </a:r>
          </a:p>
        </p:txBody>
      </p:sp>
      <p:sp>
        <p:nvSpPr>
          <p:cNvPr id="2" name="">
            <a:extLst xmlns:a="http://schemas.openxmlformats.org/drawingml/2006/main">
              <a:ext uri="{FF2B5EF4-FFF2-40B4-BE49-F238E27FC236}">
                <a16:creationId xmlns:a16="http://schemas.microsoft.com/office/drawing/2014/main" id="{7A9D555A-AE93-4CE6-B9DA-ABB8925D73B1}"/>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questions de campagne sont fictives. Aucun document opérationnel de collectivité n’a été fourni.</a:t>
            </a:r>
          </a:p>
        </p:txBody>
      </p:sp>
      <p:sp>
        <p:nvSpPr>
          <p:cNvPr id="3" name="">
            <a:extLst xmlns:a="http://schemas.openxmlformats.org/drawingml/2006/main">
              <a:ext uri="{FF2B5EF4-FFF2-40B4-BE49-F238E27FC236}">
                <a16:creationId xmlns:a16="http://schemas.microsoft.com/office/drawing/2014/main" id="{B8B36402-0895-43C3-852F-6CC2D845E9CE}"/>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La politique bloque les lectures. Le backend Windows paraît non configuré. La cause reste à démontrer.</a:t>
            </a:r>
          </a:p>
        </p:txBody>
      </p:sp>
      <p:sp>
        <p:nvSpPr>
          <p:cNvPr id="4" name="">
            <a:extLst xmlns:a="http://schemas.openxmlformats.org/drawingml/2006/main">
              <a:ext uri="{FF2B5EF4-FFF2-40B4-BE49-F238E27FC236}">
                <a16:creationId xmlns:a16="http://schemas.microsoft.com/office/drawing/2014/main" id="{20A0FF96-3299-4AC1-B225-0398D08A45CB}"/>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L’isolation de la découverte globale reste imparfaite. L’exposition effective MCP demeure inconnue.</a:t>
            </a:r>
          </a:p>
        </p:txBody>
      </p:sp>
      <p:sp>
        <p:nvSpPr>
          <p:cNvPr id="5" name="">
            <a:extLst xmlns:a="http://schemas.openxmlformats.org/drawingml/2006/main">
              <a:ext uri="{FF2B5EF4-FFF2-40B4-BE49-F238E27FC236}">
                <a16:creationId xmlns:a16="http://schemas.microsoft.com/office/drawing/2014/main" id="{F3BECB94-56B6-4A20-95F5-9D3859819595}"/>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Aucune qualification juridique ou humaine acquise. La campagne dev.7 et les revues DSI/RSSI restent ouvertes.</a:t>
            </a:r>
          </a:p>
        </p:txBody>
      </p:sp>
    </p:spTree>
    <p:extLst>
      <p:ext uri="{BB962C8B-B14F-4D97-AF65-F5344CB8AC3E}">
        <p14:creationId xmlns:p14="http://schemas.microsoft.com/office/powerpoint/2010/main" val="601372954"/>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12FC9737-9514-4257-8916-54FA92DE950F}"/>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Points soumis au DSI / RSSI</a:t>
            </a:r>
          </a:p>
        </p:txBody>
      </p:sp>
      <p:sp>
        <p:nvSpPr>
          <p:cNvPr id="2" name="">
            <a:extLst xmlns:a="http://schemas.openxmlformats.org/drawingml/2006/main">
              <a:ext uri="{FF2B5EF4-FFF2-40B4-BE49-F238E27FC236}">
                <a16:creationId xmlns:a16="http://schemas.microsoft.com/office/drawing/2014/main" id="{22714846-B704-4133-806D-5EEC31B68E20}"/>
              </a:ext>
            </a:extLst>
          </p:cNvPr>
          <p:cNvSpPr>
            <a:spLocks xmlns:a="http://schemas.openxmlformats.org/drawingml/2006/main" noGrp="1"/>
          </p:cNvSpPr>
          <p:nvPr/>
        </p:nvSpPr>
        <p:spPr>
          <a:xfrm xmlns:a="http://schemas.openxmlformats.org/drawingml/2006/main">
            <a:off x="723900" y="15621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branches et livrables correspondent-ils aux situations de votre collectivité et à son mode d’exploitation ?</a:t>
            </a:r>
          </a:p>
        </p:txBody>
      </p:sp>
      <p:sp>
        <p:nvSpPr>
          <p:cNvPr id="3" name="">
            <a:extLst xmlns:a="http://schemas.openxmlformats.org/drawingml/2006/main">
              <a:ext uri="{FF2B5EF4-FFF2-40B4-BE49-F238E27FC236}">
                <a16:creationId xmlns:a16="http://schemas.microsoft.com/office/drawing/2014/main" id="{36E6494C-EC37-41BB-9C78-9D68061916CD}"/>
              </a:ext>
            </a:extLst>
          </p:cNvPr>
          <p:cNvSpPr>
            <a:spLocks xmlns:a="http://schemas.openxmlformats.org/drawingml/2006/main" noGrp="1"/>
          </p:cNvSpPr>
          <p:nvPr/>
        </p:nvSpPr>
        <p:spPr>
          <a:xfrm xmlns:a="http://schemas.openxmlformats.org/drawingml/2006/main">
            <a:off x="723900" y="26289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responsabilités DSI, RSSI, DPO, RH et finances sont-elles attribuées aux bons interlocuteurs ?</a:t>
            </a:r>
          </a:p>
        </p:txBody>
      </p:sp>
      <p:sp>
        <p:nvSpPr>
          <p:cNvPr id="4" name="">
            <a:extLst xmlns:a="http://schemas.openxmlformats.org/drawingml/2006/main">
              <a:ext uri="{FF2B5EF4-FFF2-40B4-BE49-F238E27FC236}">
                <a16:creationId xmlns:a16="http://schemas.microsoft.com/office/drawing/2014/main" id="{7EDA6FE2-DC23-4AB4-9E22-9B697497C7F7}"/>
              </a:ext>
            </a:extLst>
          </p:cNvPr>
          <p:cNvSpPr>
            <a:spLocks xmlns:a="http://schemas.openxmlformats.org/drawingml/2006/main" noGrp="1"/>
          </p:cNvSpPr>
          <p:nvPr/>
        </p:nvSpPr>
        <p:spPr>
          <a:xfrm xmlns:a="http://schemas.openxmlformats.org/drawingml/2006/main">
            <a:off x="723900" y="36957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Les STOP, préservations de preuves et conditions de reprise sont-ils suffisamment opérationnels ?</a:t>
            </a:r>
          </a:p>
        </p:txBody>
      </p:sp>
      <p:sp>
        <p:nvSpPr>
          <p:cNvPr id="5" name="">
            <a:extLst xmlns:a="http://schemas.openxmlformats.org/drawingml/2006/main">
              <a:ext uri="{FF2B5EF4-FFF2-40B4-BE49-F238E27FC236}">
                <a16:creationId xmlns:a16="http://schemas.microsoft.com/office/drawing/2014/main" id="{FA064C68-B75F-4300-A244-BB86559C3AE3}"/>
              </a:ext>
            </a:extLst>
          </p:cNvPr>
          <p:cNvSpPr>
            <a:spLocks xmlns:a="http://schemas.openxmlformats.org/drawingml/2006/main" noGrp="1"/>
          </p:cNvSpPr>
          <p:nvPr/>
        </p:nvSpPr>
        <p:spPr>
          <a:xfrm xmlns:a="http://schemas.openxmlformats.org/drawingml/2006/main">
            <a:off x="723900" y="4762500"/>
            <a:ext cx="10706100" cy="895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2250" b="0">
                <a:solidFill>
                  <a:srgbClr val="1B3547"/>
                </a:solidFill>
                <a:latin typeface="Arial"/>
                <a:ea typeface="Arial"/>
                <a:cs typeface="Arial"/>
              </a:defRPr>
            </a:pPr>
            <a:r>
              <a:rPr sz="2250" b="0">
                <a:solidFill>
                  <a:srgbClr val="1B3547"/>
                </a:solidFill>
                <a:latin typeface="Arial"/>
                <a:ea typeface="Arial"/>
                <a:cs typeface="Arial"/>
              </a:rPr>
              <a:t>Quelles informations manque-t-il pour utiliser les fiches dans un dossier réel, sans données sensibles ?</a:t>
            </a:r>
          </a:p>
        </p:txBody>
      </p:sp>
    </p:spTree>
    <p:extLst>
      <p:ext uri="{BB962C8B-B14F-4D97-AF65-F5344CB8AC3E}">
        <p14:creationId xmlns:p14="http://schemas.microsoft.com/office/powerpoint/2010/main" val="1566513446"/>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 name="">
            <a:extLst xmlns:a="http://schemas.openxmlformats.org/drawingml/2006/main">
              <a:ext uri="{FF2B5EF4-FFF2-40B4-BE49-F238E27FC236}">
                <a16:creationId xmlns:a16="http://schemas.microsoft.com/office/drawing/2014/main" id="{C64CE54D-0B5C-450E-A077-D655834A9498}"/>
              </a:ext>
            </a:extLst>
          </p:cNvPr>
          <p:cNvSpPr>
            <a:spLocks xmlns:a="http://schemas.openxmlformats.org/drawingml/2006/main" noGrp="1"/>
          </p:cNvSpPr>
          <p:nvPr/>
        </p:nvSpPr>
        <p:spPr>
          <a:xfrm xmlns:a="http://schemas.openxmlformats.org/drawingml/2006/main">
            <a:off x="685800" y="438150"/>
            <a:ext cx="108204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3300" b="1">
                <a:solidFill>
                  <a:srgbClr val="112B40"/>
                </a:solidFill>
                <a:latin typeface="Arial"/>
                <a:ea typeface="Arial"/>
                <a:cs typeface="Arial"/>
              </a:defRPr>
            </a:pPr>
            <a:r>
              <a:rPr sz="3300" b="1">
                <a:solidFill>
                  <a:srgbClr val="112B40"/>
                </a:solidFill>
                <a:latin typeface="Arial"/>
                <a:ea typeface="Arial"/>
                <a:cs typeface="Arial"/>
              </a:rPr>
              <a:t>Conditions de poursuite</a:t>
            </a:r>
          </a:p>
        </p:txBody>
      </p:sp>
      <p:graphicFrame>
        <p:nvGraphicFramePr>
          <p:cNvPr id="7" name="">
            <a:extLst xmlns:a="http://schemas.openxmlformats.org/drawingml/2006/main">
              <a:ext uri="{FF2B5EF4-FFF2-40B4-BE49-F238E27FC236}">
                <a16:creationId xmlns:a16="http://schemas.microsoft.com/office/drawing/2014/main" id="{3A2D557C-2BF8-4A4E-B773-162CAF03FA9A}"/>
              </a:ext>
            </a:extLst>
          </p:cNvPr>
          <p:cNvGraphicFramePr/>
          <p:nvPr/>
        </p:nvGraphicFramePr>
        <p:xfrm>
          <a:off xmlns:a="http://schemas.openxmlformats.org/drawingml/2006/main" x="723900" y="1581150"/>
          <a:ext xmlns:a="http://schemas.openxmlformats.org/drawingml/2006/main" cx="10744200" cy="4171950"/>
        </p:xfrm>
        <a:graphic xmlns:a="http://schemas.openxmlformats.org/drawingml/2006/main">
          <a:graphicData uri="http://schemas.openxmlformats.org/drawingml/2006/table">
            <a:tbl>
              <a:tblPr/>
              <a:tblGrid>
                <a:gridCol w="4191000"/>
                <a:gridCol w="6553200"/>
              </a:tblGrid>
              <a:tr h="0">
                <a:tc>
                  <a:txBody>
                    <a:bodyPr/>
                    <a:lstStyle/>
                    <a:p>
                      <a:r>
                        <a:rPr sz="1800" b="1">
                          <a:solidFill>
                            <a:srgbClr val="FFFFFF"/>
                          </a:solidFill>
                          <a:latin typeface="Arial"/>
                          <a:ea typeface="Arial"/>
                          <a:cs typeface="Arial"/>
                        </a:rPr>
                        <a:t>Étape</a:t>
                      </a:r>
                    </a:p>
                  </a:txBody>
                  <a:tcPr marL="152400" marR="152400" marT="57150" marB="57150">
                    <a:solidFill>
                      <a:srgbClr val="112B40"/>
                    </a:solidFill>
                  </a:tcPr>
                </a:tc>
                <a:tc>
                  <a:txBody>
                    <a:bodyPr/>
                    <a:lstStyle/>
                    <a:p>
                      <a:r>
                        <a:rPr sz="1800" b="1">
                          <a:solidFill>
                            <a:srgbClr val="FFFFFF"/>
                          </a:solidFill>
                          <a:latin typeface="Arial"/>
                          <a:ea typeface="Arial"/>
                          <a:cs typeface="Arial"/>
                        </a:rPr>
                        <a:t>Preuve attendue</a:t>
                      </a:r>
                    </a:p>
                  </a:txBody>
                  <a:tcPr marL="152400" marR="152400" marT="57150" marB="57150">
                    <a:solidFill>
                      <a:srgbClr val="112B40"/>
                    </a:solidFill>
                  </a:tcPr>
                </a:tc>
              </a:tr>
              <a:tr h="695325">
                <a:tc>
                  <a:txBody>
                    <a:bodyPr/>
                    <a:lstStyle/>
                    <a:p>
                      <a:r>
                        <a:rPr sz="1800">
                          <a:solidFill>
                            <a:srgbClr val="1B3547"/>
                          </a:solidFill>
                          <a:latin typeface="Arial"/>
                          <a:ea typeface="Arial"/>
                          <a:cs typeface="Arial"/>
                        </a:rPr>
                        <a:t>Lecture locale</a:t>
                      </a:r>
                    </a:p>
                  </a:txBody>
                  <a:tcPr marL="152400" marR="152400" marT="57150" marB="57150"/>
                </a:tc>
                <a:tc>
                  <a:txBody>
                    <a:bodyPr/>
                    <a:lstStyle/>
                    <a:p>
                      <a:r>
                        <a:rPr sz="1800">
                          <a:solidFill>
                            <a:srgbClr val="1B3547"/>
                          </a:solidFill>
                          <a:latin typeface="Arial"/>
                          <a:ea typeface="Arial"/>
                          <a:cs typeface="Arial"/>
                        </a:rPr>
                        <a:t>Une commande de lecture autorisée et observable</a:t>
                      </a:r>
                    </a:p>
                  </a:txBody>
                  <a:tcPr marL="152400" marR="152400" marT="57150" marB="57150"/>
                </a:tc>
              </a:tr>
              <a:tr h="695325">
                <a:tc>
                  <a:txBody>
                    <a:bodyPr/>
                    <a:lstStyle/>
                    <a:p>
                      <a:r>
                        <a:rPr sz="1800">
                          <a:solidFill>
                            <a:srgbClr val="1B3547"/>
                          </a:solidFill>
                          <a:latin typeface="Arial"/>
                          <a:ea typeface="Arial"/>
                          <a:cs typeface="Arial"/>
                        </a:rPr>
                        <a:t>Campagne dev.7</a:t>
                      </a:r>
                    </a:p>
                  </a:txBody>
                  <a:tcPr marL="152400" marR="152400" marT="57150" marB="57150"/>
                </a:tc>
                <a:tc>
                  <a:txBody>
                    <a:bodyPr/>
                    <a:lstStyle/>
                    <a:p>
                      <a:r>
                        <a:rPr sz="1800">
                          <a:solidFill>
                            <a:srgbClr val="1B3547"/>
                          </a:solidFill>
                          <a:latin typeface="Arial"/>
                          <a:ea typeface="Arial"/>
                          <a:cs typeface="Arial"/>
                        </a:rPr>
                        <a:t>Nouvelle mesure sur le commit fb186b4 et son gel</a:t>
                      </a:r>
                    </a:p>
                  </a:txBody>
                  <a:tcPr marL="152400" marR="152400" marT="57150" marB="57150"/>
                </a:tc>
              </a:tr>
              <a:tr h="695325">
                <a:tc>
                  <a:txBody>
                    <a:bodyPr/>
                    <a:lstStyle/>
                    <a:p>
                      <a:r>
                        <a:rPr sz="1800">
                          <a:solidFill>
                            <a:srgbClr val="1B3547"/>
                          </a:solidFill>
                          <a:latin typeface="Arial"/>
                          <a:ea typeface="Arial"/>
                          <a:cs typeface="Arial"/>
                        </a:rPr>
                        <a:t>Revue praticien</a:t>
                      </a:r>
                    </a:p>
                  </a:txBody>
                  <a:tcPr marL="152400" marR="152400" marT="57150" marB="57150"/>
                </a:tc>
                <a:tc>
                  <a:txBody>
                    <a:bodyPr/>
                    <a:lstStyle/>
                    <a:p>
                      <a:r>
                        <a:rPr sz="1800">
                          <a:solidFill>
                            <a:srgbClr val="1B3547"/>
                          </a:solidFill>
                          <a:latin typeface="Arial"/>
                          <a:ea typeface="Arial"/>
                          <a:cs typeface="Arial"/>
                        </a:rPr>
                        <a:t>Avis DSI/RSSI sur les branches et livrables</a:t>
                      </a:r>
                    </a:p>
                  </a:txBody>
                  <a:tcPr marL="152400" marR="152400" marT="57150" marB="57150"/>
                </a:tc>
              </a:tr>
              <a:tr h="695325">
                <a:tc>
                  <a:txBody>
                    <a:bodyPr/>
                    <a:lstStyle/>
                    <a:p>
                      <a:r>
                        <a:rPr sz="1800">
                          <a:solidFill>
                            <a:srgbClr val="1B3547"/>
                          </a:solidFill>
                          <a:latin typeface="Arial"/>
                          <a:ea typeface="Arial"/>
                          <a:cs typeface="Arial"/>
                        </a:rPr>
                        <a:t>Revue juridique</a:t>
                      </a:r>
                    </a:p>
                  </a:txBody>
                  <a:tcPr marL="152400" marR="152400" marT="57150" marB="57150"/>
                </a:tc>
                <a:tc>
                  <a:txBody>
                    <a:bodyPr/>
                    <a:lstStyle/>
                    <a:p>
                      <a:r>
                        <a:rPr sz="1800">
                          <a:solidFill>
                            <a:srgbClr val="1B3547"/>
                          </a:solidFill>
                          <a:latin typeface="Arial"/>
                          <a:ea typeface="Arial"/>
                          <a:cs typeface="Arial"/>
                        </a:rPr>
                        <a:t>Contrôle des règles, sources et frontières de rôle</a:t>
                      </a:r>
                    </a:p>
                  </a:txBody>
                  <a:tcPr marL="152400" marR="152400" marT="57150" marB="57150"/>
                </a:tc>
              </a:tr>
              <a:tr h="695325">
                <a:tc>
                  <a:txBody>
                    <a:bodyPr/>
                    <a:lstStyle/>
                    <a:p>
                      <a:r>
                        <a:rPr sz="1800">
                          <a:solidFill>
                            <a:srgbClr val="1B3547"/>
                          </a:solidFill>
                          <a:latin typeface="Arial"/>
                          <a:ea typeface="Arial"/>
                          <a:cs typeface="Arial"/>
                        </a:rPr>
                        <a:t>Distribution</a:t>
                      </a:r>
                    </a:p>
                  </a:txBody>
                  <a:tcPr marL="152400" marR="152400" marT="57150" marB="57150"/>
                </a:tc>
                <a:tc>
                  <a:txBody>
                    <a:bodyPr/>
                    <a:lstStyle/>
                    <a:p>
                      <a:r>
                        <a:rPr sz="1800">
                          <a:solidFill>
                            <a:srgbClr val="1B3547"/>
                          </a:solidFill>
                          <a:latin typeface="Arial"/>
                          <a:ea typeface="Arial"/>
                          <a:cs typeface="Arial"/>
                        </a:rPr>
                        <a:t>Smoke du candidat et décision humaine de publication</a:t>
                      </a:r>
                    </a:p>
                  </a:txBody>
                  <a:tcPr marL="152400" marR="152400" marT="57150" marB="57150"/>
                </a:tc>
              </a:tr>
            </a:tbl>
          </a:graphicData>
        </a:graphic>
      </p:graphicFrame>
      <p:sp>
        <p:nvSpPr>
          <p:cNvPr id="3" name="">
            <a:extLst xmlns:a="http://schemas.openxmlformats.org/drawingml/2006/main">
              <a:ext uri="{FF2B5EF4-FFF2-40B4-BE49-F238E27FC236}">
                <a16:creationId xmlns:a16="http://schemas.microsoft.com/office/drawing/2014/main" id="{CFB0F410-1D5E-4051-9320-84D15FE3BC5B}"/>
              </a:ext>
            </a:extLst>
          </p:cNvPr>
          <p:cNvSpPr>
            <a:spLocks xmlns:a="http://schemas.openxmlformats.org/drawingml/2006/main" noGrp="1"/>
          </p:cNvSpPr>
          <p:nvPr/>
        </p:nvSpPr>
        <p:spPr>
          <a:xfrm xmlns:a="http://schemas.openxmlformats.org/drawingml/2006/main">
            <a:off x="723900" y="6000750"/>
            <a:ext cx="107442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buNone/>
              <a:defRPr sz="1800" b="0">
                <a:solidFill>
                  <a:srgbClr val="526774"/>
                </a:solidFill>
                <a:latin typeface="Arial"/>
                <a:ea typeface="Arial"/>
                <a:cs typeface="Arial"/>
              </a:defRPr>
            </a:pPr>
            <a:r>
              <a:rPr sz="1800" b="0">
                <a:solidFill>
                  <a:srgbClr val="526774"/>
                </a:solidFill>
                <a:latin typeface="Arial"/>
                <a:ea typeface="Arial"/>
                <a:cs typeface="Arial"/>
              </a:rPr>
              <a:t>Lecture sandbox à rétablir avant la campagne dev.7. Aucune installation automatique.</a:t>
            </a:r>
          </a:p>
        </p:txBody>
      </p:sp>
    </p:spTree>
    <p:extLst>
      <p:ext uri="{BB962C8B-B14F-4D97-AF65-F5344CB8AC3E}">
        <p14:creationId xmlns:p14="http://schemas.microsoft.com/office/powerpoint/2010/main" val="70974199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2026-10-08T10:43:06.5140000Z</dcterms:created>
  <dcterms:modified xsi:type="dcterms:W3CDTF">2026-10-08T10:43:06.5140000Z</dcterms:modified>
</coreProperties>
</file>