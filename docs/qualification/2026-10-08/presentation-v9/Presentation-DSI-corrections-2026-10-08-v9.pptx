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066ce6c838454c" /><Relationship Type="http://schemas.openxmlformats.org/officeDocument/2006/relationships/extended-properties" Target="/docProps/app.xml" Id="Ree63ad5c8d40471d" /><Relationship Type="http://schemas.openxmlformats.org/officeDocument/2006/relationships/officeDocument" Target="/ppt/presentation.xml" Id="Rb334169bc7b9431d" /></Relationships>
</file>

<file path=ppt/presentation.xml><?xml version="1.0" encoding="utf-8"?>
<p:presentation xmlns:p="http://schemas.openxmlformats.org/presentationml/2006/main">
  <p:sldMasterIdLst>
    <p:sldMasterId xmlns:r="http://schemas.openxmlformats.org/officeDocument/2006/relationships" id="2147483648" r:id="R26da091a87594a7f"/>
  </p:sldMasterIdLst>
  <p:notesMasterIdLst>
    <p:notesMasterId xmlns:r="http://schemas.openxmlformats.org/officeDocument/2006/relationships" r:id="R0ebbf67ea1a5420c"/>
  </p:notesMasterIdLst>
  <p:sldIdLst>
    <p:sldId xmlns:r="http://schemas.openxmlformats.org/officeDocument/2006/relationships" id="256" r:id="R00d5e84710cf4d66"/>
    <p:sldId xmlns:r="http://schemas.openxmlformats.org/officeDocument/2006/relationships" id="257" r:id="Rdf77204019924746"/>
    <p:sldId xmlns:r="http://schemas.openxmlformats.org/officeDocument/2006/relationships" id="258" r:id="Rdcacec0e54ad49a2"/>
    <p:sldId xmlns:r="http://schemas.openxmlformats.org/officeDocument/2006/relationships" id="259" r:id="R0395a7ba04ec4253"/>
    <p:sldId xmlns:r="http://schemas.openxmlformats.org/officeDocument/2006/relationships" id="260" r:id="Re777220521824a56"/>
    <p:sldId xmlns:r="http://schemas.openxmlformats.org/officeDocument/2006/relationships" id="261" r:id="Ra4751a1461194be9"/>
    <p:sldId xmlns:r="http://schemas.openxmlformats.org/officeDocument/2006/relationships" id="262" r:id="R6f757b54b5934531"/>
    <p:sldId xmlns:r="http://schemas.openxmlformats.org/officeDocument/2006/relationships" id="263" r:id="R55471f86d98d4d7e"/>
    <p:sldId xmlns:r="http://schemas.openxmlformats.org/officeDocument/2006/relationships" id="264" r:id="R180d5cca0e3c43cf"/>
    <p:sldId xmlns:r="http://schemas.openxmlformats.org/officeDocument/2006/relationships" id="265" r:id="Re07663cf604642d3"/>
    <p:sldId xmlns:r="http://schemas.openxmlformats.org/officeDocument/2006/relationships" id="266" r:id="R1627957354bb44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fe9b6f7e9e470e" /><Relationship Type="http://schemas.openxmlformats.org/officeDocument/2006/relationships/slideMaster" Target="/ppt/slideMasters/slideMaster1.xml" Id="R26da091a87594a7f" /><Relationship Type="http://schemas.openxmlformats.org/officeDocument/2006/relationships/notesMaster" Target="/ppt/notesMasters/notesMaster1.xml" Id="R0ebbf67ea1a5420c" /><Relationship Type="http://schemas.openxmlformats.org/officeDocument/2006/relationships/presProps" Target="/ppt/presProps.xml" Id="R4956f16497d14653" /><Relationship Type="http://schemas.openxmlformats.org/officeDocument/2006/relationships/tableStyles" Target="/ppt/tableStyles.xml" Id="R5cabf277bbc14e1d" /><Relationship Type="http://schemas.openxmlformats.org/officeDocument/2006/relationships/slide" Target="/ppt/slides/slide1.xml" Id="R00d5e84710cf4d66" /><Relationship Type="http://schemas.openxmlformats.org/officeDocument/2006/relationships/slide" Target="/ppt/slides/slide2.xml" Id="Rdf77204019924746" /><Relationship Type="http://schemas.openxmlformats.org/officeDocument/2006/relationships/slide" Target="/ppt/slides/slide3.xml" Id="Rdcacec0e54ad49a2" /><Relationship Type="http://schemas.openxmlformats.org/officeDocument/2006/relationships/slide" Target="/ppt/slides/slide4.xml" Id="R0395a7ba04ec4253" /><Relationship Type="http://schemas.openxmlformats.org/officeDocument/2006/relationships/slide" Target="/ppt/slides/slide5.xml" Id="Re777220521824a56" /><Relationship Type="http://schemas.openxmlformats.org/officeDocument/2006/relationships/slide" Target="/ppt/slides/slide6.xml" Id="Ra4751a1461194be9" /><Relationship Type="http://schemas.openxmlformats.org/officeDocument/2006/relationships/slide" Target="/ppt/slides/slide7.xml" Id="R6f757b54b5934531" /><Relationship Type="http://schemas.openxmlformats.org/officeDocument/2006/relationships/slide" Target="/ppt/slides/slide8.xml" Id="R55471f86d98d4d7e" /><Relationship Type="http://schemas.openxmlformats.org/officeDocument/2006/relationships/slide" Target="/ppt/slides/slide9.xml" Id="R180d5cca0e3c43cf" /><Relationship Type="http://schemas.openxmlformats.org/officeDocument/2006/relationships/slide" Target="/ppt/slides/slide10.xml" Id="Re07663cf604642d3" /><Relationship Type="http://schemas.openxmlformats.org/officeDocument/2006/relationships/slide" Target="/ppt/slides/slide11.xml" Id="R1627957354bb44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8f1f015b8d48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6666b2dbc846c3" /><Relationship Type="http://schemas.openxmlformats.org/officeDocument/2006/relationships/notesMaster" Target="/ppt/notesMasters/notesMaster1.xml" Id="R0db9c43ddd6949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9c2f6bd65c45b0" /><Relationship Type="http://schemas.openxmlformats.org/officeDocument/2006/relationships/notesMaster" Target="/ppt/notesMasters/notesMaster1.xml" Id="R09cf5dcfc49940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b23f5eaae74e86" /><Relationship Type="http://schemas.openxmlformats.org/officeDocument/2006/relationships/notesMaster" Target="/ppt/notesMasters/notesMaster1.xml" Id="Rf1867af8ad6a43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5a075e3af64136" /><Relationship Type="http://schemas.openxmlformats.org/officeDocument/2006/relationships/notesMaster" Target="/ppt/notesMasters/notesMaster1.xml" Id="Rb40e5a7a0f8f42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c4d44e62504fdc" /><Relationship Type="http://schemas.openxmlformats.org/officeDocument/2006/relationships/notesMaster" Target="/ppt/notesMasters/notesMaster1.xml" Id="Rd6689bff5f7241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5ffa1f7fc34cb0" /><Relationship Type="http://schemas.openxmlformats.org/officeDocument/2006/relationships/notesMaster" Target="/ppt/notesMasters/notesMaster1.xml" Id="R0d657c412c834a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4965bbaed94665" /><Relationship Type="http://schemas.openxmlformats.org/officeDocument/2006/relationships/notesMaster" Target="/ppt/notesMasters/notesMaster1.xml" Id="R5436d3fb33e34f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97ba2adf514718" /><Relationship Type="http://schemas.openxmlformats.org/officeDocument/2006/relationships/notesMaster" Target="/ppt/notesMasters/notesMaster1.xml" Id="Rbf2a67fb534e46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00b9cdd3ed4195" /><Relationship Type="http://schemas.openxmlformats.org/officeDocument/2006/relationships/notesMaster" Target="/ppt/notesMasters/notesMaster1.xml" Id="Rb1f5738e214344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acc2b5441c42f4" /><Relationship Type="http://schemas.openxmlformats.org/officeDocument/2006/relationships/notesMaster" Target="/ppt/notesMasters/notesMaster1.xml" Id="R3868703d35f44c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ce76e9dab7417f" /><Relationship Type="http://schemas.openxmlformats.org/officeDocument/2006/relationships/notesMaster" Target="/ppt/notesMasters/notesMaster1.xml" Id="R5f5a595969f141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ad4b1258d49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e344685ffe4bb8" /><Relationship Type="http://schemas.openxmlformats.org/officeDocument/2006/relationships/slideLayout" Target="/ppt/slideLayouts/slideLayout1.xml" Id="R0f32cd9576284a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32cd9576284a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0eaa4c636a446a" /><Relationship Type="http://schemas.openxmlformats.org/officeDocument/2006/relationships/notesSlide" Target="/ppt/notesSlides/notesSlide1.xml" Id="Rdadac73ac69a4a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0afdec2cc2481c" /><Relationship Type="http://schemas.openxmlformats.org/officeDocument/2006/relationships/notesSlide" Target="/ppt/notesSlides/notesSlide2.xml" Id="R178022ecce4846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d66c1635534a81" /><Relationship Type="http://schemas.openxmlformats.org/officeDocument/2006/relationships/notesSlide" Target="/ppt/notesSlides/notesSlide3.xml" Id="Rfa87d70e2b614f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1f4d46df9042a7" /><Relationship Type="http://schemas.openxmlformats.org/officeDocument/2006/relationships/chart" Target="/ppt/slides/charts/chart1.xml" Id="R2d9a1033ab9d4a4d" /><Relationship Type="http://schemas.openxmlformats.org/officeDocument/2006/relationships/notesSlide" Target="/ppt/notesSlides/notesSlide4.xml" Id="R32c0ad1b965e49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7bc3a897384707" /><Relationship Type="http://schemas.openxmlformats.org/officeDocument/2006/relationships/notesSlide" Target="/ppt/notesSlides/notesSlide5.xml" Id="R1d8ec27818ab40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e11e07eefc4a6f" /><Relationship Type="http://schemas.openxmlformats.org/officeDocument/2006/relationships/notesSlide" Target="/ppt/notesSlides/notesSlide6.xml" Id="R7c2583fa8fd844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8890763fea4f42" /><Relationship Type="http://schemas.openxmlformats.org/officeDocument/2006/relationships/notesSlide" Target="/ppt/notesSlides/notesSlide7.xml" Id="Rc092d58010e5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88fd6af3304404" /><Relationship Type="http://schemas.openxmlformats.org/officeDocument/2006/relationships/notesSlide" Target="/ppt/notesSlides/notesSlide8.xml" Id="Rcc79fb89fc5341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2db215584d4348" /><Relationship Type="http://schemas.openxmlformats.org/officeDocument/2006/relationships/notesSlide" Target="/ppt/notesSlides/notesSlide9.xml" Id="R6bd967ee3a264d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73255d4006413f" /><Relationship Type="http://schemas.openxmlformats.org/officeDocument/2006/relationships/notesSlide" Target="/ppt/notesSlides/notesSlide10.xml" Id="Rfc6b4e07383d45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d933e821ca4ca3" /><Relationship Type="http://schemas.openxmlformats.org/officeDocument/2006/relationships/notesSlide" Target="/ppt/notesSlides/notesSlide11.xml" Id="R622d8748b6d545d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ns1="http://schemas.openxmlformats.org/drawingml/2006/main" xmlns:ns2="http://schemas.openxmlformats.org/officeDocument/2006/relationships">
  <c:lang val="en-US"/>
  <c:chart>
    <c:plotArea>
      <c:barChart>
        <c:barDir val="bar"/>
        <c:grouping val="clustered"/>
        <c:varyColors val="0"/>
        <c:ser>
          <c:idx val="0"/>
          <c:order val="0"/>
          <c:tx>
            <c:v>Nombre de cas</c:v>
          </c:tx>
          <c:spPr>
            <ns1:solidFill>
              <ns1:srgbClr val="176E78"/>
            </ns1:solidFill>
          </c:spPr>
          <c:cat>
            <c:strRef>
              <c:f>'Chart Data'!$A$2:$A$4</c:f>
              <c:strCache>
                <c:ptCount val="3"/>
                <c:pt idx="0">
                  <c:v>Réussite</c:v>
                </c:pt>
                <c:pt idx="1">
                  <c:v>Demi-réussite</c:v>
                </c:pt>
                <c:pt idx="2">
                  <c:v>Échec</c:v>
                </c:pt>
              </c:strCache>
            </c:strRef>
          </c:cat>
          <c:val>
            <c:numRef>
              <c:f>'Chart Data'!$B$2:$B$4</c:f>
              <c:numCache>
                <c:formatCode>0</c:formatCode>
                <c:ptCount val="3"/>
                <c:pt idx="0">
                  <c:v>28</c:v>
                </c:pt>
                <c:pt idx="1">
                  <c:v>0</c:v>
                </c:pt>
                <c:pt idx="2">
                  <c:v>0</c:v>
                </c:pt>
              </c:numCache>
            </c:numRef>
          </c:val>
        </c:ser>
        <c:dLbls>
          <c:txPr>
            <ns1:bodyPr anchorCtr="1"/>
            <ns1:lstStyle/>
            <ns1:p>
              <ns1:pPr>
                <ns1:defRPr sz="1950" b="1">
                  <ns1:latin typeface="Arial"/>
                  <ns1:ea typeface="Arial"/>
                  <ns1:cs typeface="Arial"/>
                </ns1:defRPr>
              </ns1:pPr>
            </ns1: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72768"/>
      </c:catAx>
      <c:valAx>
        <c:axId val="48672768"/>
        <c:scaling>
          <c:orientation val="minMax"/>
        </c:scaling>
        <c:delete val="0"/>
        <c:axPos val="b"/>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50112"/>
        <c:crossBetween val="between"/>
      </c:valAx>
      <c:spPr>
        <ns1:solidFill>
          <ns1:srgbClr val="FFFFFF"/>
        </ns1:solidFill>
      </c:spPr>
    </c:plotArea>
    <c:plotVisOnly val="1"/>
  </c:chart>
  <c:spPr>
    <ns1:solidFill>
      <ns1:srgbClr val="FFFFFF"/>
    </ns1:solidFill>
  </c:spPr>
  <c:externalData ns2:id="rIdChartSnapshot1">
    <c:autoUpdate val="0"/>
  </c:externalData>
</c:chartSpace>
</file>

<file path=ppt/slides/slide1.xml><?xml version="1.0" encoding="utf-8"?>
<p:sld xmlns:p="http://schemas.openxmlformats.org/presentationml/2006/main">
  <p:cSld>
    <p:bg>
      <p:bgPr>
        <a:solidFill xmlns:a="http://schemas.openxmlformats.org/drawingml/2006/main">
          <a:srgbClr val="11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AE9A2-FD8D-4068-9CC7-A8065370D4B8}"/>
              </a:ext>
            </a:extLst>
          </p:cNvPr>
          <p:cNvSpPr>
            <a:spLocks xmlns:a="http://schemas.openxmlformats.org/drawingml/2006/main" noGrp="1"/>
          </p:cNvSpPr>
          <p:nvPr/>
        </p:nvSpPr>
        <p:spPr>
          <a:xfrm xmlns:a="http://schemas.openxmlformats.org/drawingml/2006/main">
            <a:off x="762000" y="1666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DSI-fpt</a:t>
            </a:r>
          </a:p>
        </p:txBody>
      </p:sp>
      <p:sp>
        <p:nvSpPr>
          <p:cNvPr id="2" name="">
            <a:extLst xmlns:a="http://schemas.openxmlformats.org/drawingml/2006/main">
              <a:ext uri="{FF2B5EF4-FFF2-40B4-BE49-F238E27FC236}">
                <a16:creationId xmlns:a16="http://schemas.microsoft.com/office/drawing/2014/main" id="{52E18696-105B-4E85-89D4-02A7447F66AB}"/>
              </a:ext>
            </a:extLst>
          </p:cNvPr>
          <p:cNvSpPr>
            <a:spLocks xmlns:a="http://schemas.openxmlformats.org/drawingml/2006/main" noGrp="1"/>
          </p:cNvSpPr>
          <p:nvPr/>
        </p:nvSpPr>
        <p:spPr>
          <a:xfrm xmlns:a="http://schemas.openxmlformats.org/drawingml/2006/main">
            <a:off x="781050" y="2857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FFFFFF"/>
                </a:solidFill>
                <a:latin typeface="Arial"/>
                <a:ea typeface="Arial"/>
                <a:cs typeface="Arial"/>
              </a:defRPr>
            </a:pPr>
            <a:r>
              <a:rPr sz="3150" b="0">
                <a:solidFill>
                  <a:srgbClr val="FFFFFF"/>
                </a:solidFill>
                <a:latin typeface="Arial"/>
                <a:ea typeface="Arial"/>
                <a:cs typeface="Arial"/>
              </a:rPr>
              <a:t>Corrections et contrôles de coactivation</a:t>
            </a:r>
          </a:p>
        </p:txBody>
      </p:sp>
      <p:sp>
        <p:nvSpPr>
          <p:cNvPr id="3" name="">
            <a:extLst xmlns:a="http://schemas.openxmlformats.org/drawingml/2006/main">
              <a:ext uri="{FF2B5EF4-FFF2-40B4-BE49-F238E27FC236}">
                <a16:creationId xmlns:a16="http://schemas.microsoft.com/office/drawing/2014/main" id="{61F76213-5DDE-4572-8074-8655BEC366C5}"/>
              </a:ext>
            </a:extLst>
          </p:cNvPr>
          <p:cNvSpPr>
            <a:spLocks xmlns:a="http://schemas.openxmlformats.org/drawingml/2006/main" noGrp="1"/>
          </p:cNvSpPr>
          <p:nvPr/>
        </p:nvSpPr>
        <p:spPr>
          <a:xfrm xmlns:a="http://schemas.openxmlformats.org/drawingml/2006/main">
            <a:off x="781050" y="41338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C5D9E2"/>
                </a:solidFill>
                <a:latin typeface="Arial"/>
                <a:ea typeface="Arial"/>
                <a:cs typeface="Arial"/>
              </a:defRPr>
            </a:pPr>
            <a:r>
              <a:rPr sz="2100" b="0">
                <a:solidFill>
                  <a:srgbClr val="C5D9E2"/>
                </a:solidFill>
                <a:latin typeface="Arial"/>
                <a:ea typeface="Arial"/>
                <a:cs typeface="Arial"/>
              </a:rPr>
              <a:t>Collectivités territoriales, 8 octobre 2026</a:t>
            </a:r>
          </a:p>
        </p:txBody>
      </p:sp>
      <p:sp>
        <p:nvSpPr>
          <p:cNvPr id="4" name="">
            <a:extLst xmlns:a="http://schemas.openxmlformats.org/drawingml/2006/main">
              <a:ext uri="{FF2B5EF4-FFF2-40B4-BE49-F238E27FC236}">
                <a16:creationId xmlns:a16="http://schemas.microsoft.com/office/drawing/2014/main" id="{D111A41C-64C3-41CC-BECE-5430C3EF9C72}"/>
              </a:ext>
            </a:extLst>
          </p:cNvPr>
          <p:cNvSpPr>
            <a:spLocks xmlns:a="http://schemas.openxmlformats.org/drawingml/2006/main" noGrp="1"/>
          </p:cNvSpPr>
          <p:nvPr/>
        </p:nvSpPr>
        <p:spPr>
          <a:xfrm xmlns:a="http://schemas.openxmlformats.org/drawingml/2006/main">
            <a:off x="781050" y="48387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EFD49D"/>
                </a:solidFill>
                <a:latin typeface="Arial"/>
                <a:ea typeface="Arial"/>
                <a:cs typeface="Arial"/>
              </a:defRPr>
            </a:pPr>
            <a:r>
              <a:rPr sz="2250" b="0">
                <a:solidFill>
                  <a:srgbClr val="EFD49D"/>
                </a:solidFill>
                <a:latin typeface="Arial"/>
                <a:ea typeface="Arial"/>
                <a:cs typeface="Arial"/>
              </a:rPr>
              <a:t>Dev.7 : trois cas jugés, qualification ouverte</a:t>
            </a:r>
          </a:p>
        </p:txBody>
      </p:sp>
    </p:spTree>
    <p:extLst>
      <p:ext uri="{BB962C8B-B14F-4D97-AF65-F5344CB8AC3E}">
        <p14:creationId xmlns:p14="http://schemas.microsoft.com/office/powerpoint/2010/main" val="547210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3BAA5E-D97C-4490-A32F-EF74A5730741}"/>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Périmètre de la fonction SI</a:t>
            </a:r>
          </a:p>
        </p:txBody>
      </p:sp>
      <p:sp>
        <p:nvSpPr>
          <p:cNvPr id="2" name="">
            <a:extLst xmlns:a="http://schemas.openxmlformats.org/drawingml/2006/main">
              <a:ext uri="{FF2B5EF4-FFF2-40B4-BE49-F238E27FC236}">
                <a16:creationId xmlns:a16="http://schemas.microsoft.com/office/drawing/2014/main" id="{A9652F18-BC94-4C06-9782-A26605F095FD}"/>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Cadrer le besoin et les responsabilités, en informatique interne, mutualisée ou externalisée.</a:t>
            </a:r>
          </a:p>
        </p:txBody>
      </p:sp>
      <p:sp>
        <p:nvSpPr>
          <p:cNvPr id="3" name="">
            <a:extLst xmlns:a="http://schemas.openxmlformats.org/drawingml/2006/main">
              <a:ext uri="{FF2B5EF4-FFF2-40B4-BE49-F238E27FC236}">
                <a16:creationId xmlns:a16="http://schemas.microsoft.com/office/drawing/2014/main" id="{271EBF96-3B98-40E3-BB6F-CA276EAD4526}"/>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Gouvernance, sécurité, continuité, infrastructures, hébergement et applications métiers.</a:t>
            </a:r>
          </a:p>
        </p:txBody>
      </p:sp>
      <p:sp>
        <p:nvSpPr>
          <p:cNvPr id="4" name="">
            <a:extLst xmlns:a="http://schemas.openxmlformats.org/drawingml/2006/main">
              <a:ext uri="{FF2B5EF4-FFF2-40B4-BE49-F238E27FC236}">
                <a16:creationId xmlns:a16="http://schemas.microsoft.com/office/drawing/2014/main" id="{77911F68-FB50-4030-81CF-456B68985563}"/>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Téléservices, accessibilité, IA, exécution des contrats et réversibilité technique.</a:t>
            </a:r>
          </a:p>
        </p:txBody>
      </p:sp>
      <p:sp>
        <p:nvSpPr>
          <p:cNvPr id="5" name="">
            <a:extLst xmlns:a="http://schemas.openxmlformats.org/drawingml/2006/main">
              <a:ext uri="{FF2B5EF4-FFF2-40B4-BE49-F238E27FC236}">
                <a16:creationId xmlns:a16="http://schemas.microsoft.com/office/drawing/2014/main" id="{4FF599E0-D0C9-49E8-A3E6-20FBEF54B697}"/>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Livrables : fiche projet, rapport d’incident, cahier des charges technique, charte et note d’homologation.</a:t>
            </a:r>
          </a:p>
        </p:txBody>
      </p:sp>
    </p:spTree>
    <p:extLst>
      <p:ext uri="{BB962C8B-B14F-4D97-AF65-F5344CB8AC3E}">
        <p14:creationId xmlns:p14="http://schemas.microsoft.com/office/powerpoint/2010/main" val="11086350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234660A-3F44-4C11-B82A-1E57E495414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Responsabilités partagées</a:t>
            </a:r>
          </a:p>
        </p:txBody>
      </p:sp>
      <p:graphicFrame>
        <p:nvGraphicFramePr>
          <p:cNvPr id="6" name="">
            <a:extLst xmlns:a="http://schemas.openxmlformats.org/drawingml/2006/main">
              <a:ext uri="{FF2B5EF4-FFF2-40B4-BE49-F238E27FC236}">
                <a16:creationId xmlns:a16="http://schemas.microsoft.com/office/drawing/2014/main" id="{DC99EB54-C832-4613-852E-14152E8191AC}"/>
              </a:ext>
            </a:extLst>
          </p:cNvPr>
          <p:cNvGraphicFramePr/>
          <p:nvPr/>
        </p:nvGraphicFramePr>
        <p:xfrm>
          <a:off xmlns:a="http://schemas.openxmlformats.org/drawingml/2006/main" x="723900" y="1581150"/>
          <a:ext xmlns:a="http://schemas.openxmlformats.org/drawingml/2006/main" cx="10744200" cy="4286250"/>
        </p:xfrm>
        <a:graphic xmlns:a="http://schemas.openxmlformats.org/drawingml/2006/main">
          <a:graphicData uri="http://schemas.openxmlformats.org/drawingml/2006/table">
            <a:tbl>
              <a:tblPr/>
              <a:tblGrid>
                <a:gridCol w="3333750"/>
                <a:gridCol w="7410450"/>
              </a:tblGrid>
              <a:tr h="0">
                <a:tc>
                  <a:txBody>
                    <a:bodyPr/>
                    <a:lstStyle/>
                    <a:p>
                      <a:r>
                        <a:rPr sz="1800" b="1">
                          <a:solidFill>
                            <a:srgbClr val="FFFFFF"/>
                          </a:solidFill>
                          <a:latin typeface="Arial"/>
                          <a:ea typeface="Arial"/>
                          <a:cs typeface="Arial"/>
                        </a:rPr>
                        <a:t>Rôle</a:t>
                      </a:r>
                    </a:p>
                  </a:txBody>
                  <a:tcPr marL="152400" marR="152400" marT="57150" marB="57150">
                    <a:solidFill>
                      <a:srgbClr val="112B40"/>
                    </a:solidFill>
                  </a:tcPr>
                </a:tc>
                <a:tc>
                  <a:txBody>
                    <a:bodyPr/>
                    <a:lstStyle/>
                    <a:p>
                      <a:r>
                        <a:rPr sz="1800" b="1">
                          <a:solidFill>
                            <a:srgbClr val="FFFFFF"/>
                          </a:solidFill>
                          <a:latin typeface="Arial"/>
                          <a:ea typeface="Arial"/>
                          <a:cs typeface="Arial"/>
                        </a:rPr>
                        <a:t>Volet à instruire</a:t>
                      </a:r>
                    </a:p>
                  </a:txBody>
                  <a:tcPr marL="152400" marR="152400" marT="57150" marB="57150">
                    <a:solidFill>
                      <a:srgbClr val="112B40"/>
                    </a:solidFill>
                  </a:tcPr>
                </a:tc>
              </a:tr>
              <a:tr h="612321">
                <a:tc>
                  <a:txBody>
                    <a:bodyPr/>
                    <a:lstStyle/>
                    <a:p>
                      <a:r>
                        <a:rPr sz="1800">
                          <a:solidFill>
                            <a:srgbClr val="1B3547"/>
                          </a:solidFill>
                          <a:latin typeface="Arial"/>
                          <a:ea typeface="Arial"/>
                          <a:cs typeface="Arial"/>
                        </a:rPr>
                        <a:t>DSI / RSSI</a:t>
                      </a:r>
                    </a:p>
                  </a:txBody>
                  <a:tcPr marL="152400" marR="152400" marT="57150" marB="57150"/>
                </a:tc>
                <a:tc>
                  <a:txBody>
                    <a:bodyPr/>
                    <a:lstStyle/>
                    <a:p>
                      <a:r>
                        <a:rPr sz="1800">
                          <a:solidFill>
                            <a:srgbClr val="1B3547"/>
                          </a:solidFill>
                          <a:latin typeface="Arial"/>
                          <a:ea typeface="Arial"/>
                          <a:cs typeface="Arial"/>
                        </a:rPr>
                        <a:t>Besoins, mesures techniques et continuité</a:t>
                      </a:r>
                    </a:p>
                  </a:txBody>
                  <a:tcPr marL="152400" marR="152400" marT="57150" marB="57150"/>
                </a:tc>
              </a:tr>
              <a:tr h="612321">
                <a:tc>
                  <a:txBody>
                    <a:bodyPr/>
                    <a:lstStyle/>
                    <a:p>
                      <a:r>
                        <a:rPr sz="1800">
                          <a:solidFill>
                            <a:srgbClr val="1B3547"/>
                          </a:solidFill>
                          <a:latin typeface="Arial"/>
                          <a:ea typeface="Arial"/>
                          <a:cs typeface="Arial"/>
                        </a:rPr>
                        <a:t>DPO</a:t>
                      </a:r>
                    </a:p>
                  </a:txBody>
                  <a:tcPr marL="152400" marR="152400" marT="57150" marB="57150"/>
                </a:tc>
                <a:tc>
                  <a:txBody>
                    <a:bodyPr/>
                    <a:lstStyle/>
                    <a:p>
                      <a:r>
                        <a:rPr sz="1800">
                          <a:solidFill>
                            <a:srgbClr val="1B3547"/>
                          </a:solidFill>
                          <a:latin typeface="Arial"/>
                          <a:ea typeface="Arial"/>
                          <a:cs typeface="Arial"/>
                        </a:rPr>
                        <a:t>Qualification RGPD et risques pour les personnes</a:t>
                      </a:r>
                    </a:p>
                  </a:txBody>
                  <a:tcPr marL="152400" marR="152400" marT="57150" marB="57150"/>
                </a:tc>
              </a:tr>
              <a:tr h="612321">
                <a:tc>
                  <a:txBody>
                    <a:bodyPr/>
                    <a:lstStyle/>
                    <a:p>
                      <a:r>
                        <a:rPr sz="1800">
                          <a:solidFill>
                            <a:srgbClr val="1B3547"/>
                          </a:solidFill>
                          <a:latin typeface="Arial"/>
                          <a:ea typeface="Arial"/>
                          <a:cs typeface="Arial"/>
                        </a:rPr>
                        <a:t>DRH</a:t>
                      </a:r>
                    </a:p>
                  </a:txBody>
                  <a:tcPr marL="152400" marR="152400" marT="57150" marB="57150"/>
                </a:tc>
                <a:tc>
                  <a:txBody>
                    <a:bodyPr/>
                    <a:lstStyle/>
                    <a:p>
                      <a:r>
                        <a:rPr sz="1800">
                          <a:solidFill>
                            <a:srgbClr val="1B3547"/>
                          </a:solidFill>
                          <a:latin typeface="Arial"/>
                          <a:ea typeface="Arial"/>
                          <a:cs typeface="Arial"/>
                        </a:rPr>
                        <a:t>Fonctions et conséquences statutaires</a:t>
                      </a:r>
                    </a:p>
                  </a:txBody>
                  <a:tcPr marL="152400" marR="152400" marT="57150" marB="57150"/>
                </a:tc>
              </a:tr>
              <a:tr h="612321">
                <a:tc>
                  <a:txBody>
                    <a:bodyPr/>
                    <a:lstStyle/>
                    <a:p>
                      <a:r>
                        <a:rPr sz="1800">
                          <a:solidFill>
                            <a:srgbClr val="1B3547"/>
                          </a:solidFill>
                          <a:latin typeface="Arial"/>
                          <a:ea typeface="Arial"/>
                          <a:cs typeface="Arial"/>
                        </a:rPr>
                        <a:t>Police municipale</a:t>
                      </a:r>
                    </a:p>
                  </a:txBody>
                  <a:tcPr marL="152400" marR="152400" marT="57150" marB="57150"/>
                </a:tc>
                <a:tc>
                  <a:txBody>
                    <a:bodyPr/>
                    <a:lstStyle/>
                    <a:p>
                      <a:r>
                        <a:rPr sz="1800">
                          <a:solidFill>
                            <a:srgbClr val="1B3547"/>
                          </a:solidFill>
                          <a:latin typeface="Arial"/>
                          <a:ea typeface="Arial"/>
                          <a:cs typeface="Arial"/>
                        </a:rPr>
                        <a:t>Doctrine et autorisations de vidéoprotection</a:t>
                      </a:r>
                    </a:p>
                  </a:txBody>
                  <a:tcPr marL="152400" marR="152400" marT="57150" marB="57150"/>
                </a:tc>
              </a:tr>
              <a:tr h="612321">
                <a:tc>
                  <a:txBody>
                    <a:bodyPr/>
                    <a:lstStyle/>
                    <a:p>
                      <a:r>
                        <a:rPr sz="1800">
                          <a:solidFill>
                            <a:srgbClr val="1B3547"/>
                          </a:solidFill>
                          <a:latin typeface="Arial"/>
                          <a:ea typeface="Arial"/>
                          <a:cs typeface="Arial"/>
                        </a:rPr>
                        <a:t>Direction des finances</a:t>
                      </a:r>
                    </a:p>
                  </a:txBody>
                  <a:tcPr marL="152400" marR="152400" marT="57150" marB="57150"/>
                </a:tc>
                <a:tc>
                  <a:txBody>
                    <a:bodyPr/>
                    <a:lstStyle/>
                    <a:p>
                      <a:r>
                        <a:rPr sz="1800">
                          <a:solidFill>
                            <a:srgbClr val="1B3547"/>
                          </a:solidFill>
                          <a:latin typeface="Arial"/>
                          <a:ea typeface="Arial"/>
                          <a:cs typeface="Arial"/>
                        </a:rPr>
                        <a:t>Arbitrage et qualification budgétaire</a:t>
                      </a:r>
                    </a:p>
                  </a:txBody>
                  <a:tcPr marL="152400" marR="152400" marT="57150" marB="57150"/>
                </a:tc>
              </a:tr>
              <a:tr h="612321">
                <a:tc>
                  <a:txBody>
                    <a:bodyPr/>
                    <a:lstStyle/>
                    <a:p>
                      <a:r>
                        <a:rPr sz="1800">
                          <a:solidFill>
                            <a:srgbClr val="1B3547"/>
                          </a:solidFill>
                          <a:latin typeface="Arial"/>
                          <a:ea typeface="Arial"/>
                          <a:cs typeface="Arial"/>
                        </a:rPr>
                        <a:t>Recherche juridique</a:t>
                      </a:r>
                    </a:p>
                  </a:txBody>
                  <a:tcPr marL="152400" marR="152400" marT="57150" marB="57150"/>
                </a:tc>
                <a:tc>
                  <a:txBody>
                    <a:bodyPr/>
                    <a:lstStyle/>
                    <a:p>
                      <a:r>
                        <a:rPr sz="1800">
                          <a:solidFill>
                            <a:srgbClr val="1B3547"/>
                          </a:solidFill>
                          <a:latin typeface="Arial"/>
                          <a:ea typeface="Arial"/>
                          <a:cs typeface="Arial"/>
                        </a:rPr>
                        <a:t>Sources officielles, vigueur et applicabilité</a:t>
                      </a:r>
                    </a:p>
                  </a:txBody>
                  <a:tcPr marL="152400" marR="152400" marT="57150" marB="57150"/>
                </a:tc>
              </a:tr>
            </a:tbl>
          </a:graphicData>
        </a:graphic>
      </p:graphicFrame>
    </p:spTree>
    <p:extLst>
      <p:ext uri="{BB962C8B-B14F-4D97-AF65-F5344CB8AC3E}">
        <p14:creationId xmlns:p14="http://schemas.microsoft.com/office/powerpoint/2010/main" val="1537567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D8F674-999F-4999-83B3-0E5947F1175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Mesure DSI autonome</a:t>
            </a:r>
          </a:p>
        </p:txBody>
      </p:sp>
      <p:graphicFrame>
        <p:nvGraphicFramePr>
          <p:cNvPr id="8" name="Chart">
            <a:extLst xmlns:a="http://schemas.openxmlformats.org/drawingml/2006/main">
              <a:ext uri="{FF2B5EF4-FFF2-40B4-BE49-F238E27FC236}">
                <a16:creationId xmlns:a16="http://schemas.microsoft.com/office/drawing/2014/main" id="{2C95749E-6620-4FD2-84E2-043AE99C649D}"/>
              </a:ext>
            </a:extLst>
          </p:cNvPr>
          <p:cNvGraphicFramePr/>
          <p:nvPr/>
        </p:nvGraphicFramePr>
        <p:xfrm>
          <a:off xmlns:a="http://schemas.openxmlformats.org/drawingml/2006/main" x="781050" y="1657350"/>
          <a:ext xmlns:a="http://schemas.openxmlformats.org/drawingml/2006/main" cx="7143750" cy="3562350"/>
        </p:xfrm>
        <a:graphic xmlns:a="http://schemas.openxmlformats.org/drawingml/2006/main">
          <a:graphicData uri="http://schemas.openxmlformats.org/drawingml/2006/chart">
            <c:chart xmlns:r="http://schemas.openxmlformats.org/officeDocument/2006/relationships" xmlns:c="http://schemas.openxmlformats.org/drawingml/2006/chart" r:id="R2d9a1033ab9d4a4d"/>
          </a:graphicData>
        </a:graphic>
      </p:graphicFrame>
      <p:sp>
        <p:nvSpPr>
          <p:cNvPr id="3" name="">
            <a:extLst xmlns:a="http://schemas.openxmlformats.org/drawingml/2006/main">
              <a:ext uri="{FF2B5EF4-FFF2-40B4-BE49-F238E27FC236}">
                <a16:creationId xmlns:a16="http://schemas.microsoft.com/office/drawing/2014/main" id="{E2E9B84F-7DD2-4215-9CAC-9A3C2642F736}"/>
              </a:ext>
            </a:extLst>
          </p:cNvPr>
          <p:cNvSpPr>
            <a:spLocks xmlns:a="http://schemas.openxmlformats.org/drawingml/2006/main" noGrp="1"/>
          </p:cNvSpPr>
          <p:nvPr/>
        </p:nvSpPr>
        <p:spPr>
          <a:xfrm xmlns:a="http://schemas.openxmlformats.org/drawingml/2006/main">
            <a:off x="8420100" y="2047875"/>
            <a:ext cx="2971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28 cas réussis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56 rôles retenus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8 critiques réussis</a:t>
            </a:r>
          </a:p>
        </p:txBody>
      </p:sp>
      <p:sp>
        <p:nvSpPr>
          <p:cNvPr id="4" name="">
            <a:extLst xmlns:a="http://schemas.openxmlformats.org/drawingml/2006/main">
              <a:ext uri="{FF2B5EF4-FFF2-40B4-BE49-F238E27FC236}">
                <a16:creationId xmlns:a16="http://schemas.microsoft.com/office/drawing/2014/main" id="{5CBE5592-5ABA-4FCB-8EF8-00A786871C4E}"/>
              </a:ext>
            </a:extLst>
          </p:cNvPr>
          <p:cNvSpPr>
            <a:spLocks xmlns:a="http://schemas.openxmlformats.org/drawingml/2006/main" noGrp="1"/>
          </p:cNvSpPr>
          <p:nvPr/>
        </p:nvSpPr>
        <p:spPr>
          <a:xfrm xmlns:a="http://schemas.openxmlformats.org/drawingml/2006/main">
            <a:off x="781050" y="55911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B3547"/>
                </a:solidFill>
                <a:latin typeface="Arial"/>
                <a:ea typeface="Arial"/>
                <a:cs typeface="Arial"/>
              </a:defRPr>
            </a:pPr>
            <a:r>
              <a:rPr sz="2100" b="0">
                <a:solidFill>
                  <a:srgbClr val="1B3547"/>
                </a:solidFill>
                <a:latin typeface="Arial"/>
                <a:ea typeface="Arial"/>
                <a:cs typeface="Arial"/>
              </a:rPr>
              <a:t>Source 704e5dd mesurée. Revue DSI/RSSI et qualification du plugin encore ouvertes.</a:t>
            </a:r>
          </a:p>
        </p:txBody>
      </p:sp>
    </p:spTree>
    <p:extLst>
      <p:ext uri="{BB962C8B-B14F-4D97-AF65-F5344CB8AC3E}">
        <p14:creationId xmlns:p14="http://schemas.microsoft.com/office/powerpoint/2010/main" val="1812962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CAAC88-D6DB-46D8-8174-F2B9AE31B97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Corrections de la mesure autonome</a:t>
            </a:r>
          </a:p>
        </p:txBody>
      </p:sp>
      <p:sp>
        <p:nvSpPr>
          <p:cNvPr id="2" name="">
            <a:extLst xmlns:a="http://schemas.openxmlformats.org/drawingml/2006/main">
              <a:ext uri="{FF2B5EF4-FFF2-40B4-BE49-F238E27FC236}">
                <a16:creationId xmlns:a16="http://schemas.microsoft.com/office/drawing/2014/main" id="{45996A96-FC70-4787-99B4-3A26BBA30C6D}"/>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10 — réversibilité contractuelle</a:t>
            </a:r>
          </a:p>
        </p:txBody>
      </p:sp>
      <p:sp>
        <p:nvSpPr>
          <p:cNvPr id="3" name="">
            <a:extLst xmlns:a="http://schemas.openxmlformats.org/drawingml/2006/main">
              <a:ext uri="{FF2B5EF4-FFF2-40B4-BE49-F238E27FC236}">
                <a16:creationId xmlns:a16="http://schemas.microsoft.com/office/drawing/2014/main" id="{970E3549-BBE8-4DF3-A822-1D6F0ED6DCF6}"/>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Bascule vers le rôle compétent et abstention sans source. Le cas 10 réussit sur le candidat corrigé.</a:t>
            </a:r>
          </a:p>
        </p:txBody>
      </p:sp>
      <p:sp>
        <p:nvSpPr>
          <p:cNvPr id="4" name="">
            <a:extLst xmlns:a="http://schemas.openxmlformats.org/drawingml/2006/main">
              <a:ext uri="{FF2B5EF4-FFF2-40B4-BE49-F238E27FC236}">
                <a16:creationId xmlns:a16="http://schemas.microsoft.com/office/drawing/2014/main" id="{B35CFCBE-7FEA-4806-92FB-90424BC4F87B}"/>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14 — clôture d’un incident ancien</a:t>
            </a:r>
          </a:p>
        </p:txBody>
      </p:sp>
      <p:sp>
        <p:nvSpPr>
          <p:cNvPr id="5" name="">
            <a:extLst xmlns:a="http://schemas.openxmlformats.org/drawingml/2006/main">
              <a:ext uri="{FF2B5EF4-FFF2-40B4-BE49-F238E27FC236}">
                <a16:creationId xmlns:a16="http://schemas.microsoft.com/office/drawing/2014/main" id="{B1F85975-C1A3-4508-973D-AD0A05584EDF}"/>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Clôture de l’objet ancien, puis réouverture si un nouvel indice la contredit. Le cas 14 réussit.</a:t>
            </a:r>
          </a:p>
        </p:txBody>
      </p:sp>
      <p:sp>
        <p:nvSpPr>
          <p:cNvPr id="6" name="">
            <a:extLst xmlns:a="http://schemas.openxmlformats.org/drawingml/2006/main">
              <a:ext uri="{FF2B5EF4-FFF2-40B4-BE49-F238E27FC236}">
                <a16:creationId xmlns:a16="http://schemas.microsoft.com/office/drawing/2014/main" id="{3B2FA573-B096-49C1-AF03-DE15317C7E66}"/>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Les anciennes mesures restent conservées. Le cache est exclu du paquet autonome.</a:t>
            </a:r>
          </a:p>
        </p:txBody>
      </p:sp>
    </p:spTree>
    <p:extLst>
      <p:ext uri="{BB962C8B-B14F-4D97-AF65-F5344CB8AC3E}">
        <p14:creationId xmlns:p14="http://schemas.microsoft.com/office/powerpoint/2010/main" val="1263332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C7C5E4-4424-414A-8DF8-6BD50B0D280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Coactivation du candidat à six skills</a:t>
            </a:r>
          </a:p>
        </p:txBody>
      </p:sp>
      <p:graphicFrame>
        <p:nvGraphicFramePr>
          <p:cNvPr id="7" name="">
            <a:extLst xmlns:a="http://schemas.openxmlformats.org/drawingml/2006/main">
              <a:ext uri="{FF2B5EF4-FFF2-40B4-BE49-F238E27FC236}">
                <a16:creationId xmlns:a16="http://schemas.microsoft.com/office/drawing/2014/main" id="{7E0298AF-B30E-40A3-BA01-13A863AD6056}"/>
              </a:ext>
            </a:extLst>
          </p:cNvPr>
          <p:cNvGraphicFramePr/>
          <p:nvPr/>
        </p:nvGraphicFramePr>
        <p:xfrm>
          <a:off xmlns:a="http://schemas.openxmlformats.org/drawingml/2006/main" x="723900" y="1581150"/>
          <a:ext xmlns:a="http://schemas.openxmlformats.org/drawingml/2006/main" cx="10744200" cy="4191000"/>
        </p:xfrm>
        <a:graphic xmlns:a="http://schemas.openxmlformats.org/drawingml/2006/main">
          <a:graphicData uri="http://schemas.openxmlformats.org/drawingml/2006/table">
            <a:tbl>
              <a:tblPr/>
              <a:tblGrid>
                <a:gridCol w="4667250"/>
                <a:gridCol w="6076950"/>
              </a:tblGrid>
              <a:tr h="0">
                <a:tc>
                  <a:txBody>
                    <a:bodyPr/>
                    <a:lstStyle/>
                    <a:p>
                      <a:r>
                        <a:rPr sz="1800" b="1">
                          <a:solidFill>
                            <a:srgbClr val="FFFFFF"/>
                          </a:solidFill>
                          <a:latin typeface="Arial"/>
                          <a:ea typeface="Arial"/>
                          <a:cs typeface="Arial"/>
                        </a:rPr>
                        <a:t>Contrôle</a:t>
                      </a:r>
                    </a:p>
                  </a:txBody>
                  <a:tcPr marL="152400" marR="152400" marT="57150" marB="57150">
                    <a:solidFill>
                      <a:srgbClr val="112B40"/>
                    </a:solidFill>
                  </a:tcPr>
                </a:tc>
                <a:tc>
                  <a:txBody>
                    <a:bodyPr/>
                    <a:lstStyle/>
                    <a:p>
                      <a:r>
                        <a:rPr sz="1800" b="1">
                          <a:solidFill>
                            <a:srgbClr val="FFFFFF"/>
                          </a:solidFill>
                          <a:latin typeface="Arial"/>
                          <a:ea typeface="Arial"/>
                          <a:cs typeface="Arial"/>
                        </a:rPr>
                        <a:t>État et portée</a:t>
                      </a:r>
                    </a:p>
                  </a:txBody>
                  <a:tcPr marL="152400" marR="152400" marT="57150" marB="57150">
                    <a:solidFill>
                      <a:srgbClr val="112B40"/>
                    </a:solidFill>
                  </a:tcPr>
                </a:tc>
              </a:tr>
              <a:tr h="698500">
                <a:tc>
                  <a:txBody>
                    <a:bodyPr/>
                    <a:lstStyle/>
                    <a:p>
                      <a:r>
                        <a:rPr sz="1800">
                          <a:solidFill>
                            <a:srgbClr val="1B3547"/>
                          </a:solidFill>
                          <a:latin typeface="Arial"/>
                          <a:ea typeface="Arial"/>
                          <a:cs typeface="Arial"/>
                        </a:rPr>
                        <a:t>Composition</a:t>
                      </a:r>
                    </a:p>
                  </a:txBody>
                  <a:tcPr marL="152400" marR="152400" marT="57150" marB="57150"/>
                </a:tc>
                <a:tc>
                  <a:txBody>
                    <a:bodyPr/>
                    <a:lstStyle/>
                    <a:p>
                      <a:r>
                        <a:rPr sz="1800">
                          <a:solidFill>
                            <a:srgbClr val="1B3547"/>
                          </a:solidFill>
                          <a:latin typeface="Arial"/>
                          <a:ea typeface="Arial"/>
                          <a:cs typeface="Arial"/>
                        </a:rPr>
                        <a:t>Six skills, 166 fichiers runtime</a:t>
                      </a:r>
                    </a:p>
                  </a:txBody>
                  <a:tcPr marL="152400" marR="152400" marT="57150" marB="57150"/>
                </a:tc>
              </a:tr>
              <a:tr h="698500">
                <a:tc>
                  <a:txBody>
                    <a:bodyPr/>
                    <a:lstStyle/>
                    <a:p>
                      <a:r>
                        <a:rPr sz="1800">
                          <a:solidFill>
                            <a:srgbClr val="1B3547"/>
                          </a:solidFill>
                          <a:latin typeface="Arial"/>
                          <a:ea typeface="Arial"/>
                          <a:cs typeface="Arial"/>
                        </a:rPr>
                        <a:t>Dev.5 historique</a:t>
                      </a:r>
                    </a:p>
                  </a:txBody>
                  <a:tcPr marL="152400" marR="152400" marT="57150" marB="57150"/>
                </a:tc>
                <a:tc>
                  <a:txBody>
                    <a:bodyPr/>
                    <a:lstStyle/>
                    <a:p>
                      <a:r>
                        <a:rPr sz="1800">
                          <a:solidFill>
                            <a:srgbClr val="1B3547"/>
                          </a:solidFill>
                          <a:latin typeface="Arial"/>
                          <a:ea typeface="Arial"/>
                          <a:cs typeface="Arial"/>
                        </a:rPr>
                        <a:t>16 cas : 4 réussites, 6 échecs, 6 bloqués</a:t>
                      </a:r>
                    </a:p>
                  </a:txBody>
                  <a:tcPr marL="152400" marR="152400" marT="57150" marB="57150"/>
                </a:tc>
              </a:tr>
              <a:tr h="698500">
                <a:tc>
                  <a:txBody>
                    <a:bodyPr/>
                    <a:lstStyle/>
                    <a:p>
                      <a:r>
                        <a:rPr sz="1800">
                          <a:solidFill>
                            <a:srgbClr val="1B3547"/>
                          </a:solidFill>
                          <a:latin typeface="Arial"/>
                          <a:ea typeface="Arial"/>
                          <a:cs typeface="Arial"/>
                        </a:rPr>
                        <a:t>Dev.6, pilote partiel</a:t>
                      </a:r>
                    </a:p>
                  </a:txBody>
                  <a:tcPr marL="152400" marR="152400" marT="57150" marB="57150"/>
                </a:tc>
                <a:tc>
                  <a:txBody>
                    <a:bodyPr/>
                    <a:lstStyle/>
                    <a:p>
                      <a:r>
                        <a:rPr sz="1800">
                          <a:solidFill>
                            <a:srgbClr val="1B3547"/>
                          </a:solidFill>
                          <a:latin typeface="Arial"/>
                          <a:ea typeface="Arial"/>
                          <a:cs typeface="Arial"/>
                        </a:rPr>
                        <a:t>5 cas jugés : 1 réussite, 1 échec, 3 bloqués</a:t>
                      </a:r>
                    </a:p>
                  </a:txBody>
                  <a:tcPr marL="152400" marR="152400" marT="57150" marB="57150"/>
                </a:tc>
              </a:tr>
              <a:tr h="698500">
                <a:tc>
                  <a:txBody>
                    <a:bodyPr/>
                    <a:lstStyle/>
                    <a:p>
                      <a:r>
                        <a:rPr sz="1800">
                          <a:solidFill>
                            <a:srgbClr val="1B3547"/>
                          </a:solidFill>
                          <a:latin typeface="Arial"/>
                          <a:ea typeface="Arial"/>
                          <a:cs typeface="Arial"/>
                        </a:rPr>
                        <a:t>Dev.6, smoke CLI</a:t>
                      </a:r>
                    </a:p>
                  </a:txBody>
                  <a:tcPr marL="152400" marR="152400" marT="57150" marB="57150"/>
                </a:tc>
                <a:tc>
                  <a:txBody>
                    <a:bodyPr/>
                    <a:lstStyle/>
                    <a:p>
                      <a:r>
                        <a:rPr sz="1800">
                          <a:solidFill>
                            <a:srgbClr val="1B3547"/>
                          </a:solidFill>
                          <a:latin typeface="Arial"/>
                          <a:ea typeface="Arial"/>
                          <a:cs typeface="Arial"/>
                        </a:rPr>
                        <a:t>4 sessions, DSI vérifié / bloqué / partiel / partiel</a:t>
                      </a:r>
                    </a:p>
                  </a:txBody>
                  <a:tcPr marL="152400" marR="152400" marT="57150" marB="57150"/>
                </a:tc>
              </a:tr>
              <a:tr h="698500">
                <a:tc>
                  <a:txBody>
                    <a:bodyPr/>
                    <a:lstStyle/>
                    <a:p>
                      <a:r>
                        <a:rPr sz="1800">
                          <a:solidFill>
                            <a:srgbClr val="1B3547"/>
                          </a:solidFill>
                          <a:latin typeface="Arial"/>
                          <a:ea typeface="Arial"/>
                          <a:cs typeface="Arial"/>
                        </a:rPr>
                        <a:t>Dev.7, candidat courant</a:t>
                      </a:r>
                    </a:p>
                  </a:txBody>
                  <a:tcPr marL="152400" marR="152400" marT="57150" marB="57150"/>
                </a:tc>
                <a:tc>
                  <a:txBody>
                    <a:bodyPr/>
                    <a:lstStyle/>
                    <a:p>
                      <a:r>
                        <a:rPr sz="1800">
                          <a:solidFill>
                            <a:srgbClr val="1B3547"/>
                          </a:solidFill>
                          <a:latin typeface="Arial"/>
                          <a:ea typeface="Arial"/>
                          <a:cs typeface="Arial"/>
                        </a:rPr>
                        <a:t>3 cas jugés : 2 réussites, 1 échec ; 23 critères</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78A8F169-3F06-4801-AC22-2B9BBBCADB1F}"/>
              </a:ext>
            </a:extLst>
          </p:cNvPr>
          <p:cNvSpPr>
            <a:spLocks xmlns:a="http://schemas.openxmlformats.org/drawingml/2006/main" noGrp="1"/>
          </p:cNvSpPr>
          <p:nvPr/>
        </p:nvSpPr>
        <p:spPr>
          <a:xfrm xmlns:a="http://schemas.openxmlformats.org/drawingml/2006/main">
            <a:off x="723900" y="60388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Dev.7 : 3 cas exécutés sur 16. Treize cas bloqués avant exécution. Revues ouvertes.</a:t>
            </a:r>
          </a:p>
        </p:txBody>
      </p:sp>
    </p:spTree>
    <p:extLst>
      <p:ext uri="{BB962C8B-B14F-4D97-AF65-F5344CB8AC3E}">
        <p14:creationId xmlns:p14="http://schemas.microsoft.com/office/powerpoint/2010/main" val="15214036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A96D43-3917-4C44-93DD-C1EFD655B1B2}"/>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STOP : correction et qualification ouverte</a:t>
            </a:r>
          </a:p>
        </p:txBody>
      </p:sp>
      <p:sp>
        <p:nvSpPr>
          <p:cNvPr id="2" name="">
            <a:extLst xmlns:a="http://schemas.openxmlformats.org/drawingml/2006/main">
              <a:ext uri="{FF2B5EF4-FFF2-40B4-BE49-F238E27FC236}">
                <a16:creationId xmlns:a16="http://schemas.microsoft.com/office/drawing/2014/main" id="{A0C4E5CE-1E0B-4656-83EF-C079199ABA61}"/>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Pilote dev.6 par fichiers</a:t>
            </a:r>
          </a:p>
        </p:txBody>
      </p:sp>
      <p:sp>
        <p:nvSpPr>
          <p:cNvPr id="3" name="">
            <a:extLst xmlns:a="http://schemas.openxmlformats.org/drawingml/2006/main">
              <a:ext uri="{FF2B5EF4-FFF2-40B4-BE49-F238E27FC236}">
                <a16:creationId xmlns:a16="http://schemas.microsoft.com/office/drawing/2014/main" id="{C7FE9D25-9E0A-4BCB-B869-5A7E726802B9}"/>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Une annonce précède le STOP du cas réouverture. L’échec historique reste acquis, même avec un STOP en tête de réponse finale.</a:t>
            </a:r>
          </a:p>
        </p:txBody>
      </p:sp>
      <p:sp>
        <p:nvSpPr>
          <p:cNvPr id="4" name="">
            <a:extLst xmlns:a="http://schemas.openxmlformats.org/drawingml/2006/main">
              <a:ext uri="{FF2B5EF4-FFF2-40B4-BE49-F238E27FC236}">
                <a16:creationId xmlns:a16="http://schemas.microsoft.com/office/drawing/2014/main" id="{CC714B17-9DB8-4F00-BBA6-6AC9C2AD5246}"/>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Correctif dev.7 à qualifier sur réouverture</a:t>
            </a:r>
          </a:p>
        </p:txBody>
      </p:sp>
      <p:sp>
        <p:nvSpPr>
          <p:cNvPr id="5" name="">
            <a:extLst xmlns:a="http://schemas.openxmlformats.org/drawingml/2006/main">
              <a:ext uri="{FF2B5EF4-FFF2-40B4-BE49-F238E27FC236}">
                <a16:creationId xmlns:a16="http://schemas.microsoft.com/office/drawing/2014/main" id="{2FCD77AB-3960-42D0-9E6B-49AA771BD0D6}"/>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Dev.7 exige le STOP au premier commentaire avant outils. Les trois cas exécutés ne couvrent pas la réouverture critique.</a:t>
            </a:r>
          </a:p>
        </p:txBody>
      </p:sp>
      <p:sp>
        <p:nvSpPr>
          <p:cNvPr id="6" name="">
            <a:extLst xmlns:a="http://schemas.openxmlformats.org/drawingml/2006/main">
              <a:ext uri="{FF2B5EF4-FFF2-40B4-BE49-F238E27FC236}">
                <a16:creationId xmlns:a16="http://schemas.microsoft.com/office/drawing/2014/main" id="{4BAFE0F8-5372-4B8B-8DF6-B30B95B106BC}"/>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Dev.7 fb186b4 : 213 fichiers gelés, dont 166 runtime. Aucun score transféré.</a:t>
            </a:r>
          </a:p>
        </p:txBody>
      </p:sp>
    </p:spTree>
    <p:extLst>
      <p:ext uri="{BB962C8B-B14F-4D97-AF65-F5344CB8AC3E}">
        <p14:creationId xmlns:p14="http://schemas.microsoft.com/office/powerpoint/2010/main" val="11252865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C581B2-4DCA-4554-8D5B-DFBABEF4262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Dev.7 : trois cas et leurs limites</a:t>
            </a:r>
          </a:p>
        </p:txBody>
      </p:sp>
      <p:sp>
        <p:nvSpPr>
          <p:cNvPr id="2" name="">
            <a:extLst xmlns:a="http://schemas.openxmlformats.org/drawingml/2006/main">
              <a:ext uri="{FF2B5EF4-FFF2-40B4-BE49-F238E27FC236}">
                <a16:creationId xmlns:a16="http://schemas.microsoft.com/office/drawing/2014/main" id="{52098BD2-4FD2-4E39-B160-0573C0172F02}"/>
              </a:ext>
            </a:extLst>
          </p:cNvPr>
          <p:cNvSpPr>
            <a:spLocks xmlns:a="http://schemas.openxmlformats.org/drawingml/2006/main" noGrp="1"/>
          </p:cNvSpPr>
          <p:nvPr/>
        </p:nvSpPr>
        <p:spPr>
          <a:xfrm xmlns:a="http://schemas.openxmlformats.org/drawingml/2006/main">
            <a:off x="723900" y="15049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CLI 0.162.0-alpha.2 ; modèle observé : gpt-6.1-sol. 16 vrais, 1 faux, 6 non vérifiables.</a:t>
            </a:r>
          </a:p>
        </p:txBody>
      </p:sp>
      <p:graphicFrame>
        <p:nvGraphicFramePr>
          <p:cNvPr id="9" name="">
            <a:extLst xmlns:a="http://schemas.openxmlformats.org/drawingml/2006/main">
              <a:ext uri="{FF2B5EF4-FFF2-40B4-BE49-F238E27FC236}">
                <a16:creationId xmlns:a16="http://schemas.microsoft.com/office/drawing/2014/main" id="{EA9C0A14-4A3E-4E00-889E-2D17C60979B6}"/>
              </a:ext>
            </a:extLst>
          </p:cNvPr>
          <p:cNvGraphicFramePr/>
          <p:nvPr/>
        </p:nvGraphicFramePr>
        <p:xfrm>
          <a:off xmlns:a="http://schemas.openxmlformats.org/drawingml/2006/main" x="723900" y="2686050"/>
          <a:ext xmlns:a="http://schemas.openxmlformats.org/drawingml/2006/main" cx="10744200" cy="3048000"/>
        </p:xfrm>
        <a:graphic xmlns:a="http://schemas.openxmlformats.org/drawingml/2006/main">
          <a:graphicData uri="http://schemas.openxmlformats.org/drawingml/2006/table">
            <a:tbl>
              <a:tblPr/>
              <a:tblGrid>
                <a:gridCol w="3238500"/>
                <a:gridCol w="7505700"/>
              </a:tblGrid>
              <a:tr h="0">
                <a:tc>
                  <a:txBody>
                    <a:bodyPr/>
                    <a:lstStyle/>
                    <a:p>
                      <a:r>
                        <a:rPr sz="1800" b="1">
                          <a:solidFill>
                            <a:srgbClr val="FFFFFF"/>
                          </a:solidFill>
                          <a:latin typeface="Arial"/>
                          <a:ea typeface="Arial"/>
                          <a:cs typeface="Arial"/>
                        </a:rPr>
                        <a:t>Cas et conclusion</a:t>
                      </a:r>
                    </a:p>
                  </a:txBody>
                  <a:tcPr marL="152400" marR="152400" marT="57150" marB="57150">
                    <a:solidFill>
                      <a:srgbClr val="112B40"/>
                    </a:solidFill>
                  </a:tcPr>
                </a:tc>
                <a:tc>
                  <a:txBody>
                    <a:bodyPr/>
                    <a:lstStyle/>
                    <a:p>
                      <a:r>
                        <a:rPr sz="1800" b="1">
                          <a:solidFill>
                            <a:srgbClr val="FFFFFF"/>
                          </a:solidFill>
                          <a:latin typeface="Arial"/>
                          <a:ea typeface="Arial"/>
                          <a:cs typeface="Arial"/>
                        </a:rPr>
                        <a:t>Preuve et limite</a:t>
                      </a:r>
                    </a:p>
                  </a:txBody>
                  <a:tcPr marL="152400" marR="152400" marT="57150" marB="57150">
                    <a:solidFill>
                      <a:srgbClr val="112B40"/>
                    </a:solidFill>
                  </a:tcPr>
                </a:tc>
              </a:tr>
              <a:tr h="609600">
                <a:tc>
                  <a:txBody>
                    <a:bodyPr/>
                    <a:lstStyle/>
                    <a:p>
                      <a:r>
                        <a:rPr sz="1800">
                          <a:solidFill>
                            <a:srgbClr val="1B3547"/>
                          </a:solidFill>
                          <a:latin typeface="Arial"/>
                          <a:ea typeface="Arial"/>
                          <a:cs typeface="Arial"/>
                        </a:rPr>
                        <a:t>MCP indisponible : réussite</a:t>
                      </a:r>
                    </a:p>
                  </a:txBody>
                  <a:tcPr marL="152400" marR="152400" marT="57150" marB="57150"/>
                </a:tc>
                <a:tc>
                  <a:txBody>
                    <a:bodyPr/>
                    <a:lstStyle/>
                    <a:p>
                      <a:r>
                        <a:rPr sz="1800">
                          <a:solidFill>
                            <a:srgbClr val="1B3547"/>
                          </a:solidFill>
                          <a:latin typeface="Arial"/>
                          <a:ea typeface="Arial"/>
                          <a:cs typeface="Arial"/>
                        </a:rPr>
                        <a:t>5/5 critères. Méthode injectée ;</a:t>
                      </a:r>
                    </a:p>
                    <a:p>
                      <a:r>
                        <a:rPr sz="1800">
                          <a:solidFill>
                            <a:srgbClr val="1B3547"/>
                          </a:solidFill>
                          <a:latin typeface="Arial"/>
                          <a:ea typeface="Arial"/>
                          <a:cs typeface="Arial"/>
                        </a:rPr>
                        <a:t>aucun texte primaire récupéré.</a:t>
                      </a:r>
                    </a:p>
                  </a:txBody>
                  <a:tcPr marL="152400" marR="152400" marT="57150" marB="57150"/>
                </a:tc>
              </a:tr>
              <a:tr h="609600">
                <a:tc>
                  <a:txBody>
                    <a:bodyPr/>
                    <a:lstStyle/>
                    <a:p>
                      <a:r>
                        <a:rPr sz="1800">
                          <a:solidFill>
                            <a:srgbClr val="1B3547"/>
                          </a:solidFill>
                          <a:latin typeface="Arial"/>
                          <a:ea typeface="Arial"/>
                          <a:cs typeface="Arial"/>
                        </a:rPr>
                        <a:t>DSI technique : échec</a:t>
                      </a:r>
                    </a:p>
                  </a:txBody>
                  <a:tcPr marL="152400" marR="152400" marT="57150" marB="57150"/>
                </a:tc>
                <a:tc>
                  <a:txBody>
                    <a:bodyPr/>
                    <a:lstStyle/>
                    <a:p>
                      <a:r>
                        <a:rPr sz="1800">
                          <a:solidFill>
                            <a:srgbClr val="1B3547"/>
                          </a:solidFill>
                          <a:latin typeface="Arial"/>
                          <a:ea typeface="Arial"/>
                          <a:cs typeface="Arial"/>
                        </a:rPr>
                        <a:t>3 vrais, 1 faux, 6 non vérifiables.</a:t>
                      </a:r>
                    </a:p>
                    <a:p>
                      <a:r>
                        <a:rPr sz="1800">
                          <a:solidFill>
                            <a:srgbClr val="1B3547"/>
                          </a:solidFill>
                          <a:latin typeface="Arial"/>
                          <a:ea typeface="Arial"/>
                          <a:cs typeface="Arial"/>
                        </a:rPr>
                        <a:t>Skill DSI annoncé, lecture impossible.</a:t>
                      </a:r>
                    </a:p>
                  </a:txBody>
                  <a:tcPr marL="152400" marR="152400" marT="57150" marB="57150"/>
                </a:tc>
              </a:tr>
              <a:tr h="609600">
                <a:tc>
                  <a:txBody>
                    <a:bodyPr/>
                    <a:lstStyle/>
                    <a:p>
                      <a:r>
                        <a:rPr sz="1800">
                          <a:solidFill>
                            <a:srgbClr val="1B3547"/>
                          </a:solidFill>
                          <a:latin typeface="Arial"/>
                          <a:ea typeface="Arial"/>
                          <a:cs typeface="Arial"/>
                        </a:rPr>
                        <a:t>Source indisponible : réussite</a:t>
                      </a:r>
                    </a:p>
                  </a:txBody>
                  <a:tcPr marL="152400" marR="152400" marT="57150" marB="57150"/>
                </a:tc>
                <a:tc>
                  <a:txBody>
                    <a:bodyPr/>
                    <a:lstStyle/>
                    <a:p>
                      <a:r>
                        <a:rPr sz="1800">
                          <a:solidFill>
                            <a:srgbClr val="1B3547"/>
                          </a:solidFill>
                          <a:latin typeface="Arial"/>
                          <a:ea typeface="Arial"/>
                          <a:cs typeface="Arial"/>
                        </a:rPr>
                        <a:t>8/8 critères. DSI + juridique injectés ;</a:t>
                      </a:r>
                    </a:p>
                    <a:p>
                      <a:r>
                        <a:rPr sz="1800">
                          <a:solidFill>
                            <a:srgbClr val="1B3547"/>
                          </a:solidFill>
                          <a:latin typeface="Arial"/>
                          <a:ea typeface="Arial"/>
                          <a:cs typeface="Arial"/>
                        </a:rPr>
                        <a:t>applicabilité et calendrier non vérifiés.</a:t>
                      </a:r>
                    </a:p>
                  </a:txBody>
                  <a:tcPr marL="152400" marR="152400" marT="57150" marB="57150"/>
                </a:tc>
              </a:tr>
              <a:tr h="609600">
                <a:tc>
                  <a:txBody>
                    <a:bodyPr/>
                    <a:lstStyle/>
                    <a:p>
                      <a:r>
                        <a:rPr sz="1800">
                          <a:solidFill>
                            <a:srgbClr val="1B3547"/>
                          </a:solidFill>
                          <a:latin typeface="Arial"/>
                          <a:ea typeface="Arial"/>
                          <a:cs typeface="Arial"/>
                        </a:rPr>
                        <a:t>Treize cas non exécutés</a:t>
                      </a:r>
                    </a:p>
                  </a:txBody>
                  <a:tcPr marL="152400" marR="152400" marT="57150" marB="57150"/>
                </a:tc>
                <a:tc>
                  <a:txBody>
                    <a:bodyPr/>
                    <a:lstStyle/>
                    <a:p>
                      <a:r>
                        <a:rPr sz="1800">
                          <a:solidFill>
                            <a:srgbClr val="1B3547"/>
                          </a:solidFill>
                          <a:latin typeface="Arial"/>
                          <a:ea typeface="Arial"/>
                          <a:cs typeface="Arial"/>
                        </a:rPr>
                        <a:t>Sources primaires requises, préflight bloqué</a:t>
                      </a:r>
                    </a:p>
                  </a:txBody>
                  <a:tcPr marL="152400" marR="152400" marT="57150" marB="57150"/>
                </a:tc>
              </a:tr>
            </a:tbl>
          </a:graphicData>
        </a:graphic>
      </p:graphicFrame>
      <p:sp>
        <p:nvSpPr>
          <p:cNvPr id="4" name="">
            <a:extLst xmlns:a="http://schemas.openxmlformats.org/drawingml/2006/main">
              <a:ext uri="{FF2B5EF4-FFF2-40B4-BE49-F238E27FC236}">
                <a16:creationId xmlns:a16="http://schemas.microsoft.com/office/drawing/2014/main" id="{05D3452A-E7A5-41C3-A5E5-533D7E5DAFC5}"/>
              </a:ext>
            </a:extLst>
          </p:cNvPr>
          <p:cNvSpPr>
            <a:spLocks xmlns:a="http://schemas.openxmlformats.org/drawingml/2006/main" noGrp="1"/>
          </p:cNvSpPr>
          <p:nvPr/>
        </p:nvSpPr>
        <p:spPr>
          <a:xfrm xmlns:a="http://schemas.openxmlformats.org/drawingml/2006/main">
            <a:off x="723900" y="60769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Quatre erreurs natives « setup refresh » pendant les lectures. STOP critique non couvert.</a:t>
            </a:r>
          </a:p>
        </p:txBody>
      </p:sp>
    </p:spTree>
    <p:extLst>
      <p:ext uri="{BB962C8B-B14F-4D97-AF65-F5344CB8AC3E}">
        <p14:creationId xmlns:p14="http://schemas.microsoft.com/office/powerpoint/2010/main" val="1844535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A8E0EC-B8BF-4A24-BD69-4F3FD6B3CD97}"/>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Portée des preuves</a:t>
            </a:r>
          </a:p>
        </p:txBody>
      </p:sp>
      <p:sp>
        <p:nvSpPr>
          <p:cNvPr id="2" name="">
            <a:extLst xmlns:a="http://schemas.openxmlformats.org/drawingml/2006/main">
              <a:ext uri="{FF2B5EF4-FFF2-40B4-BE49-F238E27FC236}">
                <a16:creationId xmlns:a16="http://schemas.microsoft.com/office/drawing/2014/main" id="{7A9D555A-AE93-4CE6-B9DA-ABB8925D73B1}"/>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questions de campagne sont fictives. Aucun document opérationnel de collectivité n’a été fourni.</a:t>
            </a:r>
          </a:p>
        </p:txBody>
      </p:sp>
      <p:sp>
        <p:nvSpPr>
          <p:cNvPr id="3" name="">
            <a:extLst xmlns:a="http://schemas.openxmlformats.org/drawingml/2006/main">
              <a:ext uri="{FF2B5EF4-FFF2-40B4-BE49-F238E27FC236}">
                <a16:creationId xmlns:a16="http://schemas.microsoft.com/office/drawing/2014/main" id="{B8B36402-0895-43C3-852F-6CC2D845E9CE}"/>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lectures de santé réussissent hors de Codex. Pendant les cas, les lectures des skills échouent encore dans le sandbox.</a:t>
            </a:r>
          </a:p>
        </p:txBody>
      </p:sp>
      <p:sp>
        <p:nvSpPr>
          <p:cNvPr id="4" name="">
            <a:extLst xmlns:a="http://schemas.openxmlformats.org/drawingml/2006/main">
              <a:ext uri="{FF2B5EF4-FFF2-40B4-BE49-F238E27FC236}">
                <a16:creationId xmlns:a16="http://schemas.microsoft.com/office/drawing/2014/main" id="{20A0FF96-3299-4AC1-B225-0398D08A45CB}"/>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 profil désactive le web et le MCP juridique local. La découverte globale et la coactivation restent incomplètement établies.</a:t>
            </a:r>
          </a:p>
        </p:txBody>
      </p:sp>
      <p:sp>
        <p:nvSpPr>
          <p:cNvPr id="5" name="">
            <a:extLst xmlns:a="http://schemas.openxmlformats.org/drawingml/2006/main">
              <a:ext uri="{FF2B5EF4-FFF2-40B4-BE49-F238E27FC236}">
                <a16:creationId xmlns:a16="http://schemas.microsoft.com/office/drawing/2014/main" id="{F3BECB94-56B6-4A20-95F5-9D3859819595}"/>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trois juges examinent 23 critères. Les treize autres cas, la réouverture STOP et les revues humaines restent ouverts.</a:t>
            </a:r>
          </a:p>
        </p:txBody>
      </p:sp>
    </p:spTree>
    <p:extLst>
      <p:ext uri="{BB962C8B-B14F-4D97-AF65-F5344CB8AC3E}">
        <p14:creationId xmlns:p14="http://schemas.microsoft.com/office/powerpoint/2010/main" val="6013729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FC9737-9514-4257-8916-54FA92DE950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Points soumis au DSI / RSSI</a:t>
            </a:r>
          </a:p>
        </p:txBody>
      </p:sp>
      <p:sp>
        <p:nvSpPr>
          <p:cNvPr id="2" name="">
            <a:extLst xmlns:a="http://schemas.openxmlformats.org/drawingml/2006/main">
              <a:ext uri="{FF2B5EF4-FFF2-40B4-BE49-F238E27FC236}">
                <a16:creationId xmlns:a16="http://schemas.microsoft.com/office/drawing/2014/main" id="{22714846-B704-4133-806D-5EEC31B68E20}"/>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branches et livrables correspondent-ils aux situations de votre collectivité et à son mode d’exploitation ?</a:t>
            </a:r>
          </a:p>
        </p:txBody>
      </p:sp>
      <p:sp>
        <p:nvSpPr>
          <p:cNvPr id="3" name="">
            <a:extLst xmlns:a="http://schemas.openxmlformats.org/drawingml/2006/main">
              <a:ext uri="{FF2B5EF4-FFF2-40B4-BE49-F238E27FC236}">
                <a16:creationId xmlns:a16="http://schemas.microsoft.com/office/drawing/2014/main" id="{36E6494C-EC37-41BB-9C78-9D68061916CD}"/>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responsabilités DSI, RSSI, DPO, RH et finances sont-elles attribuées aux bons interlocuteurs ?</a:t>
            </a:r>
          </a:p>
        </p:txBody>
      </p:sp>
      <p:sp>
        <p:nvSpPr>
          <p:cNvPr id="4" name="">
            <a:extLst xmlns:a="http://schemas.openxmlformats.org/drawingml/2006/main">
              <a:ext uri="{FF2B5EF4-FFF2-40B4-BE49-F238E27FC236}">
                <a16:creationId xmlns:a16="http://schemas.microsoft.com/office/drawing/2014/main" id="{7EDA6FE2-DC23-4AB4-9E22-9B697497C7F7}"/>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STOP, préservations de preuves et conditions de reprise sont-ils suffisamment opérationnels ?</a:t>
            </a:r>
          </a:p>
        </p:txBody>
      </p:sp>
      <p:sp>
        <p:nvSpPr>
          <p:cNvPr id="5" name="">
            <a:extLst xmlns:a="http://schemas.openxmlformats.org/drawingml/2006/main">
              <a:ext uri="{FF2B5EF4-FFF2-40B4-BE49-F238E27FC236}">
                <a16:creationId xmlns:a16="http://schemas.microsoft.com/office/drawing/2014/main" id="{FA064C68-B75F-4300-A244-BB86559C3AE3}"/>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Quelles informations manque-t-il pour utiliser les fiches dans un dossier réel, sans données sensibles ?</a:t>
            </a:r>
          </a:p>
        </p:txBody>
      </p:sp>
    </p:spTree>
    <p:extLst>
      <p:ext uri="{BB962C8B-B14F-4D97-AF65-F5344CB8AC3E}">
        <p14:creationId xmlns:p14="http://schemas.microsoft.com/office/powerpoint/2010/main" val="1566513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4CE54D-0B5C-450E-A077-D655834A9498}"/>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Conditions de poursuite</a:t>
            </a:r>
          </a:p>
        </p:txBody>
      </p:sp>
      <p:graphicFrame>
        <p:nvGraphicFramePr>
          <p:cNvPr id="7" name="">
            <a:extLst xmlns:a="http://schemas.openxmlformats.org/drawingml/2006/main">
              <a:ext uri="{FF2B5EF4-FFF2-40B4-BE49-F238E27FC236}">
                <a16:creationId xmlns:a16="http://schemas.microsoft.com/office/drawing/2014/main" id="{B90FB89F-184D-4466-9649-6D3826BBB89C}"/>
              </a:ext>
            </a:extLst>
          </p:cNvPr>
          <p:cNvGraphicFramePr/>
          <p:nvPr/>
        </p:nvGraphicFramePr>
        <p:xfrm>
          <a:off xmlns:a="http://schemas.openxmlformats.org/drawingml/2006/main" x="723900" y="1581150"/>
          <a:ext xmlns:a="http://schemas.openxmlformats.org/drawingml/2006/main" cx="10744200" cy="4171950"/>
        </p:xfrm>
        <a:graphic xmlns:a="http://schemas.openxmlformats.org/drawingml/2006/main">
          <a:graphicData uri="http://schemas.openxmlformats.org/drawingml/2006/table">
            <a:tbl>
              <a:tblPr/>
              <a:tblGrid>
                <a:gridCol w="4191000"/>
                <a:gridCol w="6553200"/>
              </a:tblGrid>
              <a:tr h="0">
                <a:tc>
                  <a:txBody>
                    <a:bodyPr/>
                    <a:lstStyle/>
                    <a:p>
                      <a:r>
                        <a:rPr sz="1800" b="1">
                          <a:solidFill>
                            <a:srgbClr val="FFFFFF"/>
                          </a:solidFill>
                          <a:latin typeface="Arial"/>
                          <a:ea typeface="Arial"/>
                          <a:cs typeface="Arial"/>
                        </a:rPr>
                        <a:t>Étape</a:t>
                      </a:r>
                    </a:p>
                  </a:txBody>
                  <a:tcPr marL="152400" marR="152400" marT="57150" marB="57150">
                    <a:solidFill>
                      <a:srgbClr val="112B40"/>
                    </a:solidFill>
                  </a:tcPr>
                </a:tc>
                <a:tc>
                  <a:txBody>
                    <a:bodyPr/>
                    <a:lstStyle/>
                    <a:p>
                      <a:r>
                        <a:rPr sz="1800" b="1">
                          <a:solidFill>
                            <a:srgbClr val="FFFFFF"/>
                          </a:solidFill>
                          <a:latin typeface="Arial"/>
                          <a:ea typeface="Arial"/>
                          <a:cs typeface="Arial"/>
                        </a:rPr>
                        <a:t>Preuve attendue</a:t>
                      </a:r>
                    </a:p>
                  </a:txBody>
                  <a:tcPr marL="152400" marR="152400" marT="57150" marB="57150">
                    <a:solidFill>
                      <a:srgbClr val="112B40"/>
                    </a:solidFill>
                  </a:tcPr>
                </a:tc>
              </a:tr>
              <a:tr h="695325">
                <a:tc>
                  <a:txBody>
                    <a:bodyPr/>
                    <a:lstStyle/>
                    <a:p>
                      <a:r>
                        <a:rPr sz="1800">
                          <a:solidFill>
                            <a:srgbClr val="1B3547"/>
                          </a:solidFill>
                          <a:latin typeface="Arial"/>
                          <a:ea typeface="Arial"/>
                          <a:cs typeface="Arial"/>
                        </a:rPr>
                        <a:t>Lecture des skills</a:t>
                      </a:r>
                    </a:p>
                  </a:txBody>
                  <a:tcPr marL="152400" marR="152400" marT="57150" marB="57150"/>
                </a:tc>
                <a:tc>
                  <a:txBody>
                    <a:bodyPr/>
                    <a:lstStyle/>
                    <a:p>
                      <a:r>
                        <a:rPr sz="1800">
                          <a:solidFill>
                            <a:srgbClr val="1B3547"/>
                          </a:solidFill>
                          <a:latin typeface="Arial"/>
                          <a:ea typeface="Arial"/>
                          <a:cs typeface="Arial"/>
                        </a:rPr>
                        <a:t>Lecture réussie dans une session réelle du modèle</a:t>
                      </a:r>
                    </a:p>
                  </a:txBody>
                  <a:tcPr marL="152400" marR="152400" marT="57150" marB="57150"/>
                </a:tc>
              </a:tr>
              <a:tr h="695325">
                <a:tc>
                  <a:txBody>
                    <a:bodyPr/>
                    <a:lstStyle/>
                    <a:p>
                      <a:r>
                        <a:rPr sz="1800">
                          <a:solidFill>
                            <a:srgbClr val="1B3547"/>
                          </a:solidFill>
                          <a:latin typeface="Arial"/>
                          <a:ea typeface="Arial"/>
                          <a:cs typeface="Arial"/>
                        </a:rPr>
                        <a:t>Suite dev.7</a:t>
                      </a:r>
                    </a:p>
                  </a:txBody>
                  <a:tcPr marL="152400" marR="152400" marT="57150" marB="57150"/>
                </a:tc>
                <a:tc>
                  <a:txBody>
                    <a:bodyPr/>
                    <a:lstStyle/>
                    <a:p>
                      <a:r>
                        <a:rPr sz="1800">
                          <a:solidFill>
                            <a:srgbClr val="1B3547"/>
                          </a:solidFill>
                          <a:latin typeface="Arial"/>
                          <a:ea typeface="Arial"/>
                          <a:cs typeface="Arial"/>
                        </a:rPr>
                        <a:t>Treize cas avec sources, puis réouverture STOP critique</a:t>
                      </a:r>
                    </a:p>
                  </a:txBody>
                  <a:tcPr marL="152400" marR="152400" marT="57150" marB="57150"/>
                </a:tc>
              </a:tr>
              <a:tr h="695325">
                <a:tc>
                  <a:txBody>
                    <a:bodyPr/>
                    <a:lstStyle/>
                    <a:p>
                      <a:r>
                        <a:rPr sz="1800">
                          <a:solidFill>
                            <a:srgbClr val="1B3547"/>
                          </a:solidFill>
                          <a:latin typeface="Arial"/>
                          <a:ea typeface="Arial"/>
                          <a:cs typeface="Arial"/>
                        </a:rPr>
                        <a:t>Revue praticien</a:t>
                      </a:r>
                    </a:p>
                  </a:txBody>
                  <a:tcPr marL="152400" marR="152400" marT="57150" marB="57150"/>
                </a:tc>
                <a:tc>
                  <a:txBody>
                    <a:bodyPr/>
                    <a:lstStyle/>
                    <a:p>
                      <a:r>
                        <a:rPr sz="1800">
                          <a:solidFill>
                            <a:srgbClr val="1B3547"/>
                          </a:solidFill>
                          <a:latin typeface="Arial"/>
                          <a:ea typeface="Arial"/>
                          <a:cs typeface="Arial"/>
                        </a:rPr>
                        <a:t>Avis DSI/RSSI sur les branches et livrables</a:t>
                      </a:r>
                    </a:p>
                  </a:txBody>
                  <a:tcPr marL="152400" marR="152400" marT="57150" marB="57150"/>
                </a:tc>
              </a:tr>
              <a:tr h="695325">
                <a:tc>
                  <a:txBody>
                    <a:bodyPr/>
                    <a:lstStyle/>
                    <a:p>
                      <a:r>
                        <a:rPr sz="1800">
                          <a:solidFill>
                            <a:srgbClr val="1B3547"/>
                          </a:solidFill>
                          <a:latin typeface="Arial"/>
                          <a:ea typeface="Arial"/>
                          <a:cs typeface="Arial"/>
                        </a:rPr>
                        <a:t>Revue juridique</a:t>
                      </a:r>
                    </a:p>
                  </a:txBody>
                  <a:tcPr marL="152400" marR="152400" marT="57150" marB="57150"/>
                </a:tc>
                <a:tc>
                  <a:txBody>
                    <a:bodyPr/>
                    <a:lstStyle/>
                    <a:p>
                      <a:r>
                        <a:rPr sz="1800">
                          <a:solidFill>
                            <a:srgbClr val="1B3547"/>
                          </a:solidFill>
                          <a:latin typeface="Arial"/>
                          <a:ea typeface="Arial"/>
                          <a:cs typeface="Arial"/>
                        </a:rPr>
                        <a:t>Contrôle des règles, sources et frontières de rôle</a:t>
                      </a:r>
                    </a:p>
                  </a:txBody>
                  <a:tcPr marL="152400" marR="152400" marT="57150" marB="57150"/>
                </a:tc>
              </a:tr>
              <a:tr h="695325">
                <a:tc>
                  <a:txBody>
                    <a:bodyPr/>
                    <a:lstStyle/>
                    <a:p>
                      <a:r>
                        <a:rPr sz="1800">
                          <a:solidFill>
                            <a:srgbClr val="1B3547"/>
                          </a:solidFill>
                          <a:latin typeface="Arial"/>
                          <a:ea typeface="Arial"/>
                          <a:cs typeface="Arial"/>
                        </a:rPr>
                        <a:t>Distribution</a:t>
                      </a:r>
                    </a:p>
                  </a:txBody>
                  <a:tcPr marL="152400" marR="152400" marT="57150" marB="57150"/>
                </a:tc>
                <a:tc>
                  <a:txBody>
                    <a:bodyPr/>
                    <a:lstStyle/>
                    <a:p>
                      <a:r>
                        <a:rPr sz="1800">
                          <a:solidFill>
                            <a:srgbClr val="1B3547"/>
                          </a:solidFill>
                          <a:latin typeface="Arial"/>
                          <a:ea typeface="Arial"/>
                          <a:cs typeface="Arial"/>
                        </a:rPr>
                        <a:t>Smoke du candidat et décision humaine de publication</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CFB0F410-1D5E-4051-9320-84D15FE3BC5B}"/>
              </a:ext>
            </a:extLst>
          </p:cNvPr>
          <p:cNvSpPr>
            <a:spLocks xmlns:a="http://schemas.openxmlformats.org/drawingml/2006/main" noGrp="1"/>
          </p:cNvSpPr>
          <p:nvPr/>
        </p:nvSpPr>
        <p:spPr>
          <a:xfrm xmlns:a="http://schemas.openxmlformats.org/drawingml/2006/main">
            <a:off x="723900" y="60007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PR brouillons à examiner. Le candidat reste non qualifié pour la distribution.</a:t>
            </a:r>
          </a:p>
        </p:txBody>
      </p:sp>
    </p:spTree>
    <p:extLst>
      <p:ext uri="{BB962C8B-B14F-4D97-AF65-F5344CB8AC3E}">
        <p14:creationId xmlns:p14="http://schemas.microsoft.com/office/powerpoint/2010/main" val="709741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2026-10-08T21:35:58.3210000Z</dcterms:created>
  <dcterms:modified xsi:type="dcterms:W3CDTF">2026-10-08T21:35:58.3210000Z</dcterms:modified>
</coreProperties>
</file>