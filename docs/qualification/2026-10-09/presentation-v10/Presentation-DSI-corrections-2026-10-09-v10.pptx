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fe4d7b1864b460c" /><Relationship Type="http://schemas.openxmlformats.org/officeDocument/2006/relationships/extended-properties" Target="/docProps/app.xml" Id="Radf7aa318e9042be" /><Relationship Type="http://schemas.openxmlformats.org/officeDocument/2006/relationships/officeDocument" Target="/ppt/presentation.xml" Id="R8b01d72f218a48ee" /></Relationships>
</file>

<file path=ppt/presentation.xml><?xml version="1.0" encoding="utf-8"?>
<p:presentation xmlns:p="http://schemas.openxmlformats.org/presentationml/2006/main">
  <p:sldMasterIdLst>
    <p:sldMasterId xmlns:r="http://schemas.openxmlformats.org/officeDocument/2006/relationships" id="2147483648" r:id="Ra308e3f4855a4e34"/>
  </p:sldMasterIdLst>
  <p:notesMasterIdLst>
    <p:notesMasterId xmlns:r="http://schemas.openxmlformats.org/officeDocument/2006/relationships" r:id="R08e684837c6c4215"/>
  </p:notesMasterIdLst>
  <p:sldIdLst>
    <p:sldId xmlns:r="http://schemas.openxmlformats.org/officeDocument/2006/relationships" id="256" r:id="R7e4fb42797244048"/>
    <p:sldId xmlns:r="http://schemas.openxmlformats.org/officeDocument/2006/relationships" id="257" r:id="Rb8268b0227604e8d"/>
    <p:sldId xmlns:r="http://schemas.openxmlformats.org/officeDocument/2006/relationships" id="258" r:id="Rb0ecc6f04d9b4e7f"/>
    <p:sldId xmlns:r="http://schemas.openxmlformats.org/officeDocument/2006/relationships" id="259" r:id="Rae05745093234f98"/>
    <p:sldId xmlns:r="http://schemas.openxmlformats.org/officeDocument/2006/relationships" id="260" r:id="Rfc368442512c4add"/>
    <p:sldId xmlns:r="http://schemas.openxmlformats.org/officeDocument/2006/relationships" id="261" r:id="R44203f75998e4197"/>
    <p:sldId xmlns:r="http://schemas.openxmlformats.org/officeDocument/2006/relationships" id="262" r:id="Ra55c2e4248964c63"/>
    <p:sldId xmlns:r="http://schemas.openxmlformats.org/officeDocument/2006/relationships" id="263" r:id="Rdbc23f4716d84cf8"/>
    <p:sldId xmlns:r="http://schemas.openxmlformats.org/officeDocument/2006/relationships" id="264" r:id="Rf90dbaa9e79d45b1"/>
    <p:sldId xmlns:r="http://schemas.openxmlformats.org/officeDocument/2006/relationships" id="265" r:id="R53c10dfe51cf4720"/>
    <p:sldId xmlns:r="http://schemas.openxmlformats.org/officeDocument/2006/relationships" id="266" r:id="R4fba39dac7724c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102f92a8434b73" /><Relationship Type="http://schemas.openxmlformats.org/officeDocument/2006/relationships/slideMaster" Target="/ppt/slideMasters/slideMaster1.xml" Id="Ra308e3f4855a4e34" /><Relationship Type="http://schemas.openxmlformats.org/officeDocument/2006/relationships/notesMaster" Target="/ppt/notesMasters/notesMaster1.xml" Id="R08e684837c6c4215" /><Relationship Type="http://schemas.openxmlformats.org/officeDocument/2006/relationships/presProps" Target="/ppt/presProps.xml" Id="Rc1f84eb2fad2482b" /><Relationship Type="http://schemas.openxmlformats.org/officeDocument/2006/relationships/tableStyles" Target="/ppt/tableStyles.xml" Id="R46049e3480794e95" /><Relationship Type="http://schemas.openxmlformats.org/officeDocument/2006/relationships/slide" Target="/ppt/slides/slide1.xml" Id="R7e4fb42797244048" /><Relationship Type="http://schemas.openxmlformats.org/officeDocument/2006/relationships/slide" Target="/ppt/slides/slide2.xml" Id="Rb8268b0227604e8d" /><Relationship Type="http://schemas.openxmlformats.org/officeDocument/2006/relationships/slide" Target="/ppt/slides/slide3.xml" Id="Rb0ecc6f04d9b4e7f" /><Relationship Type="http://schemas.openxmlformats.org/officeDocument/2006/relationships/slide" Target="/ppt/slides/slide4.xml" Id="Rae05745093234f98" /><Relationship Type="http://schemas.openxmlformats.org/officeDocument/2006/relationships/slide" Target="/ppt/slides/slide5.xml" Id="Rfc368442512c4add" /><Relationship Type="http://schemas.openxmlformats.org/officeDocument/2006/relationships/slide" Target="/ppt/slides/slide6.xml" Id="R44203f75998e4197" /><Relationship Type="http://schemas.openxmlformats.org/officeDocument/2006/relationships/slide" Target="/ppt/slides/slide7.xml" Id="Ra55c2e4248964c63" /><Relationship Type="http://schemas.openxmlformats.org/officeDocument/2006/relationships/slide" Target="/ppt/slides/slide8.xml" Id="Rdbc23f4716d84cf8" /><Relationship Type="http://schemas.openxmlformats.org/officeDocument/2006/relationships/slide" Target="/ppt/slides/slide9.xml" Id="Rf90dbaa9e79d45b1" /><Relationship Type="http://schemas.openxmlformats.org/officeDocument/2006/relationships/slide" Target="/ppt/slides/slide10.xml" Id="R53c10dfe51cf4720" /><Relationship Type="http://schemas.openxmlformats.org/officeDocument/2006/relationships/slide" Target="/ppt/slides/slide11.xml" Id="R4fba39dac7724c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71a71adc3840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bb01f726fb467c" /><Relationship Type="http://schemas.openxmlformats.org/officeDocument/2006/relationships/notesMaster" Target="/ppt/notesMasters/notesMaster1.xml" Id="R98baa5fa4a3e48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27424a813d4457" /><Relationship Type="http://schemas.openxmlformats.org/officeDocument/2006/relationships/notesMaster" Target="/ppt/notesMasters/notesMaster1.xml" Id="R0855e785888a44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c09ce274e54d99" /><Relationship Type="http://schemas.openxmlformats.org/officeDocument/2006/relationships/notesMaster" Target="/ppt/notesMasters/notesMaster1.xml" Id="Ra490b7f8463444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70f413c5324351" /><Relationship Type="http://schemas.openxmlformats.org/officeDocument/2006/relationships/notesMaster" Target="/ppt/notesMasters/notesMaster1.xml" Id="R614c5a802d1945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8cc39b463e486d" /><Relationship Type="http://schemas.openxmlformats.org/officeDocument/2006/relationships/notesMaster" Target="/ppt/notesMasters/notesMaster1.xml" Id="R9fe205f4a9a449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39a8360cfd42fe" /><Relationship Type="http://schemas.openxmlformats.org/officeDocument/2006/relationships/notesMaster" Target="/ppt/notesMasters/notesMaster1.xml" Id="R3e54c06eef2e4f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a82e9be1c74482" /><Relationship Type="http://schemas.openxmlformats.org/officeDocument/2006/relationships/notesMaster" Target="/ppt/notesMasters/notesMaster1.xml" Id="Rf5b7c8e06be647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8006aae1fe4a64" /><Relationship Type="http://schemas.openxmlformats.org/officeDocument/2006/relationships/notesMaster" Target="/ppt/notesMasters/notesMaster1.xml" Id="R6c3a8b2d31e242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6640db843742c6" /><Relationship Type="http://schemas.openxmlformats.org/officeDocument/2006/relationships/notesMaster" Target="/ppt/notesMasters/notesMaster1.xml" Id="R413502bcc5d042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91daf63beb4eb4" /><Relationship Type="http://schemas.openxmlformats.org/officeDocument/2006/relationships/notesMaster" Target="/ppt/notesMasters/notesMaster1.xml" Id="R2f6d161a1dbb4fa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9f4328d225475c" /><Relationship Type="http://schemas.openxmlformats.org/officeDocument/2006/relationships/notesMaster" Target="/ppt/notesMasters/notesMaster1.xml" Id="R9d62b657e62143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natif dev.7 partiel, commit fb186b4951b95adabf05904f8a34995720588be3, sessions du 8 octobre 2026. Trois répondants distincts puis trois juges frais sans contexte parent après exports v2. Deux réussites concernent la méthode et les abstentions attendues en indisponibilité de sources ; elles ne prouvent aucune règle juridique ni campagne nominale. Le cas technique échoue : DSI annoncé, lecture SKILL impossible, trois critères vrais, un faux et six non vérifiables. Coactivation explicite DSI/recherche-juridique attestée par injection native des deux SKILL complets dans le seul cas source indisponible ; aucun texte primaire récupéré. Quatre échecs natifs de démarrage de lecture : helper_unknown_error: setup refresh had errors ; aucun refus automatique d’approbation établi ni code Windows précis déduit. Treize cas bloqués au précontrôle faute de sources primaires, réouverture STOP critique non couverte. Les lectures de santé réussissent hors application mais pas les lectures requises pendant les répondants. Les preuves brutes restent privées ; exports et jugements vérifiés par empreintes. Les résultats DSI 28/28 et dev.5/dev.6 restent historiques, sans transfert. Revues DSI/RSSI, juridique et ouverture PowerPoint native non établies ; release_ready=false. Les erreurs réelles sont conservées et seule une fausse alerte de comparaison d’export technique due au chemin expurgé a été corrigée après comparaison brute ; aucune réponse ni source réexécutée ou modifiée.</a:t>
            </a:r>
          </a:p>
          <a:p xmlns:a="http://schemas.openxmlformats.org/drawingml/2006/main">
            <a:r>
              <a:t/>
            </a:r>
          </a:p>
          <a:p xmlns:a="http://schemas.openxmlformats.org/drawingml/2006/main">
            <a:r>
              <a:t>Complément de diagnostic du 9 octobre 2026, distinct des preuves R3 du 8 octobre. Le bilan 3/16 demeure inchangé : deux réussites, un échec, 16 critères vrais, un faux et six non vérifiables. Aucun répondant nouveau, aucune nouvelle campagne préparée ou mesurée.</a:t>
            </a:r>
          </a:p>
          <a:p xmlns:a="http://schemas.openxmlformats.org/drawingml/2006/main">
            <a:r>
              <a:t/>
            </a:r>
          </a:p>
          <a:p xmlns:a="http://schemas.openxmlformats.org/drawingml/2006/main">
            <a:r>
              <a:t>Les quatre événements R3 sont corrélés au journal sandbox : erreur Windows 32 pendant le rafraîchissement des ACL de node.exe aux horaires 19:35:58, 19:36:19, 19:36:32 et 19:36:51 UTC le 8 octobre. Corrélation chronologique et mécanisme concordant, pas identification du PID historique détenteur. Aucun refus automatique d’approbation établi. Les preuves R3 restent immuables.</a:t>
            </a:r>
          </a:p>
          <a:p xmlns:a="http://schemas.openxmlformats.org/drawingml/2006/main">
            <a:r>
              <a:t/>
            </a:r>
          </a:p>
          <a:p xmlns:a="http://schemas.openxmlformats.org/drawingml/2006/main">
            <a:r>
              <a:t>Les quatre sondes sans inférence de modèle échouent encore. Elles examinent les capacités, le service Windows, le chemin Node et la désactivation des dépendances du workspace. Configuration persistée et cache installé inchangés. Aucune correction application ouverte ni reprise à froid validée. Une autre erreur 32 sur node_repl.exe a été observée lors des sondes application ouverte et ne démontre aucun correctif.</a:t>
            </a:r>
          </a:p>
          <a:p xmlns:a="http://schemas.openxmlformats.org/drawingml/2006/main">
            <a:r>
              <a:t/>
            </a:r>
          </a:p>
          <a:p xmlns:a="http://schemas.openxmlformats.org/drawingml/2006/main">
            <a:r>
              <a:t>Le précontrôle du candidat droit-francais indique notLoggedIn, zéro outil et Auth required. La connexion OAuth de Codex ne prouve pas la connexion au MCP juridique. Le flux officiel du 8 octobre 22:04:59 à 22:15:00 UTC expire sans retour utilisateur. Aucun secret lu ou copié, aucune inférence de modèle et aucune relance automatique. Aucun texte primaire récupéré.</a:t>
            </a:r>
          </a:p>
          <a:p xmlns:a="http://schemas.openxmlformats.org/drawingml/2006/main">
            <a:r>
              <a:t/>
            </a:r>
          </a:p>
          <a:p xmlns:a="http://schemas.openxmlformats.org/drawingml/2006/main">
            <a:r>
              <a:t>Avant toute nouvelle mesure, terminer la connexion juridique et valider la reprise Windows à froid. La suite complète prévoit seize nouveaux cas et 124 critères, dont la réouverture STOP critique. Les avis DSI/RSSI et juridique, l’ouverture native PowerPoint et la décision humaine de distribution restent en attente. release_ready=false.</a:t>
            </a:r>
          </a:p>
          <a:p xmlns:a="http://schemas.openxmlformats.org/drawingml/2006/main">
            <a:r>
              <a:t/>
            </a:r>
          </a:p>
          <a:p xmlns:a="http://schemas.openxmlformats.org/drawingml/2006/main">
            <a:r>
              <a:t>Sources assainies liées, sans consultation des journaux privés ni des secrets :</a:t>
            </a:r>
          </a:p>
          <a:p xmlns:a="http://schemas.openxmlformats.org/drawingml/2006/main">
            <a:r>
              <a:t>diagnostic-reprise-dev7-20261009-v2/diagnostic-assaini.json</a:t>
            </a:r>
          </a:p>
          <a:p xmlns:a="http://schemas.openxmlformats.org/drawingml/2006/main">
            <a:r>
              <a:t>SHA-256 b5b681e728b05ae752164252d19d26d2fe26b64a897eb90457b257df7516c697</a:t>
            </a:r>
          </a:p>
          <a:p xmlns:a="http://schemas.openxmlformats.org/drawingml/2006/main">
            <a:r>
              <a:t>diagnostic-reprise-dev7-20261009-v2/precontrole-mcp-assaini.json</a:t>
            </a:r>
          </a:p>
          <a:p xmlns:a="http://schemas.openxmlformats.org/drawingml/2006/main">
            <a:r>
              <a:t>SHA-256 9570898b9d875144ca4c9546a7c84dfae1c2924aa86117fb9e5e1f9d6efade49</a:t>
            </a:r>
          </a:p>
          <a:p xmlns:a="http://schemas.openxmlformats.org/drawingml/2006/main">
            <a:r>
              <a:t>diagnostic-reprise-dev7-20261009-v2/oauth-resultat-assaini.json</a:t>
            </a:r>
          </a:p>
          <a:p xmlns:a="http://schemas.openxmlformats.org/drawingml/2006/main">
            <a:r>
              <a:t>SHA-256 fe25c1504924b16eedf39c96a4ef35fbd9b94ae38aacd7e88cf497407bdba306</a:t>
            </a:r>
          </a:p>
          <a:p xmlns:a="http://schemas.openxmlformats.org/drawingml/2006/main">
            <a:r>
              <a:t>bilan-dev7-r3-verifie-20261008.json</a:t>
            </a:r>
          </a:p>
          <a:p xmlns:a="http://schemas.openxmlformats.org/drawingml/2006/main">
            <a:r>
              <a:t>SHA-256 932e89e32a0ff4afba43241087df39de70f2788750a12930d7d2a725d4a21ee6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103310e2ee4c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1abc1bf7f54ee1" /><Relationship Type="http://schemas.openxmlformats.org/officeDocument/2006/relationships/slideLayout" Target="/ppt/slideLayouts/slideLayout1.xml" Id="Recab0eef325246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ab0eef325246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044cde499a4788" /><Relationship Type="http://schemas.openxmlformats.org/officeDocument/2006/relationships/notesSlide" Target="/ppt/notesSlides/notesSlide1.xml" Id="R74280c2beafe4f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4d9ebc58d8a46c4" /><Relationship Type="http://schemas.openxmlformats.org/officeDocument/2006/relationships/notesSlide" Target="/ppt/notesSlides/notesSlide2.xml" Id="R7dbb269704fd4b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597c0241a54bd6" /><Relationship Type="http://schemas.openxmlformats.org/officeDocument/2006/relationships/notesSlide" Target="/ppt/notesSlides/notesSlide3.xml" Id="Rc116ed3f078f46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80f1a95bf36469f" /><Relationship Type="http://schemas.openxmlformats.org/officeDocument/2006/relationships/chart" Target="/ppt/slides/charts/chart1.xml" Id="R3cf9fa8f4ca74359" /><Relationship Type="http://schemas.openxmlformats.org/officeDocument/2006/relationships/notesSlide" Target="/ppt/notesSlides/notesSlide4.xml" Id="Rc15f9e38044c4a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b947c27aaf84cc0" /><Relationship Type="http://schemas.openxmlformats.org/officeDocument/2006/relationships/notesSlide" Target="/ppt/notesSlides/notesSlide5.xml" Id="Rc41cf628ff1a43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1b2462ceab4b45" /><Relationship Type="http://schemas.openxmlformats.org/officeDocument/2006/relationships/notesSlide" Target="/ppt/notesSlides/notesSlide6.xml" Id="R6577e94c9a354d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f6c701963b24d56" /><Relationship Type="http://schemas.openxmlformats.org/officeDocument/2006/relationships/notesSlide" Target="/ppt/notesSlides/notesSlide7.xml" Id="R24b99bbcfe6340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57afc54c2a64a36" /><Relationship Type="http://schemas.openxmlformats.org/officeDocument/2006/relationships/notesSlide" Target="/ppt/notesSlides/notesSlide8.xml" Id="R18e6c2b4821d48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a0e4d87787e43f5" /><Relationship Type="http://schemas.openxmlformats.org/officeDocument/2006/relationships/notesSlide" Target="/ppt/notesSlides/notesSlide9.xml" Id="Rbbb57453ee1b47d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29660fcc8074c14" /><Relationship Type="http://schemas.openxmlformats.org/officeDocument/2006/relationships/notesSlide" Target="/ppt/notesSlides/notesSlide10.xml" Id="R47200e04243c4f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31a30eec3c8430e" /><Relationship Type="http://schemas.openxmlformats.org/officeDocument/2006/relationships/notesSlide" Target="/ppt/notesSlides/notesSlide11.xml" Id="Rbd81a08589bf43f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ns1="http://schemas.openxmlformats.org/drawingml/2006/main" xmlns:ns2="http://schemas.openxmlformats.org/officeDocument/2006/relationships">
  <c:lang val="en-US"/>
  <c:chart>
    <c:plotArea>
      <c:barChart>
        <c:barDir val="bar"/>
        <c:grouping val="clustered"/>
        <c:varyColors val="0"/>
        <c:ser>
          <c:idx val="0"/>
          <c:order val="0"/>
          <c:tx>
            <c:v>Nombre de cas</c:v>
          </c:tx>
          <c:spPr>
            <ns1:solidFill>
              <ns1:srgbClr val="176E78"/>
            </ns1:solidFill>
          </c:spPr>
          <c:cat>
            <c:strRef>
              <c:f>'Chart Data'!$A$2:$A$4</c:f>
              <c:strCache>
                <c:ptCount val="3"/>
                <c:pt idx="0">
                  <c:v>Réussite</c:v>
                </c:pt>
                <c:pt idx="1">
                  <c:v>Demi-réussite</c:v>
                </c:pt>
                <c:pt idx="2">
                  <c:v>Échec</c:v>
                </c:pt>
              </c:strCache>
            </c:strRef>
          </c:cat>
          <c:val>
            <c:numRef>
              <c:f>'Chart Data'!$B$2:$B$4</c:f>
              <c:numCache>
                <c:formatCode>0</c:formatCode>
                <c:ptCount val="3"/>
                <c:pt idx="0">
                  <c:v>28</c:v>
                </c:pt>
                <c:pt idx="1">
                  <c:v>0</c:v>
                </c:pt>
                <c:pt idx="2">
                  <c:v>0</c:v>
                </c:pt>
              </c:numCache>
            </c:numRef>
          </c:val>
        </c:ser>
        <c:dLbls>
          <c:txPr>
            <ns1:bodyPr anchorCtr="1"/>
            <ns1:lstStyle/>
            <ns1:p>
              <ns1:pPr>
                <ns1:defRPr sz="1950" b="1">
                  <ns1:latin typeface="Arial"/>
                  <ns1:ea typeface="Arial"/>
                  <ns1:cs typeface="Arial"/>
                </ns1:defRPr>
              </ns1:pPr>
            </ns1: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ns1:ln w="9525">
            <ns1:solidFill>
              <ns1:srgbClr val="D4D4D4"/>
            </ns1:solidFill>
            <ns1:prstDash val="solid"/>
          </ns1:ln>
        </c:spPr>
        <c:txPr>
          <ns1:bodyPr anchorCtr="1"/>
          <ns1:lstStyle/>
          <ns1:p>
            <ns1:pPr>
              <ns1:defRPr sz="1800">
                <ns1:solidFill>
                  <ns1:srgbClr val="666666"/>
                </ns1:solidFill>
                <ns1:latin typeface="Arial"/>
                <ns1:ea typeface="Arial"/>
                <ns1:cs typeface="Arial"/>
              </ns1:defRPr>
            </ns1:pPr>
          </ns1:p>
        </c:txPr>
        <c:crossAx val="48672768"/>
      </c:catAx>
      <c:valAx>
        <c:axId val="48672768"/>
        <c:scaling>
          <c:orientation val="minMax"/>
        </c:scaling>
        <c:delete val="0"/>
        <c:axPos val="b"/>
        <c:numFmt formatCode="0"/>
        <c:majorTickMark val="none"/>
        <c:minorTickMark val="none"/>
        <c:spPr>
          <ns1:ln w="9525">
            <ns1:solidFill>
              <ns1:srgbClr val="D4D4D4"/>
            </ns1:solidFill>
            <ns1:prstDash val="solid"/>
          </ns1:ln>
        </c:spPr>
        <c:txPr>
          <ns1:bodyPr anchorCtr="1"/>
          <ns1:lstStyle/>
          <ns1:p>
            <ns1:pPr>
              <ns1:defRPr sz="1800">
                <ns1:solidFill>
                  <ns1:srgbClr val="666666"/>
                </ns1:solidFill>
                <ns1:latin typeface="Arial"/>
                <ns1:ea typeface="Arial"/>
                <ns1:cs typeface="Arial"/>
              </ns1:defRPr>
            </ns1:pPr>
          </ns1:p>
        </c:txPr>
        <c:crossAx val="48650112"/>
        <c:crossBetween val="between"/>
      </c:valAx>
      <c:spPr>
        <ns1:solidFill>
          <ns1:srgbClr val="FFFFFF"/>
        </ns1:solidFill>
      </c:spPr>
    </c:plotArea>
    <c:plotVisOnly val="1"/>
  </c:chart>
  <c:spPr>
    <ns1:solidFill>
      <ns1:srgbClr val="FFFFFF"/>
    </ns1:solidFill>
  </c:spPr>
  <c:externalData ns2:id="rIdChartSnapshot1">
    <c:autoUpdate val="0"/>
  </c:externalData>
</c:chartSpace>
</file>

<file path=ppt/slides/slide1.xml><?xml version="1.0" encoding="utf-8"?>
<p:sld xmlns:p="http://schemas.openxmlformats.org/presentationml/2006/main">
  <p:cSld>
    <p:bg>
      <p:bgPr>
        <a:solidFill xmlns:a="http://schemas.openxmlformats.org/drawingml/2006/main">
          <a:srgbClr val="112B4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CAE9A2-FD8D-4068-9CC7-A8065370D4B8}"/>
              </a:ext>
            </a:extLst>
          </p:cNvPr>
          <p:cNvSpPr>
            <a:spLocks xmlns:a="http://schemas.openxmlformats.org/drawingml/2006/main" noGrp="1"/>
          </p:cNvSpPr>
          <p:nvPr/>
        </p:nvSpPr>
        <p:spPr>
          <a:xfrm xmlns:a="http://schemas.openxmlformats.org/drawingml/2006/main">
            <a:off x="762000" y="166687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FFFFFF"/>
                </a:solidFill>
                <a:latin typeface="Arial"/>
                <a:ea typeface="Arial"/>
                <a:cs typeface="Arial"/>
              </a:defRPr>
            </a:pPr>
            <a:r>
              <a:rPr sz="5700" b="1">
                <a:solidFill>
                  <a:srgbClr val="FFFFFF"/>
                </a:solidFill>
                <a:latin typeface="Arial"/>
                <a:ea typeface="Arial"/>
                <a:cs typeface="Arial"/>
              </a:rPr>
              <a:t>DSI-fpt</a:t>
            </a:r>
          </a:p>
        </p:txBody>
      </p:sp>
      <p:sp>
        <p:nvSpPr>
          <p:cNvPr id="2" name="">
            <a:extLst xmlns:a="http://schemas.openxmlformats.org/drawingml/2006/main">
              <a:ext uri="{FF2B5EF4-FFF2-40B4-BE49-F238E27FC236}">
                <a16:creationId xmlns:a16="http://schemas.microsoft.com/office/drawing/2014/main" id="{52E18696-105B-4E85-89D4-02A7447F66AB}"/>
              </a:ext>
            </a:extLst>
          </p:cNvPr>
          <p:cNvSpPr>
            <a:spLocks xmlns:a="http://schemas.openxmlformats.org/drawingml/2006/main" noGrp="1"/>
          </p:cNvSpPr>
          <p:nvPr/>
        </p:nvSpPr>
        <p:spPr>
          <a:xfrm xmlns:a="http://schemas.openxmlformats.org/drawingml/2006/main">
            <a:off x="781050" y="285750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FFFFFF"/>
                </a:solidFill>
                <a:latin typeface="Arial"/>
                <a:ea typeface="Arial"/>
                <a:cs typeface="Arial"/>
              </a:defRPr>
            </a:pPr>
            <a:r>
              <a:rPr sz="3150" b="0">
                <a:solidFill>
                  <a:srgbClr val="FFFFFF"/>
                </a:solidFill>
                <a:latin typeface="Arial"/>
                <a:ea typeface="Arial"/>
                <a:cs typeface="Arial"/>
              </a:rPr>
              <a:t>Corrections et contrôles de coactivation</a:t>
            </a:r>
          </a:p>
        </p:txBody>
      </p:sp>
      <p:sp>
        <p:nvSpPr>
          <p:cNvPr id="3" name="">
            <a:extLst xmlns:a="http://schemas.openxmlformats.org/drawingml/2006/main">
              <a:ext uri="{FF2B5EF4-FFF2-40B4-BE49-F238E27FC236}">
                <a16:creationId xmlns:a16="http://schemas.microsoft.com/office/drawing/2014/main" id="{61F76213-5DDE-4572-8074-8655BEC366C5}"/>
              </a:ext>
            </a:extLst>
          </p:cNvPr>
          <p:cNvSpPr>
            <a:spLocks xmlns:a="http://schemas.openxmlformats.org/drawingml/2006/main" noGrp="1"/>
          </p:cNvSpPr>
          <p:nvPr/>
        </p:nvSpPr>
        <p:spPr>
          <a:xfrm xmlns:a="http://schemas.openxmlformats.org/drawingml/2006/main">
            <a:off x="781050" y="41338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C5D9E2"/>
                </a:solidFill>
                <a:latin typeface="Arial"/>
                <a:ea typeface="Arial"/>
                <a:cs typeface="Arial"/>
              </a:defRPr>
            </a:pPr>
            <a:r>
              <a:rPr sz="2100" b="0">
                <a:solidFill>
                  <a:srgbClr val="C5D9E2"/>
                </a:solidFill>
                <a:latin typeface="Arial"/>
                <a:ea typeface="Arial"/>
                <a:cs typeface="Arial"/>
              </a:rPr>
              <a:t>Collectivités territoriales, 9 octobre 2026</a:t>
            </a:r>
          </a:p>
        </p:txBody>
      </p:sp>
      <p:sp>
        <p:nvSpPr>
          <p:cNvPr id="4" name="">
            <a:extLst xmlns:a="http://schemas.openxmlformats.org/drawingml/2006/main">
              <a:ext uri="{FF2B5EF4-FFF2-40B4-BE49-F238E27FC236}">
                <a16:creationId xmlns:a16="http://schemas.microsoft.com/office/drawing/2014/main" id="{D111A41C-64C3-41CC-BECE-5430C3EF9C72}"/>
              </a:ext>
            </a:extLst>
          </p:cNvPr>
          <p:cNvSpPr>
            <a:spLocks xmlns:a="http://schemas.openxmlformats.org/drawingml/2006/main" noGrp="1"/>
          </p:cNvSpPr>
          <p:nvPr/>
        </p:nvSpPr>
        <p:spPr>
          <a:xfrm xmlns:a="http://schemas.openxmlformats.org/drawingml/2006/main">
            <a:off x="781050" y="483870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EFD49D"/>
                </a:solidFill>
                <a:latin typeface="Arial"/>
                <a:ea typeface="Arial"/>
                <a:cs typeface="Arial"/>
              </a:defRPr>
            </a:pPr>
            <a:r>
              <a:rPr sz="2250" b="0">
                <a:solidFill>
                  <a:srgbClr val="EFD49D"/>
                </a:solidFill>
                <a:latin typeface="Arial"/>
                <a:ea typeface="Arial"/>
                <a:cs typeface="Arial"/>
              </a:rPr>
              <a:t>Dev.7 : trois cas jugés, reprise encore bloquée</a:t>
            </a:r>
          </a:p>
        </p:txBody>
      </p:sp>
    </p:spTree>
    <p:extLst>
      <p:ext uri="{BB962C8B-B14F-4D97-AF65-F5344CB8AC3E}">
        <p14:creationId xmlns:p14="http://schemas.microsoft.com/office/powerpoint/2010/main" val="5472100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3BAA5E-D97C-4490-A32F-EF74A5730741}"/>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Périmètre de la fonction SI</a:t>
            </a:r>
          </a:p>
        </p:txBody>
      </p:sp>
      <p:sp>
        <p:nvSpPr>
          <p:cNvPr id="2" name="">
            <a:extLst xmlns:a="http://schemas.openxmlformats.org/drawingml/2006/main">
              <a:ext uri="{FF2B5EF4-FFF2-40B4-BE49-F238E27FC236}">
                <a16:creationId xmlns:a16="http://schemas.microsoft.com/office/drawing/2014/main" id="{A9652F18-BC94-4C06-9782-A26605F095FD}"/>
              </a:ext>
            </a:extLst>
          </p:cNvPr>
          <p:cNvSpPr>
            <a:spLocks xmlns:a="http://schemas.openxmlformats.org/drawingml/2006/main" noGrp="1"/>
          </p:cNvSpPr>
          <p:nvPr/>
        </p:nvSpPr>
        <p:spPr>
          <a:xfrm xmlns:a="http://schemas.openxmlformats.org/drawingml/2006/main">
            <a:off x="723900" y="15621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Cadrer le besoin et les responsabilités, en informatique interne, mutualisée ou externalisée.</a:t>
            </a:r>
          </a:p>
        </p:txBody>
      </p:sp>
      <p:sp>
        <p:nvSpPr>
          <p:cNvPr id="3" name="">
            <a:extLst xmlns:a="http://schemas.openxmlformats.org/drawingml/2006/main">
              <a:ext uri="{FF2B5EF4-FFF2-40B4-BE49-F238E27FC236}">
                <a16:creationId xmlns:a16="http://schemas.microsoft.com/office/drawing/2014/main" id="{271EBF96-3B98-40E3-BB6F-CA276EAD4526}"/>
              </a:ext>
            </a:extLst>
          </p:cNvPr>
          <p:cNvSpPr>
            <a:spLocks xmlns:a="http://schemas.openxmlformats.org/drawingml/2006/main" noGrp="1"/>
          </p:cNvSpPr>
          <p:nvPr/>
        </p:nvSpPr>
        <p:spPr>
          <a:xfrm xmlns:a="http://schemas.openxmlformats.org/drawingml/2006/main">
            <a:off x="723900" y="26289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Gouvernance, sécurité, continuité, infrastructures, hébergement et applications métiers.</a:t>
            </a:r>
          </a:p>
        </p:txBody>
      </p:sp>
      <p:sp>
        <p:nvSpPr>
          <p:cNvPr id="4" name="">
            <a:extLst xmlns:a="http://schemas.openxmlformats.org/drawingml/2006/main">
              <a:ext uri="{FF2B5EF4-FFF2-40B4-BE49-F238E27FC236}">
                <a16:creationId xmlns:a16="http://schemas.microsoft.com/office/drawing/2014/main" id="{77911F68-FB50-4030-81CF-456B68985563}"/>
              </a:ext>
            </a:extLst>
          </p:cNvPr>
          <p:cNvSpPr>
            <a:spLocks xmlns:a="http://schemas.openxmlformats.org/drawingml/2006/main" noGrp="1"/>
          </p:cNvSpPr>
          <p:nvPr/>
        </p:nvSpPr>
        <p:spPr>
          <a:xfrm xmlns:a="http://schemas.openxmlformats.org/drawingml/2006/main">
            <a:off x="723900" y="36957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Téléservices, accessibilité, IA, exécution des contrats et réversibilité technique.</a:t>
            </a:r>
          </a:p>
        </p:txBody>
      </p:sp>
      <p:sp>
        <p:nvSpPr>
          <p:cNvPr id="5" name="">
            <a:extLst xmlns:a="http://schemas.openxmlformats.org/drawingml/2006/main">
              <a:ext uri="{FF2B5EF4-FFF2-40B4-BE49-F238E27FC236}">
                <a16:creationId xmlns:a16="http://schemas.microsoft.com/office/drawing/2014/main" id="{4FF599E0-D0C9-49E8-A3E6-20FBEF54B697}"/>
              </a:ext>
            </a:extLst>
          </p:cNvPr>
          <p:cNvSpPr>
            <a:spLocks xmlns:a="http://schemas.openxmlformats.org/drawingml/2006/main" noGrp="1"/>
          </p:cNvSpPr>
          <p:nvPr/>
        </p:nvSpPr>
        <p:spPr>
          <a:xfrm xmlns:a="http://schemas.openxmlformats.org/drawingml/2006/main">
            <a:off x="723900" y="47625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Livrables : fiche projet, rapport d’incident, cahier des charges technique, charte et note d’homologation.</a:t>
            </a:r>
          </a:p>
        </p:txBody>
      </p:sp>
    </p:spTree>
    <p:extLst>
      <p:ext uri="{BB962C8B-B14F-4D97-AF65-F5344CB8AC3E}">
        <p14:creationId xmlns:p14="http://schemas.microsoft.com/office/powerpoint/2010/main" val="11086350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A234660A-3F44-4C11-B82A-1E57E495414A}"/>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Responsabilités partagées</a:t>
            </a:r>
          </a:p>
        </p:txBody>
      </p:sp>
      <p:graphicFrame>
        <p:nvGraphicFramePr>
          <p:cNvPr id="6" name="">
            <a:extLst xmlns:a="http://schemas.openxmlformats.org/drawingml/2006/main">
              <a:ext uri="{FF2B5EF4-FFF2-40B4-BE49-F238E27FC236}">
                <a16:creationId xmlns:a16="http://schemas.microsoft.com/office/drawing/2014/main" id="{EF4BF57E-F457-4E0A-B03C-66142E152763}"/>
              </a:ext>
            </a:extLst>
          </p:cNvPr>
          <p:cNvGraphicFramePr/>
          <p:nvPr/>
        </p:nvGraphicFramePr>
        <p:xfrm>
          <a:off xmlns:a="http://schemas.openxmlformats.org/drawingml/2006/main" x="723900" y="1581150"/>
          <a:ext xmlns:a="http://schemas.openxmlformats.org/drawingml/2006/main" cx="10744200" cy="4286250"/>
        </p:xfrm>
        <a:graphic xmlns:a="http://schemas.openxmlformats.org/drawingml/2006/main">
          <a:graphicData uri="http://schemas.openxmlformats.org/drawingml/2006/table">
            <a:tbl>
              <a:tblPr/>
              <a:tblGrid>
                <a:gridCol w="3333750"/>
                <a:gridCol w="7410450"/>
              </a:tblGrid>
              <a:tr h="0">
                <a:tc>
                  <a:txBody>
                    <a:bodyPr/>
                    <a:lstStyle/>
                    <a:p>
                      <a:r>
                        <a:rPr sz="1800" b="1">
                          <a:solidFill>
                            <a:srgbClr val="FFFFFF"/>
                          </a:solidFill>
                          <a:latin typeface="Arial"/>
                          <a:ea typeface="Arial"/>
                          <a:cs typeface="Arial"/>
                        </a:rPr>
                        <a:t>Rôle</a:t>
                      </a:r>
                    </a:p>
                  </a:txBody>
                  <a:tcPr marL="152400" marR="152400" marT="57150" marB="57150">
                    <a:solidFill>
                      <a:srgbClr val="112B40"/>
                    </a:solidFill>
                  </a:tcPr>
                </a:tc>
                <a:tc>
                  <a:txBody>
                    <a:bodyPr/>
                    <a:lstStyle/>
                    <a:p>
                      <a:r>
                        <a:rPr sz="1800" b="1">
                          <a:solidFill>
                            <a:srgbClr val="FFFFFF"/>
                          </a:solidFill>
                          <a:latin typeface="Arial"/>
                          <a:ea typeface="Arial"/>
                          <a:cs typeface="Arial"/>
                        </a:rPr>
                        <a:t>Volet à instruire</a:t>
                      </a:r>
                    </a:p>
                  </a:txBody>
                  <a:tcPr marL="152400" marR="152400" marT="57150" marB="57150">
                    <a:solidFill>
                      <a:srgbClr val="112B40"/>
                    </a:solidFill>
                  </a:tcPr>
                </a:tc>
              </a:tr>
              <a:tr h="612321">
                <a:tc>
                  <a:txBody>
                    <a:bodyPr/>
                    <a:lstStyle/>
                    <a:p>
                      <a:r>
                        <a:rPr sz="1800">
                          <a:solidFill>
                            <a:srgbClr val="1B3547"/>
                          </a:solidFill>
                          <a:latin typeface="Arial"/>
                          <a:ea typeface="Arial"/>
                          <a:cs typeface="Arial"/>
                        </a:rPr>
                        <a:t>DSI / RSSI</a:t>
                      </a:r>
                    </a:p>
                  </a:txBody>
                  <a:tcPr marL="152400" marR="152400" marT="57150" marB="57150"/>
                </a:tc>
                <a:tc>
                  <a:txBody>
                    <a:bodyPr/>
                    <a:lstStyle/>
                    <a:p>
                      <a:r>
                        <a:rPr sz="1800">
                          <a:solidFill>
                            <a:srgbClr val="1B3547"/>
                          </a:solidFill>
                          <a:latin typeface="Arial"/>
                          <a:ea typeface="Arial"/>
                          <a:cs typeface="Arial"/>
                        </a:rPr>
                        <a:t>Besoins, mesures techniques et continuité</a:t>
                      </a:r>
                    </a:p>
                  </a:txBody>
                  <a:tcPr marL="152400" marR="152400" marT="57150" marB="57150"/>
                </a:tc>
              </a:tr>
              <a:tr h="612321">
                <a:tc>
                  <a:txBody>
                    <a:bodyPr/>
                    <a:lstStyle/>
                    <a:p>
                      <a:r>
                        <a:rPr sz="1800">
                          <a:solidFill>
                            <a:srgbClr val="1B3547"/>
                          </a:solidFill>
                          <a:latin typeface="Arial"/>
                          <a:ea typeface="Arial"/>
                          <a:cs typeface="Arial"/>
                        </a:rPr>
                        <a:t>DPO</a:t>
                      </a:r>
                    </a:p>
                  </a:txBody>
                  <a:tcPr marL="152400" marR="152400" marT="57150" marB="57150"/>
                </a:tc>
                <a:tc>
                  <a:txBody>
                    <a:bodyPr/>
                    <a:lstStyle/>
                    <a:p>
                      <a:r>
                        <a:rPr sz="1800">
                          <a:solidFill>
                            <a:srgbClr val="1B3547"/>
                          </a:solidFill>
                          <a:latin typeface="Arial"/>
                          <a:ea typeface="Arial"/>
                          <a:cs typeface="Arial"/>
                        </a:rPr>
                        <a:t>Qualification RGPD et risques pour les personnes</a:t>
                      </a:r>
                    </a:p>
                  </a:txBody>
                  <a:tcPr marL="152400" marR="152400" marT="57150" marB="57150"/>
                </a:tc>
              </a:tr>
              <a:tr h="612321">
                <a:tc>
                  <a:txBody>
                    <a:bodyPr/>
                    <a:lstStyle/>
                    <a:p>
                      <a:r>
                        <a:rPr sz="1800">
                          <a:solidFill>
                            <a:srgbClr val="1B3547"/>
                          </a:solidFill>
                          <a:latin typeface="Arial"/>
                          <a:ea typeface="Arial"/>
                          <a:cs typeface="Arial"/>
                        </a:rPr>
                        <a:t>DRH</a:t>
                      </a:r>
                    </a:p>
                  </a:txBody>
                  <a:tcPr marL="152400" marR="152400" marT="57150" marB="57150"/>
                </a:tc>
                <a:tc>
                  <a:txBody>
                    <a:bodyPr/>
                    <a:lstStyle/>
                    <a:p>
                      <a:r>
                        <a:rPr sz="1800">
                          <a:solidFill>
                            <a:srgbClr val="1B3547"/>
                          </a:solidFill>
                          <a:latin typeface="Arial"/>
                          <a:ea typeface="Arial"/>
                          <a:cs typeface="Arial"/>
                        </a:rPr>
                        <a:t>Fonctions et conséquences statutaires</a:t>
                      </a:r>
                    </a:p>
                  </a:txBody>
                  <a:tcPr marL="152400" marR="152400" marT="57150" marB="57150"/>
                </a:tc>
              </a:tr>
              <a:tr h="612321">
                <a:tc>
                  <a:txBody>
                    <a:bodyPr/>
                    <a:lstStyle/>
                    <a:p>
                      <a:r>
                        <a:rPr sz="1800">
                          <a:solidFill>
                            <a:srgbClr val="1B3547"/>
                          </a:solidFill>
                          <a:latin typeface="Arial"/>
                          <a:ea typeface="Arial"/>
                          <a:cs typeface="Arial"/>
                        </a:rPr>
                        <a:t>Police municipale</a:t>
                      </a:r>
                    </a:p>
                  </a:txBody>
                  <a:tcPr marL="152400" marR="152400" marT="57150" marB="57150"/>
                </a:tc>
                <a:tc>
                  <a:txBody>
                    <a:bodyPr/>
                    <a:lstStyle/>
                    <a:p>
                      <a:r>
                        <a:rPr sz="1800">
                          <a:solidFill>
                            <a:srgbClr val="1B3547"/>
                          </a:solidFill>
                          <a:latin typeface="Arial"/>
                          <a:ea typeface="Arial"/>
                          <a:cs typeface="Arial"/>
                        </a:rPr>
                        <a:t>Doctrine et autorisations de vidéoprotection</a:t>
                      </a:r>
                    </a:p>
                  </a:txBody>
                  <a:tcPr marL="152400" marR="152400" marT="57150" marB="57150"/>
                </a:tc>
              </a:tr>
              <a:tr h="612321">
                <a:tc>
                  <a:txBody>
                    <a:bodyPr/>
                    <a:lstStyle/>
                    <a:p>
                      <a:r>
                        <a:rPr sz="1800">
                          <a:solidFill>
                            <a:srgbClr val="1B3547"/>
                          </a:solidFill>
                          <a:latin typeface="Arial"/>
                          <a:ea typeface="Arial"/>
                          <a:cs typeface="Arial"/>
                        </a:rPr>
                        <a:t>Direction des finances</a:t>
                      </a:r>
                    </a:p>
                  </a:txBody>
                  <a:tcPr marL="152400" marR="152400" marT="57150" marB="57150"/>
                </a:tc>
                <a:tc>
                  <a:txBody>
                    <a:bodyPr/>
                    <a:lstStyle/>
                    <a:p>
                      <a:r>
                        <a:rPr sz="1800">
                          <a:solidFill>
                            <a:srgbClr val="1B3547"/>
                          </a:solidFill>
                          <a:latin typeface="Arial"/>
                          <a:ea typeface="Arial"/>
                          <a:cs typeface="Arial"/>
                        </a:rPr>
                        <a:t>Arbitrage et qualification budgétaire</a:t>
                      </a:r>
                    </a:p>
                  </a:txBody>
                  <a:tcPr marL="152400" marR="152400" marT="57150" marB="57150"/>
                </a:tc>
              </a:tr>
              <a:tr h="612321">
                <a:tc>
                  <a:txBody>
                    <a:bodyPr/>
                    <a:lstStyle/>
                    <a:p>
                      <a:r>
                        <a:rPr sz="1800">
                          <a:solidFill>
                            <a:srgbClr val="1B3547"/>
                          </a:solidFill>
                          <a:latin typeface="Arial"/>
                          <a:ea typeface="Arial"/>
                          <a:cs typeface="Arial"/>
                        </a:rPr>
                        <a:t>Recherche juridique</a:t>
                      </a:r>
                    </a:p>
                  </a:txBody>
                  <a:tcPr marL="152400" marR="152400" marT="57150" marB="57150"/>
                </a:tc>
                <a:tc>
                  <a:txBody>
                    <a:bodyPr/>
                    <a:lstStyle/>
                    <a:p>
                      <a:r>
                        <a:rPr sz="1800">
                          <a:solidFill>
                            <a:srgbClr val="1B3547"/>
                          </a:solidFill>
                          <a:latin typeface="Arial"/>
                          <a:ea typeface="Arial"/>
                          <a:cs typeface="Arial"/>
                        </a:rPr>
                        <a:t>Sources officielles, vigueur et applicabilité</a:t>
                      </a:r>
                    </a:p>
                  </a:txBody>
                  <a:tcPr marL="152400" marR="152400" marT="57150" marB="57150"/>
                </a:tc>
              </a:tr>
            </a:tbl>
          </a:graphicData>
        </a:graphic>
      </p:graphicFrame>
    </p:spTree>
    <p:extLst>
      <p:ext uri="{BB962C8B-B14F-4D97-AF65-F5344CB8AC3E}">
        <p14:creationId xmlns:p14="http://schemas.microsoft.com/office/powerpoint/2010/main" val="15375670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D8F674-999F-4999-83B3-0E5947F1175F}"/>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Mesure DSI autonome</a:t>
            </a:r>
          </a:p>
        </p:txBody>
      </p:sp>
      <p:graphicFrame>
        <p:nvGraphicFramePr>
          <p:cNvPr id="8" name="Chart">
            <a:extLst xmlns:a="http://schemas.openxmlformats.org/drawingml/2006/main">
              <a:ext uri="{FF2B5EF4-FFF2-40B4-BE49-F238E27FC236}">
                <a16:creationId xmlns:a16="http://schemas.microsoft.com/office/drawing/2014/main" id="{4148B451-3511-4B02-A186-9B3F90F8C188}"/>
              </a:ext>
            </a:extLst>
          </p:cNvPr>
          <p:cNvGraphicFramePr/>
          <p:nvPr/>
        </p:nvGraphicFramePr>
        <p:xfrm>
          <a:off xmlns:a="http://schemas.openxmlformats.org/drawingml/2006/main" x="781050" y="1657350"/>
          <a:ext xmlns:a="http://schemas.openxmlformats.org/drawingml/2006/main" cx="7143750" cy="3562350"/>
        </p:xfrm>
        <a:graphic xmlns:a="http://schemas.openxmlformats.org/drawingml/2006/main">
          <a:graphicData uri="http://schemas.openxmlformats.org/drawingml/2006/chart">
            <c:chart xmlns:r="http://schemas.openxmlformats.org/officeDocument/2006/relationships" xmlns:c="http://schemas.openxmlformats.org/drawingml/2006/chart" r:id="R3cf9fa8f4ca74359"/>
          </a:graphicData>
        </a:graphic>
      </p:graphicFrame>
      <p:sp>
        <p:nvSpPr>
          <p:cNvPr id="3" name="">
            <a:extLst xmlns:a="http://schemas.openxmlformats.org/drawingml/2006/main">
              <a:ext uri="{FF2B5EF4-FFF2-40B4-BE49-F238E27FC236}">
                <a16:creationId xmlns:a16="http://schemas.microsoft.com/office/drawing/2014/main" id="{E2E9B84F-7DD2-4215-9CAC-9A3C2642F736}"/>
              </a:ext>
            </a:extLst>
          </p:cNvPr>
          <p:cNvSpPr>
            <a:spLocks xmlns:a="http://schemas.openxmlformats.org/drawingml/2006/main" noGrp="1"/>
          </p:cNvSpPr>
          <p:nvPr/>
        </p:nvSpPr>
        <p:spPr>
          <a:xfrm xmlns:a="http://schemas.openxmlformats.org/drawingml/2006/main">
            <a:off x="8420100" y="2047875"/>
            <a:ext cx="29718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12B40"/>
                </a:solidFill>
                <a:latin typeface="Arial"/>
                <a:ea typeface="Arial"/>
                <a:cs typeface="Arial"/>
              </a:defRPr>
            </a:pPr>
            <a:r>
              <a:rPr sz="2400" b="1">
                <a:solidFill>
                  <a:srgbClr val="112B40"/>
                </a:solidFill>
                <a:latin typeface="Arial"/>
                <a:ea typeface="Arial"/>
                <a:cs typeface="Arial"/>
              </a:rPr>
              <a:t>28 cas réussis</a:t>
            </a:r>
          </a:p>
          <a:p xmlns:a="http://schemas.openxmlformats.org/drawingml/2006/main">
            <a:pPr>
              <a:buNone/>
              <a:defRPr sz="2400" b="1">
                <a:solidFill>
                  <a:srgbClr val="112B40"/>
                </a:solidFill>
                <a:latin typeface="Arial"/>
                <a:ea typeface="Arial"/>
                <a:cs typeface="Arial"/>
              </a:defRPr>
            </a:pPr>
            <a:r>
              <a:rPr sz="2400" b="1">
                <a:solidFill>
                  <a:srgbClr val="112B40"/>
                </a:solidFill>
                <a:latin typeface="Arial"/>
                <a:ea typeface="Arial"/>
                <a:cs typeface="Arial"/>
              </a:rPr>
              <a:t>56 rôles retenus</a:t>
            </a:r>
          </a:p>
          <a:p xmlns:a="http://schemas.openxmlformats.org/drawingml/2006/main">
            <a:pPr>
              <a:buNone/>
              <a:defRPr sz="2400" b="1">
                <a:solidFill>
                  <a:srgbClr val="112B40"/>
                </a:solidFill>
                <a:latin typeface="Arial"/>
                <a:ea typeface="Arial"/>
                <a:cs typeface="Arial"/>
              </a:defRPr>
            </a:pPr>
            <a:r>
              <a:rPr sz="2400" b="1">
                <a:solidFill>
                  <a:srgbClr val="112B40"/>
                </a:solidFill>
                <a:latin typeface="Arial"/>
                <a:ea typeface="Arial"/>
                <a:cs typeface="Arial"/>
              </a:rPr>
              <a:t>8 critiques réussis</a:t>
            </a:r>
          </a:p>
        </p:txBody>
      </p:sp>
      <p:sp>
        <p:nvSpPr>
          <p:cNvPr id="4" name="">
            <a:extLst xmlns:a="http://schemas.openxmlformats.org/drawingml/2006/main">
              <a:ext uri="{FF2B5EF4-FFF2-40B4-BE49-F238E27FC236}">
                <a16:creationId xmlns:a16="http://schemas.microsoft.com/office/drawing/2014/main" id="{5CBE5592-5ABA-4FCB-8EF8-00A786871C4E}"/>
              </a:ext>
            </a:extLst>
          </p:cNvPr>
          <p:cNvSpPr>
            <a:spLocks xmlns:a="http://schemas.openxmlformats.org/drawingml/2006/main" noGrp="1"/>
          </p:cNvSpPr>
          <p:nvPr/>
        </p:nvSpPr>
        <p:spPr>
          <a:xfrm xmlns:a="http://schemas.openxmlformats.org/drawingml/2006/main">
            <a:off x="781050" y="55911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B3547"/>
                </a:solidFill>
                <a:latin typeface="Arial"/>
                <a:ea typeface="Arial"/>
                <a:cs typeface="Arial"/>
              </a:defRPr>
            </a:pPr>
            <a:r>
              <a:rPr sz="2100" b="0">
                <a:solidFill>
                  <a:srgbClr val="1B3547"/>
                </a:solidFill>
                <a:latin typeface="Arial"/>
                <a:ea typeface="Arial"/>
                <a:cs typeface="Arial"/>
              </a:rPr>
              <a:t>Source 704e5dd mesurée. Revue DSI/RSSI et qualification du plugin encore ouvertes.</a:t>
            </a:r>
          </a:p>
        </p:txBody>
      </p:sp>
    </p:spTree>
    <p:extLst>
      <p:ext uri="{BB962C8B-B14F-4D97-AF65-F5344CB8AC3E}">
        <p14:creationId xmlns:p14="http://schemas.microsoft.com/office/powerpoint/2010/main" val="18129620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CAAC88-D6DB-46D8-8174-F2B9AE31B973}"/>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Corrections de la mesure autonome</a:t>
            </a:r>
          </a:p>
        </p:txBody>
      </p:sp>
      <p:sp>
        <p:nvSpPr>
          <p:cNvPr id="2" name="">
            <a:extLst xmlns:a="http://schemas.openxmlformats.org/drawingml/2006/main">
              <a:ext uri="{FF2B5EF4-FFF2-40B4-BE49-F238E27FC236}">
                <a16:creationId xmlns:a16="http://schemas.microsoft.com/office/drawing/2014/main" id="{45996A96-FC70-4787-99B4-3A26BBA30C6D}"/>
              </a:ext>
            </a:extLst>
          </p:cNvPr>
          <p:cNvSpPr>
            <a:spLocks xmlns:a="http://schemas.openxmlformats.org/drawingml/2006/main" noGrp="1"/>
          </p:cNvSpPr>
          <p:nvPr/>
        </p:nvSpPr>
        <p:spPr>
          <a:xfrm xmlns:a="http://schemas.openxmlformats.org/drawingml/2006/main">
            <a:off x="723900" y="1619250"/>
            <a:ext cx="10744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76E78"/>
                </a:solidFill>
                <a:latin typeface="Arial"/>
                <a:ea typeface="Arial"/>
                <a:cs typeface="Arial"/>
              </a:defRPr>
            </a:pPr>
            <a:r>
              <a:rPr sz="2400" b="1">
                <a:solidFill>
                  <a:srgbClr val="176E78"/>
                </a:solidFill>
                <a:latin typeface="Arial"/>
                <a:ea typeface="Arial"/>
                <a:cs typeface="Arial"/>
              </a:rPr>
              <a:t>Cas 10 — réversibilité contractuelle</a:t>
            </a:r>
          </a:p>
        </p:txBody>
      </p:sp>
      <p:sp>
        <p:nvSpPr>
          <p:cNvPr id="3" name="">
            <a:extLst xmlns:a="http://schemas.openxmlformats.org/drawingml/2006/main">
              <a:ext uri="{FF2B5EF4-FFF2-40B4-BE49-F238E27FC236}">
                <a16:creationId xmlns:a16="http://schemas.microsoft.com/office/drawing/2014/main" id="{970E3549-BBE8-4DF3-A822-1D6F0ED6DCF6}"/>
              </a:ext>
            </a:extLst>
          </p:cNvPr>
          <p:cNvSpPr>
            <a:spLocks xmlns:a="http://schemas.openxmlformats.org/drawingml/2006/main" noGrp="1"/>
          </p:cNvSpPr>
          <p:nvPr/>
        </p:nvSpPr>
        <p:spPr>
          <a:xfrm xmlns:a="http://schemas.openxmlformats.org/drawingml/2006/main">
            <a:off x="723900" y="2228850"/>
            <a:ext cx="10744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Bascule vers le rôle compétent et abstention sans source. Le cas 10 réussit sur le candidat corrigé.</a:t>
            </a:r>
          </a:p>
        </p:txBody>
      </p:sp>
      <p:sp>
        <p:nvSpPr>
          <p:cNvPr id="4" name="">
            <a:extLst xmlns:a="http://schemas.openxmlformats.org/drawingml/2006/main">
              <a:ext uri="{FF2B5EF4-FFF2-40B4-BE49-F238E27FC236}">
                <a16:creationId xmlns:a16="http://schemas.microsoft.com/office/drawing/2014/main" id="{B35CFCBE-7FEA-4806-92FB-90424BC4F87B}"/>
              </a:ext>
            </a:extLst>
          </p:cNvPr>
          <p:cNvSpPr>
            <a:spLocks xmlns:a="http://schemas.openxmlformats.org/drawingml/2006/main" noGrp="1"/>
          </p:cNvSpPr>
          <p:nvPr/>
        </p:nvSpPr>
        <p:spPr>
          <a:xfrm xmlns:a="http://schemas.openxmlformats.org/drawingml/2006/main">
            <a:off x="723900" y="3724275"/>
            <a:ext cx="10744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76E78"/>
                </a:solidFill>
                <a:latin typeface="Arial"/>
                <a:ea typeface="Arial"/>
                <a:cs typeface="Arial"/>
              </a:defRPr>
            </a:pPr>
            <a:r>
              <a:rPr sz="2400" b="1">
                <a:solidFill>
                  <a:srgbClr val="176E78"/>
                </a:solidFill>
                <a:latin typeface="Arial"/>
                <a:ea typeface="Arial"/>
                <a:cs typeface="Arial"/>
              </a:rPr>
              <a:t>Cas 14 — clôture d’un incident ancien</a:t>
            </a:r>
          </a:p>
        </p:txBody>
      </p:sp>
      <p:sp>
        <p:nvSpPr>
          <p:cNvPr id="5" name="">
            <a:extLst xmlns:a="http://schemas.openxmlformats.org/drawingml/2006/main">
              <a:ext uri="{FF2B5EF4-FFF2-40B4-BE49-F238E27FC236}">
                <a16:creationId xmlns:a16="http://schemas.microsoft.com/office/drawing/2014/main" id="{B1F85975-C1A3-4508-973D-AD0A05584EDF}"/>
              </a:ext>
            </a:extLst>
          </p:cNvPr>
          <p:cNvSpPr>
            <a:spLocks xmlns:a="http://schemas.openxmlformats.org/drawingml/2006/main" noGrp="1"/>
          </p:cNvSpPr>
          <p:nvPr/>
        </p:nvSpPr>
        <p:spPr>
          <a:xfrm xmlns:a="http://schemas.openxmlformats.org/drawingml/2006/main">
            <a:off x="723900" y="4333875"/>
            <a:ext cx="10744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Clôture de l’objet ancien, puis réouverture si un nouvel indice la contredit. Le cas 14 réussit.</a:t>
            </a:r>
          </a:p>
        </p:txBody>
      </p:sp>
      <p:sp>
        <p:nvSpPr>
          <p:cNvPr id="6" name="">
            <a:extLst xmlns:a="http://schemas.openxmlformats.org/drawingml/2006/main">
              <a:ext uri="{FF2B5EF4-FFF2-40B4-BE49-F238E27FC236}">
                <a16:creationId xmlns:a16="http://schemas.microsoft.com/office/drawing/2014/main" id="{3B2FA573-B096-49C1-AF03-DE15317C7E66}"/>
              </a:ext>
            </a:extLst>
          </p:cNvPr>
          <p:cNvSpPr>
            <a:spLocks xmlns:a="http://schemas.openxmlformats.org/drawingml/2006/main" noGrp="1"/>
          </p:cNvSpPr>
          <p:nvPr/>
        </p:nvSpPr>
        <p:spPr>
          <a:xfrm xmlns:a="http://schemas.openxmlformats.org/drawingml/2006/main">
            <a:off x="723900" y="5867400"/>
            <a:ext cx="1074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774"/>
                </a:solidFill>
                <a:latin typeface="Arial"/>
                <a:ea typeface="Arial"/>
                <a:cs typeface="Arial"/>
              </a:defRPr>
            </a:pPr>
            <a:r>
              <a:rPr sz="1875" b="0">
                <a:solidFill>
                  <a:srgbClr val="526774"/>
                </a:solidFill>
                <a:latin typeface="Arial"/>
                <a:ea typeface="Arial"/>
                <a:cs typeface="Arial"/>
              </a:rPr>
              <a:t>Les anciennes mesures restent conservées. Le cache est exclu du paquet autonome.</a:t>
            </a:r>
          </a:p>
        </p:txBody>
      </p:sp>
    </p:spTree>
    <p:extLst>
      <p:ext uri="{BB962C8B-B14F-4D97-AF65-F5344CB8AC3E}">
        <p14:creationId xmlns:p14="http://schemas.microsoft.com/office/powerpoint/2010/main" val="12633320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8C7C5E4-4424-414A-8DF8-6BD50B0D280A}"/>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Coactivation du candidat à six skills</a:t>
            </a:r>
          </a:p>
        </p:txBody>
      </p:sp>
      <p:graphicFrame>
        <p:nvGraphicFramePr>
          <p:cNvPr id="7" name="">
            <a:extLst xmlns:a="http://schemas.openxmlformats.org/drawingml/2006/main">
              <a:ext uri="{FF2B5EF4-FFF2-40B4-BE49-F238E27FC236}">
                <a16:creationId xmlns:a16="http://schemas.microsoft.com/office/drawing/2014/main" id="{7208C22F-FC96-410F-8F18-48DBC499EEA3}"/>
              </a:ext>
            </a:extLst>
          </p:cNvPr>
          <p:cNvGraphicFramePr/>
          <p:nvPr/>
        </p:nvGraphicFramePr>
        <p:xfrm>
          <a:off xmlns:a="http://schemas.openxmlformats.org/drawingml/2006/main" x="723900" y="1581150"/>
          <a:ext xmlns:a="http://schemas.openxmlformats.org/drawingml/2006/main" cx="10744200" cy="4191000"/>
        </p:xfrm>
        <a:graphic xmlns:a="http://schemas.openxmlformats.org/drawingml/2006/main">
          <a:graphicData uri="http://schemas.openxmlformats.org/drawingml/2006/table">
            <a:tbl>
              <a:tblPr/>
              <a:tblGrid>
                <a:gridCol w="4667250"/>
                <a:gridCol w="6076950"/>
              </a:tblGrid>
              <a:tr h="0">
                <a:tc>
                  <a:txBody>
                    <a:bodyPr/>
                    <a:lstStyle/>
                    <a:p>
                      <a:r>
                        <a:rPr sz="1800" b="1">
                          <a:solidFill>
                            <a:srgbClr val="FFFFFF"/>
                          </a:solidFill>
                          <a:latin typeface="Arial"/>
                          <a:ea typeface="Arial"/>
                          <a:cs typeface="Arial"/>
                        </a:rPr>
                        <a:t>Contrôle</a:t>
                      </a:r>
                    </a:p>
                  </a:txBody>
                  <a:tcPr marL="152400" marR="152400" marT="57150" marB="57150">
                    <a:solidFill>
                      <a:srgbClr val="112B40"/>
                    </a:solidFill>
                  </a:tcPr>
                </a:tc>
                <a:tc>
                  <a:txBody>
                    <a:bodyPr/>
                    <a:lstStyle/>
                    <a:p>
                      <a:r>
                        <a:rPr sz="1800" b="1">
                          <a:solidFill>
                            <a:srgbClr val="FFFFFF"/>
                          </a:solidFill>
                          <a:latin typeface="Arial"/>
                          <a:ea typeface="Arial"/>
                          <a:cs typeface="Arial"/>
                        </a:rPr>
                        <a:t>État et portée</a:t>
                      </a:r>
                    </a:p>
                  </a:txBody>
                  <a:tcPr marL="152400" marR="152400" marT="57150" marB="57150">
                    <a:solidFill>
                      <a:srgbClr val="112B40"/>
                    </a:solidFill>
                  </a:tcPr>
                </a:tc>
              </a:tr>
              <a:tr h="698500">
                <a:tc>
                  <a:txBody>
                    <a:bodyPr/>
                    <a:lstStyle/>
                    <a:p>
                      <a:r>
                        <a:rPr sz="1800">
                          <a:solidFill>
                            <a:srgbClr val="1B3547"/>
                          </a:solidFill>
                          <a:latin typeface="Arial"/>
                          <a:ea typeface="Arial"/>
                          <a:cs typeface="Arial"/>
                        </a:rPr>
                        <a:t>Composition</a:t>
                      </a:r>
                    </a:p>
                  </a:txBody>
                  <a:tcPr marL="152400" marR="152400" marT="57150" marB="57150"/>
                </a:tc>
                <a:tc>
                  <a:txBody>
                    <a:bodyPr/>
                    <a:lstStyle/>
                    <a:p>
                      <a:r>
                        <a:rPr sz="1800">
                          <a:solidFill>
                            <a:srgbClr val="1B3547"/>
                          </a:solidFill>
                          <a:latin typeface="Arial"/>
                          <a:ea typeface="Arial"/>
                          <a:cs typeface="Arial"/>
                        </a:rPr>
                        <a:t>Six skills, 166 fichiers runtime</a:t>
                      </a:r>
                    </a:p>
                  </a:txBody>
                  <a:tcPr marL="152400" marR="152400" marT="57150" marB="57150"/>
                </a:tc>
              </a:tr>
              <a:tr h="698500">
                <a:tc>
                  <a:txBody>
                    <a:bodyPr/>
                    <a:lstStyle/>
                    <a:p>
                      <a:r>
                        <a:rPr sz="1800">
                          <a:solidFill>
                            <a:srgbClr val="1B3547"/>
                          </a:solidFill>
                          <a:latin typeface="Arial"/>
                          <a:ea typeface="Arial"/>
                          <a:cs typeface="Arial"/>
                        </a:rPr>
                        <a:t>Dev.5 historique</a:t>
                      </a:r>
                    </a:p>
                  </a:txBody>
                  <a:tcPr marL="152400" marR="152400" marT="57150" marB="57150"/>
                </a:tc>
                <a:tc>
                  <a:txBody>
                    <a:bodyPr/>
                    <a:lstStyle/>
                    <a:p>
                      <a:r>
                        <a:rPr sz="1800">
                          <a:solidFill>
                            <a:srgbClr val="1B3547"/>
                          </a:solidFill>
                          <a:latin typeface="Arial"/>
                          <a:ea typeface="Arial"/>
                          <a:cs typeface="Arial"/>
                        </a:rPr>
                        <a:t>16 cas : 4 réussites, 6 échecs, 6 bloqués</a:t>
                      </a:r>
                    </a:p>
                  </a:txBody>
                  <a:tcPr marL="152400" marR="152400" marT="57150" marB="57150"/>
                </a:tc>
              </a:tr>
              <a:tr h="698500">
                <a:tc>
                  <a:txBody>
                    <a:bodyPr/>
                    <a:lstStyle/>
                    <a:p>
                      <a:r>
                        <a:rPr sz="1800">
                          <a:solidFill>
                            <a:srgbClr val="1B3547"/>
                          </a:solidFill>
                          <a:latin typeface="Arial"/>
                          <a:ea typeface="Arial"/>
                          <a:cs typeface="Arial"/>
                        </a:rPr>
                        <a:t>Dev.6, pilote partiel</a:t>
                      </a:r>
                    </a:p>
                  </a:txBody>
                  <a:tcPr marL="152400" marR="152400" marT="57150" marB="57150"/>
                </a:tc>
                <a:tc>
                  <a:txBody>
                    <a:bodyPr/>
                    <a:lstStyle/>
                    <a:p>
                      <a:r>
                        <a:rPr sz="1800">
                          <a:solidFill>
                            <a:srgbClr val="1B3547"/>
                          </a:solidFill>
                          <a:latin typeface="Arial"/>
                          <a:ea typeface="Arial"/>
                          <a:cs typeface="Arial"/>
                        </a:rPr>
                        <a:t>5 cas jugés : 1 réussite, 1 échec, 3 bloqués</a:t>
                      </a:r>
                    </a:p>
                  </a:txBody>
                  <a:tcPr marL="152400" marR="152400" marT="57150" marB="57150"/>
                </a:tc>
              </a:tr>
              <a:tr h="698500">
                <a:tc>
                  <a:txBody>
                    <a:bodyPr/>
                    <a:lstStyle/>
                    <a:p>
                      <a:r>
                        <a:rPr sz="1800">
                          <a:solidFill>
                            <a:srgbClr val="1B3547"/>
                          </a:solidFill>
                          <a:latin typeface="Arial"/>
                          <a:ea typeface="Arial"/>
                          <a:cs typeface="Arial"/>
                        </a:rPr>
                        <a:t>Dev.6, smoke CLI</a:t>
                      </a:r>
                    </a:p>
                  </a:txBody>
                  <a:tcPr marL="152400" marR="152400" marT="57150" marB="57150"/>
                </a:tc>
                <a:tc>
                  <a:txBody>
                    <a:bodyPr/>
                    <a:lstStyle/>
                    <a:p>
                      <a:r>
                        <a:rPr sz="1800">
                          <a:solidFill>
                            <a:srgbClr val="1B3547"/>
                          </a:solidFill>
                          <a:latin typeface="Arial"/>
                          <a:ea typeface="Arial"/>
                          <a:cs typeface="Arial"/>
                        </a:rPr>
                        <a:t>4 sessions, DSI vérifié / bloqué / partiel / partiel</a:t>
                      </a:r>
                    </a:p>
                  </a:txBody>
                  <a:tcPr marL="152400" marR="152400" marT="57150" marB="57150"/>
                </a:tc>
              </a:tr>
              <a:tr h="698500">
                <a:tc>
                  <a:txBody>
                    <a:bodyPr/>
                    <a:lstStyle/>
                    <a:p>
                      <a:r>
                        <a:rPr sz="1800">
                          <a:solidFill>
                            <a:srgbClr val="1B3547"/>
                          </a:solidFill>
                          <a:latin typeface="Arial"/>
                          <a:ea typeface="Arial"/>
                          <a:cs typeface="Arial"/>
                        </a:rPr>
                        <a:t>Dev.7, candidat courant</a:t>
                      </a:r>
                    </a:p>
                  </a:txBody>
                  <a:tcPr marL="152400" marR="152400" marT="57150" marB="57150"/>
                </a:tc>
                <a:tc>
                  <a:txBody>
                    <a:bodyPr/>
                    <a:lstStyle/>
                    <a:p>
                      <a:r>
                        <a:rPr sz="1800">
                          <a:solidFill>
                            <a:srgbClr val="1B3547"/>
                          </a:solidFill>
                          <a:latin typeface="Arial"/>
                          <a:ea typeface="Arial"/>
                          <a:cs typeface="Arial"/>
                        </a:rPr>
                        <a:t>3 cas jugés : 2 réussites, 1 échec ; 23 critères</a:t>
                      </a:r>
                    </a:p>
                  </a:txBody>
                  <a:tcPr marL="152400" marR="152400" marT="57150" marB="57150"/>
                </a:tc>
              </a:tr>
            </a:tbl>
          </a:graphicData>
        </a:graphic>
      </p:graphicFrame>
      <p:sp>
        <p:nvSpPr>
          <p:cNvPr id="3" name="">
            <a:extLst xmlns:a="http://schemas.openxmlformats.org/drawingml/2006/main">
              <a:ext uri="{FF2B5EF4-FFF2-40B4-BE49-F238E27FC236}">
                <a16:creationId xmlns:a16="http://schemas.microsoft.com/office/drawing/2014/main" id="{78A8F169-3F06-4801-AC22-2B9BBBCADB1F}"/>
              </a:ext>
            </a:extLst>
          </p:cNvPr>
          <p:cNvSpPr>
            <a:spLocks xmlns:a="http://schemas.openxmlformats.org/drawingml/2006/main" noGrp="1"/>
          </p:cNvSpPr>
          <p:nvPr/>
        </p:nvSpPr>
        <p:spPr>
          <a:xfrm xmlns:a="http://schemas.openxmlformats.org/drawingml/2006/main">
            <a:off x="723900" y="6038850"/>
            <a:ext cx="10744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26774"/>
                </a:solidFill>
                <a:latin typeface="Arial"/>
                <a:ea typeface="Arial"/>
                <a:cs typeface="Arial"/>
              </a:defRPr>
            </a:pPr>
            <a:r>
              <a:rPr sz="1800" b="0">
                <a:solidFill>
                  <a:srgbClr val="526774"/>
                </a:solidFill>
                <a:latin typeface="Arial"/>
                <a:ea typeface="Arial"/>
                <a:cs typeface="Arial"/>
              </a:rPr>
              <a:t>Dev.7 : 3 cas exécutés sur 16. Treize cas bloqués avant exécution. Revues ouvertes.</a:t>
            </a:r>
          </a:p>
        </p:txBody>
      </p:sp>
    </p:spTree>
    <p:extLst>
      <p:ext uri="{BB962C8B-B14F-4D97-AF65-F5344CB8AC3E}">
        <p14:creationId xmlns:p14="http://schemas.microsoft.com/office/powerpoint/2010/main" val="152140364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A96D43-3917-4C44-93DD-C1EFD655B1B2}"/>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STOP : correction et qualification ouverte</a:t>
            </a:r>
          </a:p>
        </p:txBody>
      </p:sp>
      <p:sp>
        <p:nvSpPr>
          <p:cNvPr id="2" name="">
            <a:extLst xmlns:a="http://schemas.openxmlformats.org/drawingml/2006/main">
              <a:ext uri="{FF2B5EF4-FFF2-40B4-BE49-F238E27FC236}">
                <a16:creationId xmlns:a16="http://schemas.microsoft.com/office/drawing/2014/main" id="{A0C4E5CE-1E0B-4656-83EF-C079199ABA61}"/>
              </a:ext>
            </a:extLst>
          </p:cNvPr>
          <p:cNvSpPr>
            <a:spLocks xmlns:a="http://schemas.openxmlformats.org/drawingml/2006/main" noGrp="1"/>
          </p:cNvSpPr>
          <p:nvPr/>
        </p:nvSpPr>
        <p:spPr>
          <a:xfrm xmlns:a="http://schemas.openxmlformats.org/drawingml/2006/main">
            <a:off x="723900" y="1619250"/>
            <a:ext cx="10744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76E78"/>
                </a:solidFill>
                <a:latin typeface="Arial"/>
                <a:ea typeface="Arial"/>
                <a:cs typeface="Arial"/>
              </a:defRPr>
            </a:pPr>
            <a:r>
              <a:rPr sz="2400" b="1">
                <a:solidFill>
                  <a:srgbClr val="176E78"/>
                </a:solidFill>
                <a:latin typeface="Arial"/>
                <a:ea typeface="Arial"/>
                <a:cs typeface="Arial"/>
              </a:rPr>
              <a:t>Pilote dev.6 par fichiers</a:t>
            </a:r>
          </a:p>
        </p:txBody>
      </p:sp>
      <p:sp>
        <p:nvSpPr>
          <p:cNvPr id="3" name="">
            <a:extLst xmlns:a="http://schemas.openxmlformats.org/drawingml/2006/main">
              <a:ext uri="{FF2B5EF4-FFF2-40B4-BE49-F238E27FC236}">
                <a16:creationId xmlns:a16="http://schemas.microsoft.com/office/drawing/2014/main" id="{C7FE9D25-9E0A-4BCB-B869-5A7E726802B9}"/>
              </a:ext>
            </a:extLst>
          </p:cNvPr>
          <p:cNvSpPr>
            <a:spLocks xmlns:a="http://schemas.openxmlformats.org/drawingml/2006/main" noGrp="1"/>
          </p:cNvSpPr>
          <p:nvPr/>
        </p:nvSpPr>
        <p:spPr>
          <a:xfrm xmlns:a="http://schemas.openxmlformats.org/drawingml/2006/main">
            <a:off x="723900" y="2228850"/>
            <a:ext cx="10744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Une annonce précède le STOP du cas réouverture. L’échec historique reste acquis, même avec un STOP en tête de réponse finale.</a:t>
            </a:r>
          </a:p>
        </p:txBody>
      </p:sp>
      <p:sp>
        <p:nvSpPr>
          <p:cNvPr id="4" name="">
            <a:extLst xmlns:a="http://schemas.openxmlformats.org/drawingml/2006/main">
              <a:ext uri="{FF2B5EF4-FFF2-40B4-BE49-F238E27FC236}">
                <a16:creationId xmlns:a16="http://schemas.microsoft.com/office/drawing/2014/main" id="{CC714B17-9DB8-4F00-BBA6-6AC9C2AD5246}"/>
              </a:ext>
            </a:extLst>
          </p:cNvPr>
          <p:cNvSpPr>
            <a:spLocks xmlns:a="http://schemas.openxmlformats.org/drawingml/2006/main" noGrp="1"/>
          </p:cNvSpPr>
          <p:nvPr/>
        </p:nvSpPr>
        <p:spPr>
          <a:xfrm xmlns:a="http://schemas.openxmlformats.org/drawingml/2006/main">
            <a:off x="723900" y="3724275"/>
            <a:ext cx="10744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76E78"/>
                </a:solidFill>
                <a:latin typeface="Arial"/>
                <a:ea typeface="Arial"/>
                <a:cs typeface="Arial"/>
              </a:defRPr>
            </a:pPr>
            <a:r>
              <a:rPr sz="2400" b="1">
                <a:solidFill>
                  <a:srgbClr val="176E78"/>
                </a:solidFill>
                <a:latin typeface="Arial"/>
                <a:ea typeface="Arial"/>
                <a:cs typeface="Arial"/>
              </a:rPr>
              <a:t>Correctif dev.7 à qualifier sur réouverture</a:t>
            </a:r>
          </a:p>
        </p:txBody>
      </p:sp>
      <p:sp>
        <p:nvSpPr>
          <p:cNvPr id="5" name="">
            <a:extLst xmlns:a="http://schemas.openxmlformats.org/drawingml/2006/main">
              <a:ext uri="{FF2B5EF4-FFF2-40B4-BE49-F238E27FC236}">
                <a16:creationId xmlns:a16="http://schemas.microsoft.com/office/drawing/2014/main" id="{2FCD77AB-3960-42D0-9E6B-49AA771BD0D6}"/>
              </a:ext>
            </a:extLst>
          </p:cNvPr>
          <p:cNvSpPr>
            <a:spLocks xmlns:a="http://schemas.openxmlformats.org/drawingml/2006/main" noGrp="1"/>
          </p:cNvSpPr>
          <p:nvPr/>
        </p:nvSpPr>
        <p:spPr>
          <a:xfrm xmlns:a="http://schemas.openxmlformats.org/drawingml/2006/main">
            <a:off x="723900" y="4333875"/>
            <a:ext cx="10744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Dev.7 exige le STOP au premier commentaire avant outils. Les trois cas exécutés ne couvrent pas la réouverture critique.</a:t>
            </a:r>
          </a:p>
        </p:txBody>
      </p:sp>
      <p:sp>
        <p:nvSpPr>
          <p:cNvPr id="6" name="">
            <a:extLst xmlns:a="http://schemas.openxmlformats.org/drawingml/2006/main">
              <a:ext uri="{FF2B5EF4-FFF2-40B4-BE49-F238E27FC236}">
                <a16:creationId xmlns:a16="http://schemas.microsoft.com/office/drawing/2014/main" id="{4BAFE0F8-5372-4B8B-8DF6-B30B95B106BC}"/>
              </a:ext>
            </a:extLst>
          </p:cNvPr>
          <p:cNvSpPr>
            <a:spLocks xmlns:a="http://schemas.openxmlformats.org/drawingml/2006/main" noGrp="1"/>
          </p:cNvSpPr>
          <p:nvPr/>
        </p:nvSpPr>
        <p:spPr>
          <a:xfrm xmlns:a="http://schemas.openxmlformats.org/drawingml/2006/main">
            <a:off x="723900" y="5867400"/>
            <a:ext cx="1074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774"/>
                </a:solidFill>
                <a:latin typeface="Arial"/>
                <a:ea typeface="Arial"/>
                <a:cs typeface="Arial"/>
              </a:defRPr>
            </a:pPr>
            <a:r>
              <a:rPr sz="1875" b="0">
                <a:solidFill>
                  <a:srgbClr val="526774"/>
                </a:solidFill>
                <a:latin typeface="Arial"/>
                <a:ea typeface="Arial"/>
                <a:cs typeface="Arial"/>
              </a:rPr>
              <a:t>Dev.7 fb186b4 : 213 fichiers gelés, dont 166 runtime. Aucun score transféré.</a:t>
            </a:r>
          </a:p>
        </p:txBody>
      </p:sp>
    </p:spTree>
    <p:extLst>
      <p:ext uri="{BB962C8B-B14F-4D97-AF65-F5344CB8AC3E}">
        <p14:creationId xmlns:p14="http://schemas.microsoft.com/office/powerpoint/2010/main" val="11252865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C581B2-4DCA-4554-8D5B-DFBABEF42623}"/>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Dev.7 : trois cas et leurs limites</a:t>
            </a:r>
          </a:p>
        </p:txBody>
      </p:sp>
      <p:sp>
        <p:nvSpPr>
          <p:cNvPr id="2" name="">
            <a:extLst xmlns:a="http://schemas.openxmlformats.org/drawingml/2006/main">
              <a:ext uri="{FF2B5EF4-FFF2-40B4-BE49-F238E27FC236}">
                <a16:creationId xmlns:a16="http://schemas.microsoft.com/office/drawing/2014/main" id="{52098BD2-4FD2-4E39-B160-0573C0172F02}"/>
              </a:ext>
            </a:extLst>
          </p:cNvPr>
          <p:cNvSpPr>
            <a:spLocks xmlns:a="http://schemas.openxmlformats.org/drawingml/2006/main" noGrp="1"/>
          </p:cNvSpPr>
          <p:nvPr/>
        </p:nvSpPr>
        <p:spPr>
          <a:xfrm xmlns:a="http://schemas.openxmlformats.org/drawingml/2006/main">
            <a:off x="723900" y="150495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CLI 0.162.0-alpha.2 ; modèle observé : gpt-6.1-sol. 16 vrais, 1 faux, 6 non vérifiables.</a:t>
            </a:r>
          </a:p>
        </p:txBody>
      </p:sp>
      <p:graphicFrame>
        <p:nvGraphicFramePr>
          <p:cNvPr id="9" name="">
            <a:extLst xmlns:a="http://schemas.openxmlformats.org/drawingml/2006/main">
              <a:ext uri="{FF2B5EF4-FFF2-40B4-BE49-F238E27FC236}">
                <a16:creationId xmlns:a16="http://schemas.microsoft.com/office/drawing/2014/main" id="{EC506576-3F2C-435A-8B3E-BAEAC2605E40}"/>
              </a:ext>
            </a:extLst>
          </p:cNvPr>
          <p:cNvGraphicFramePr/>
          <p:nvPr/>
        </p:nvGraphicFramePr>
        <p:xfrm>
          <a:off xmlns:a="http://schemas.openxmlformats.org/drawingml/2006/main" x="723900" y="2686050"/>
          <a:ext xmlns:a="http://schemas.openxmlformats.org/drawingml/2006/main" cx="10744200" cy="3048000"/>
        </p:xfrm>
        <a:graphic xmlns:a="http://schemas.openxmlformats.org/drawingml/2006/main">
          <a:graphicData uri="http://schemas.openxmlformats.org/drawingml/2006/table">
            <a:tbl>
              <a:tblPr/>
              <a:tblGrid>
                <a:gridCol w="3238500"/>
                <a:gridCol w="7505700"/>
              </a:tblGrid>
              <a:tr h="0">
                <a:tc>
                  <a:txBody>
                    <a:bodyPr/>
                    <a:lstStyle/>
                    <a:p>
                      <a:r>
                        <a:rPr sz="1800" b="1">
                          <a:solidFill>
                            <a:srgbClr val="FFFFFF"/>
                          </a:solidFill>
                          <a:latin typeface="Arial"/>
                          <a:ea typeface="Arial"/>
                          <a:cs typeface="Arial"/>
                        </a:rPr>
                        <a:t>Cas et conclusion</a:t>
                      </a:r>
                    </a:p>
                  </a:txBody>
                  <a:tcPr marL="152400" marR="152400" marT="57150" marB="57150">
                    <a:solidFill>
                      <a:srgbClr val="112B40"/>
                    </a:solidFill>
                  </a:tcPr>
                </a:tc>
                <a:tc>
                  <a:txBody>
                    <a:bodyPr/>
                    <a:lstStyle/>
                    <a:p>
                      <a:r>
                        <a:rPr sz="1800" b="1">
                          <a:solidFill>
                            <a:srgbClr val="FFFFFF"/>
                          </a:solidFill>
                          <a:latin typeface="Arial"/>
                          <a:ea typeface="Arial"/>
                          <a:cs typeface="Arial"/>
                        </a:rPr>
                        <a:t>Preuve et limite</a:t>
                      </a:r>
                    </a:p>
                  </a:txBody>
                  <a:tcPr marL="152400" marR="152400" marT="57150" marB="57150">
                    <a:solidFill>
                      <a:srgbClr val="112B40"/>
                    </a:solidFill>
                  </a:tcPr>
                </a:tc>
              </a:tr>
              <a:tr h="609600">
                <a:tc>
                  <a:txBody>
                    <a:bodyPr/>
                    <a:lstStyle/>
                    <a:p>
                      <a:r>
                        <a:rPr sz="1800">
                          <a:solidFill>
                            <a:srgbClr val="1B3547"/>
                          </a:solidFill>
                          <a:latin typeface="Arial"/>
                          <a:ea typeface="Arial"/>
                          <a:cs typeface="Arial"/>
                        </a:rPr>
                        <a:t>MCP indisponible : réussite</a:t>
                      </a:r>
                    </a:p>
                  </a:txBody>
                  <a:tcPr marL="152400" marR="152400" marT="57150" marB="57150"/>
                </a:tc>
                <a:tc>
                  <a:txBody>
                    <a:bodyPr/>
                    <a:lstStyle/>
                    <a:p>
                      <a:r>
                        <a:rPr sz="1800">
                          <a:solidFill>
                            <a:srgbClr val="1B3547"/>
                          </a:solidFill>
                          <a:latin typeface="Arial"/>
                          <a:ea typeface="Arial"/>
                          <a:cs typeface="Arial"/>
                        </a:rPr>
                        <a:t>5/5 critères. Méthode injectée ;</a:t>
                      </a:r>
                    </a:p>
                    <a:p>
                      <a:r>
                        <a:rPr sz="1800">
                          <a:solidFill>
                            <a:srgbClr val="1B3547"/>
                          </a:solidFill>
                          <a:latin typeface="Arial"/>
                          <a:ea typeface="Arial"/>
                          <a:cs typeface="Arial"/>
                        </a:rPr>
                        <a:t>aucun texte primaire récupéré.</a:t>
                      </a:r>
                    </a:p>
                  </a:txBody>
                  <a:tcPr marL="152400" marR="152400" marT="57150" marB="57150"/>
                </a:tc>
              </a:tr>
              <a:tr h="609600">
                <a:tc>
                  <a:txBody>
                    <a:bodyPr/>
                    <a:lstStyle/>
                    <a:p>
                      <a:r>
                        <a:rPr sz="1800">
                          <a:solidFill>
                            <a:srgbClr val="1B3547"/>
                          </a:solidFill>
                          <a:latin typeface="Arial"/>
                          <a:ea typeface="Arial"/>
                          <a:cs typeface="Arial"/>
                        </a:rPr>
                        <a:t>DSI technique : échec</a:t>
                      </a:r>
                    </a:p>
                  </a:txBody>
                  <a:tcPr marL="152400" marR="152400" marT="57150" marB="57150"/>
                </a:tc>
                <a:tc>
                  <a:txBody>
                    <a:bodyPr/>
                    <a:lstStyle/>
                    <a:p>
                      <a:r>
                        <a:rPr sz="1800">
                          <a:solidFill>
                            <a:srgbClr val="1B3547"/>
                          </a:solidFill>
                          <a:latin typeface="Arial"/>
                          <a:ea typeface="Arial"/>
                          <a:cs typeface="Arial"/>
                        </a:rPr>
                        <a:t>3 vrais, 1 faux, 6 non vérifiables.</a:t>
                      </a:r>
                    </a:p>
                    <a:p>
                      <a:r>
                        <a:rPr sz="1800">
                          <a:solidFill>
                            <a:srgbClr val="1B3547"/>
                          </a:solidFill>
                          <a:latin typeface="Arial"/>
                          <a:ea typeface="Arial"/>
                          <a:cs typeface="Arial"/>
                        </a:rPr>
                        <a:t>Skill DSI annoncé, lecture impossible.</a:t>
                      </a:r>
                    </a:p>
                  </a:txBody>
                  <a:tcPr marL="152400" marR="152400" marT="57150" marB="57150"/>
                </a:tc>
              </a:tr>
              <a:tr h="609600">
                <a:tc>
                  <a:txBody>
                    <a:bodyPr/>
                    <a:lstStyle/>
                    <a:p>
                      <a:r>
                        <a:rPr sz="1800">
                          <a:solidFill>
                            <a:srgbClr val="1B3547"/>
                          </a:solidFill>
                          <a:latin typeface="Arial"/>
                          <a:ea typeface="Arial"/>
                          <a:cs typeface="Arial"/>
                        </a:rPr>
                        <a:t>Source indisponible : réussite</a:t>
                      </a:r>
                    </a:p>
                  </a:txBody>
                  <a:tcPr marL="152400" marR="152400" marT="57150" marB="57150"/>
                </a:tc>
                <a:tc>
                  <a:txBody>
                    <a:bodyPr/>
                    <a:lstStyle/>
                    <a:p>
                      <a:r>
                        <a:rPr sz="1800">
                          <a:solidFill>
                            <a:srgbClr val="1B3547"/>
                          </a:solidFill>
                          <a:latin typeface="Arial"/>
                          <a:ea typeface="Arial"/>
                          <a:cs typeface="Arial"/>
                        </a:rPr>
                        <a:t>8/8 critères. DSI + juridique injectés ;</a:t>
                      </a:r>
                    </a:p>
                    <a:p>
                      <a:r>
                        <a:rPr sz="1800">
                          <a:solidFill>
                            <a:srgbClr val="1B3547"/>
                          </a:solidFill>
                          <a:latin typeface="Arial"/>
                          <a:ea typeface="Arial"/>
                          <a:cs typeface="Arial"/>
                        </a:rPr>
                        <a:t>applicabilité et calendrier non vérifiés.</a:t>
                      </a:r>
                    </a:p>
                  </a:txBody>
                  <a:tcPr marL="152400" marR="152400" marT="57150" marB="57150"/>
                </a:tc>
              </a:tr>
              <a:tr h="609600">
                <a:tc>
                  <a:txBody>
                    <a:bodyPr/>
                    <a:lstStyle/>
                    <a:p>
                      <a:r>
                        <a:rPr sz="1800">
                          <a:solidFill>
                            <a:srgbClr val="1B3547"/>
                          </a:solidFill>
                          <a:latin typeface="Arial"/>
                          <a:ea typeface="Arial"/>
                          <a:cs typeface="Arial"/>
                        </a:rPr>
                        <a:t>Treize cas non exécutés</a:t>
                      </a:r>
                    </a:p>
                  </a:txBody>
                  <a:tcPr marL="152400" marR="152400" marT="57150" marB="57150"/>
                </a:tc>
                <a:tc>
                  <a:txBody>
                    <a:bodyPr/>
                    <a:lstStyle/>
                    <a:p>
                      <a:r>
                        <a:rPr sz="1800">
                          <a:solidFill>
                            <a:srgbClr val="1B3547"/>
                          </a:solidFill>
                          <a:latin typeface="Arial"/>
                          <a:ea typeface="Arial"/>
                          <a:cs typeface="Arial"/>
                        </a:rPr>
                        <a:t>Sources primaires requises, préflight bloqué</a:t>
                      </a:r>
                    </a:p>
                  </a:txBody>
                  <a:tcPr marL="152400" marR="152400" marT="57150" marB="57150"/>
                </a:tc>
              </a:tr>
            </a:tbl>
          </a:graphicData>
        </a:graphic>
      </p:graphicFrame>
      <p:sp>
        <p:nvSpPr>
          <p:cNvPr id="4" name="">
            <a:extLst xmlns:a="http://schemas.openxmlformats.org/drawingml/2006/main">
              <a:ext uri="{FF2B5EF4-FFF2-40B4-BE49-F238E27FC236}">
                <a16:creationId xmlns:a16="http://schemas.microsoft.com/office/drawing/2014/main" id="{05D3452A-E7A5-41C3-A5E5-533D7E5DAFC5}"/>
              </a:ext>
            </a:extLst>
          </p:cNvPr>
          <p:cNvSpPr>
            <a:spLocks xmlns:a="http://schemas.openxmlformats.org/drawingml/2006/main" noGrp="1"/>
          </p:cNvSpPr>
          <p:nvPr/>
        </p:nvSpPr>
        <p:spPr>
          <a:xfrm xmlns:a="http://schemas.openxmlformats.org/drawingml/2006/main">
            <a:off x="723900" y="6076950"/>
            <a:ext cx="10744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26774"/>
                </a:solidFill>
                <a:latin typeface="Arial"/>
                <a:ea typeface="Arial"/>
                <a:cs typeface="Arial"/>
              </a:defRPr>
            </a:pPr>
            <a:r>
              <a:rPr sz="1800" b="0">
                <a:solidFill>
                  <a:srgbClr val="526774"/>
                </a:solidFill>
                <a:latin typeface="Arial"/>
                <a:ea typeface="Arial"/>
                <a:cs typeface="Arial"/>
              </a:rPr>
              <a:t>Quatre erreurs natives « setup refresh » pendant les lectures. STOP critique non couvert.</a:t>
            </a:r>
          </a:p>
        </p:txBody>
      </p:sp>
    </p:spTree>
    <p:extLst>
      <p:ext uri="{BB962C8B-B14F-4D97-AF65-F5344CB8AC3E}">
        <p14:creationId xmlns:p14="http://schemas.microsoft.com/office/powerpoint/2010/main" val="18445352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EA8E0EC-B8BF-4A24-BD69-4F3FD6B3CD97}"/>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Connexion juridique et reprise Windows</a:t>
            </a:r>
          </a:p>
        </p:txBody>
      </p:sp>
      <p:sp>
        <p:nvSpPr>
          <p:cNvPr id="2" name="">
            <a:extLst xmlns:a="http://schemas.openxmlformats.org/drawingml/2006/main">
              <a:ext uri="{FF2B5EF4-FFF2-40B4-BE49-F238E27FC236}">
                <a16:creationId xmlns:a16="http://schemas.microsoft.com/office/drawing/2014/main" id="{7A9D555A-AE93-4CE6-B9DA-ABB8925D73B1}"/>
              </a:ext>
            </a:extLst>
          </p:cNvPr>
          <p:cNvSpPr>
            <a:spLocks xmlns:a="http://schemas.openxmlformats.org/drawingml/2006/main" noGrp="1"/>
          </p:cNvSpPr>
          <p:nvPr/>
        </p:nvSpPr>
        <p:spPr>
          <a:xfrm xmlns:a="http://schemas.openxmlformats.org/drawingml/2006/main">
            <a:off x="723900" y="15621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Connexion juridique à terminer : le MCP droit-francais répond « notLoggedIn », sans outil accessible.</a:t>
            </a:r>
          </a:p>
        </p:txBody>
      </p:sp>
      <p:sp>
        <p:nvSpPr>
          <p:cNvPr id="3" name="">
            <a:extLst xmlns:a="http://schemas.openxmlformats.org/drawingml/2006/main">
              <a:ext uri="{FF2B5EF4-FFF2-40B4-BE49-F238E27FC236}">
                <a16:creationId xmlns:a16="http://schemas.microsoft.com/office/drawing/2014/main" id="{B8B36402-0895-43C3-852F-6CC2D845E9CE}"/>
              </a:ext>
            </a:extLst>
          </p:cNvPr>
          <p:cNvSpPr>
            <a:spLocks xmlns:a="http://schemas.openxmlformats.org/drawingml/2006/main" noGrp="1"/>
          </p:cNvSpPr>
          <p:nvPr/>
        </p:nvSpPr>
        <p:spPr>
          <a:xfrm xmlns:a="http://schemas.openxmlformats.org/drawingml/2006/main">
            <a:off x="723900" y="26289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Le flux OAuth expire sans retour utilisateur. La connexion Codex ne suffit pas à établir celle du MCP juridique.</a:t>
            </a:r>
          </a:p>
        </p:txBody>
      </p:sp>
      <p:sp>
        <p:nvSpPr>
          <p:cNvPr id="4" name="">
            <a:extLst xmlns:a="http://schemas.openxmlformats.org/drawingml/2006/main">
              <a:ext uri="{FF2B5EF4-FFF2-40B4-BE49-F238E27FC236}">
                <a16:creationId xmlns:a16="http://schemas.microsoft.com/office/drawing/2014/main" id="{20A0FF96-3299-4AC1-B225-0398D08A45CB}"/>
              </a:ext>
            </a:extLst>
          </p:cNvPr>
          <p:cNvSpPr>
            <a:spLocks xmlns:a="http://schemas.openxmlformats.org/drawingml/2006/main" noGrp="1"/>
          </p:cNvSpPr>
          <p:nvPr/>
        </p:nvSpPr>
        <p:spPr>
          <a:xfrm xmlns:a="http://schemas.openxmlformats.org/drawingml/2006/main">
            <a:off x="723900" y="36957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Reprise Windows à froid à valider : quatre erreurs 32 au rafraîchissement des ACL de node.exe. Processus détenteur inconnu.</a:t>
            </a:r>
          </a:p>
        </p:txBody>
      </p:sp>
      <p:sp>
        <p:nvSpPr>
          <p:cNvPr id="5" name="">
            <a:extLst xmlns:a="http://schemas.openxmlformats.org/drawingml/2006/main">
              <a:ext uri="{FF2B5EF4-FFF2-40B4-BE49-F238E27FC236}">
                <a16:creationId xmlns:a16="http://schemas.microsoft.com/office/drawing/2014/main" id="{F3BECB94-56B6-4A20-95F5-9D3859819595}"/>
              </a:ext>
            </a:extLst>
          </p:cNvPr>
          <p:cNvSpPr>
            <a:spLocks xmlns:a="http://schemas.openxmlformats.org/drawingml/2006/main" noGrp="1"/>
          </p:cNvSpPr>
          <p:nvPr/>
        </p:nvSpPr>
        <p:spPr>
          <a:xfrm xmlns:a="http://schemas.openxmlformats.org/drawingml/2006/main">
            <a:off x="723900" y="47625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Quatre sondes ont échoué, sans correction validée. Le bilan reste : trois cas jugés, deux réussites, un échec.</a:t>
            </a:r>
          </a:p>
        </p:txBody>
      </p:sp>
    </p:spTree>
    <p:extLst>
      <p:ext uri="{BB962C8B-B14F-4D97-AF65-F5344CB8AC3E}">
        <p14:creationId xmlns:p14="http://schemas.microsoft.com/office/powerpoint/2010/main" val="6013729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FC9737-9514-4257-8916-54FA92DE950F}"/>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Points soumis au DSI / RSSI</a:t>
            </a:r>
          </a:p>
        </p:txBody>
      </p:sp>
      <p:sp>
        <p:nvSpPr>
          <p:cNvPr id="2" name="">
            <a:extLst xmlns:a="http://schemas.openxmlformats.org/drawingml/2006/main">
              <a:ext uri="{FF2B5EF4-FFF2-40B4-BE49-F238E27FC236}">
                <a16:creationId xmlns:a16="http://schemas.microsoft.com/office/drawing/2014/main" id="{22714846-B704-4133-806D-5EEC31B68E20}"/>
              </a:ext>
            </a:extLst>
          </p:cNvPr>
          <p:cNvSpPr>
            <a:spLocks xmlns:a="http://schemas.openxmlformats.org/drawingml/2006/main" noGrp="1"/>
          </p:cNvSpPr>
          <p:nvPr/>
        </p:nvSpPr>
        <p:spPr>
          <a:xfrm xmlns:a="http://schemas.openxmlformats.org/drawingml/2006/main">
            <a:off x="723900" y="15621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Les branches et livrables correspondent-ils aux situations de votre collectivité et à son mode d’exploitation ?</a:t>
            </a:r>
          </a:p>
        </p:txBody>
      </p:sp>
      <p:sp>
        <p:nvSpPr>
          <p:cNvPr id="3" name="">
            <a:extLst xmlns:a="http://schemas.openxmlformats.org/drawingml/2006/main">
              <a:ext uri="{FF2B5EF4-FFF2-40B4-BE49-F238E27FC236}">
                <a16:creationId xmlns:a16="http://schemas.microsoft.com/office/drawing/2014/main" id="{36E6494C-EC37-41BB-9C78-9D68061916CD}"/>
              </a:ext>
            </a:extLst>
          </p:cNvPr>
          <p:cNvSpPr>
            <a:spLocks xmlns:a="http://schemas.openxmlformats.org/drawingml/2006/main" noGrp="1"/>
          </p:cNvSpPr>
          <p:nvPr/>
        </p:nvSpPr>
        <p:spPr>
          <a:xfrm xmlns:a="http://schemas.openxmlformats.org/drawingml/2006/main">
            <a:off x="723900" y="26289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Les responsabilités DSI, RSSI, DPO, RH et finances sont-elles attribuées aux bons interlocuteurs ?</a:t>
            </a:r>
          </a:p>
        </p:txBody>
      </p:sp>
      <p:sp>
        <p:nvSpPr>
          <p:cNvPr id="4" name="">
            <a:extLst xmlns:a="http://schemas.openxmlformats.org/drawingml/2006/main">
              <a:ext uri="{FF2B5EF4-FFF2-40B4-BE49-F238E27FC236}">
                <a16:creationId xmlns:a16="http://schemas.microsoft.com/office/drawing/2014/main" id="{7EDA6FE2-DC23-4AB4-9E22-9B697497C7F7}"/>
              </a:ext>
            </a:extLst>
          </p:cNvPr>
          <p:cNvSpPr>
            <a:spLocks xmlns:a="http://schemas.openxmlformats.org/drawingml/2006/main" noGrp="1"/>
          </p:cNvSpPr>
          <p:nvPr/>
        </p:nvSpPr>
        <p:spPr>
          <a:xfrm xmlns:a="http://schemas.openxmlformats.org/drawingml/2006/main">
            <a:off x="723900" y="36957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Les STOP, préservations de preuves et conditions de reprise sont-ils suffisamment opérationnels ?</a:t>
            </a:r>
          </a:p>
        </p:txBody>
      </p:sp>
      <p:sp>
        <p:nvSpPr>
          <p:cNvPr id="5" name="">
            <a:extLst xmlns:a="http://schemas.openxmlformats.org/drawingml/2006/main">
              <a:ext uri="{FF2B5EF4-FFF2-40B4-BE49-F238E27FC236}">
                <a16:creationId xmlns:a16="http://schemas.microsoft.com/office/drawing/2014/main" id="{FA064C68-B75F-4300-A244-BB86559C3AE3}"/>
              </a:ext>
            </a:extLst>
          </p:cNvPr>
          <p:cNvSpPr>
            <a:spLocks xmlns:a="http://schemas.openxmlformats.org/drawingml/2006/main" noGrp="1"/>
          </p:cNvSpPr>
          <p:nvPr/>
        </p:nvSpPr>
        <p:spPr>
          <a:xfrm xmlns:a="http://schemas.openxmlformats.org/drawingml/2006/main">
            <a:off x="723900" y="47625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Quelles informations manque-t-il pour utiliser les fiches dans un dossier réel, sans données sensibles ?</a:t>
            </a:r>
          </a:p>
        </p:txBody>
      </p:sp>
    </p:spTree>
    <p:extLst>
      <p:ext uri="{BB962C8B-B14F-4D97-AF65-F5344CB8AC3E}">
        <p14:creationId xmlns:p14="http://schemas.microsoft.com/office/powerpoint/2010/main" val="15665134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64CE54D-0B5C-450E-A077-D655834A9498}"/>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Conditions de poursuite</a:t>
            </a:r>
          </a:p>
        </p:txBody>
      </p:sp>
      <p:graphicFrame>
        <p:nvGraphicFramePr>
          <p:cNvPr id="7" name="">
            <a:extLst xmlns:a="http://schemas.openxmlformats.org/drawingml/2006/main">
              <a:ext uri="{FF2B5EF4-FFF2-40B4-BE49-F238E27FC236}">
                <a16:creationId xmlns:a16="http://schemas.microsoft.com/office/drawing/2014/main" id="{22AB0A27-8B3B-4809-80DD-631848B9AAC2}"/>
              </a:ext>
            </a:extLst>
          </p:cNvPr>
          <p:cNvGraphicFramePr/>
          <p:nvPr/>
        </p:nvGraphicFramePr>
        <p:xfrm>
          <a:off xmlns:a="http://schemas.openxmlformats.org/drawingml/2006/main" x="723900" y="1581150"/>
          <a:ext xmlns:a="http://schemas.openxmlformats.org/drawingml/2006/main" cx="10744200" cy="4171950"/>
        </p:xfrm>
        <a:graphic xmlns:a="http://schemas.openxmlformats.org/drawingml/2006/main">
          <a:graphicData uri="http://schemas.openxmlformats.org/drawingml/2006/table">
            <a:tbl>
              <a:tblPr/>
              <a:tblGrid>
                <a:gridCol w="4191000"/>
                <a:gridCol w="6553200"/>
              </a:tblGrid>
              <a:tr h="0">
                <a:tc>
                  <a:txBody>
                    <a:bodyPr/>
                    <a:lstStyle/>
                    <a:p>
                      <a:r>
                        <a:rPr sz="1800" b="1">
                          <a:solidFill>
                            <a:srgbClr val="FFFFFF"/>
                          </a:solidFill>
                          <a:latin typeface="Arial"/>
                          <a:ea typeface="Arial"/>
                          <a:cs typeface="Arial"/>
                        </a:rPr>
                        <a:t>Étape</a:t>
                      </a:r>
                    </a:p>
                  </a:txBody>
                  <a:tcPr marL="152400" marR="152400" marT="57150" marB="57150">
                    <a:solidFill>
                      <a:srgbClr val="112B40"/>
                    </a:solidFill>
                  </a:tcPr>
                </a:tc>
                <a:tc>
                  <a:txBody>
                    <a:bodyPr/>
                    <a:lstStyle/>
                    <a:p>
                      <a:r>
                        <a:rPr sz="1800" b="1">
                          <a:solidFill>
                            <a:srgbClr val="FFFFFF"/>
                          </a:solidFill>
                          <a:latin typeface="Arial"/>
                          <a:ea typeface="Arial"/>
                          <a:cs typeface="Arial"/>
                        </a:rPr>
                        <a:t>Preuve attendue</a:t>
                      </a:r>
                    </a:p>
                  </a:txBody>
                  <a:tcPr marL="152400" marR="152400" marT="57150" marB="57150">
                    <a:solidFill>
                      <a:srgbClr val="112B40"/>
                    </a:solidFill>
                  </a:tcPr>
                </a:tc>
              </a:tr>
              <a:tr h="695325">
                <a:tc>
                  <a:txBody>
                    <a:bodyPr/>
                    <a:lstStyle/>
                    <a:p>
                      <a:r>
                        <a:rPr sz="1800">
                          <a:solidFill>
                            <a:srgbClr val="1B3547"/>
                          </a:solidFill>
                          <a:latin typeface="Arial"/>
                          <a:ea typeface="Arial"/>
                          <a:cs typeface="Arial"/>
                        </a:rPr>
                        <a:t>Connexion juridique</a:t>
                      </a:r>
                    </a:p>
                  </a:txBody>
                  <a:tcPr marL="152400" marR="152400" marT="57150" marB="57150"/>
                </a:tc>
                <a:tc>
                  <a:txBody>
                    <a:bodyPr/>
                    <a:lstStyle/>
                    <a:p>
                      <a:r>
                        <a:rPr sz="1800">
                          <a:solidFill>
                            <a:srgbClr val="1B3547"/>
                          </a:solidFill>
                          <a:latin typeface="Arial"/>
                          <a:ea typeface="Arial"/>
                          <a:cs typeface="Arial"/>
                        </a:rPr>
                        <a:t>OAuth terminé, outils MCP disponibles et source récupérée</a:t>
                      </a:r>
                    </a:p>
                  </a:txBody>
                  <a:tcPr marL="152400" marR="152400" marT="57150" marB="57150"/>
                </a:tc>
              </a:tr>
              <a:tr h="695325">
                <a:tc>
                  <a:txBody>
                    <a:bodyPr/>
                    <a:lstStyle/>
                    <a:p>
                      <a:r>
                        <a:rPr sz="1800">
                          <a:solidFill>
                            <a:srgbClr val="1B3547"/>
                          </a:solidFill>
                          <a:latin typeface="Arial"/>
                          <a:ea typeface="Arial"/>
                          <a:cs typeface="Arial"/>
                        </a:rPr>
                        <a:t>Reprise Windows à froid</a:t>
                      </a:r>
                    </a:p>
                  </a:txBody>
                  <a:tcPr marL="152400" marR="152400" marT="57150" marB="57150"/>
                </a:tc>
                <a:tc>
                  <a:txBody>
                    <a:bodyPr/>
                    <a:lstStyle/>
                    <a:p>
                      <a:r>
                        <a:rPr sz="1800">
                          <a:solidFill>
                            <a:srgbClr val="1B3547"/>
                          </a:solidFill>
                          <a:latin typeface="Arial"/>
                          <a:ea typeface="Arial"/>
                          <a:cs typeface="Arial"/>
                        </a:rPr>
                        <a:t>Lecture native des skills réussie et mécanisme vérifié</a:t>
                      </a:r>
                    </a:p>
                  </a:txBody>
                  <a:tcPr marL="152400" marR="152400" marT="57150" marB="57150"/>
                </a:tc>
              </a:tr>
              <a:tr h="695325">
                <a:tc>
                  <a:txBody>
                    <a:bodyPr/>
                    <a:lstStyle/>
                    <a:p>
                      <a:r>
                        <a:rPr sz="1800">
                          <a:solidFill>
                            <a:srgbClr val="1B3547"/>
                          </a:solidFill>
                          <a:latin typeface="Arial"/>
                          <a:ea typeface="Arial"/>
                          <a:cs typeface="Arial"/>
                        </a:rPr>
                        <a:t>Suite complète dev.7</a:t>
                      </a:r>
                    </a:p>
                  </a:txBody>
                  <a:tcPr marL="152400" marR="152400" marT="57150" marB="57150"/>
                </a:tc>
                <a:tc>
                  <a:txBody>
                    <a:bodyPr/>
                    <a:lstStyle/>
                    <a:p>
                      <a:r>
                        <a:rPr sz="1800">
                          <a:solidFill>
                            <a:srgbClr val="1B3547"/>
                          </a:solidFill>
                          <a:latin typeface="Arial"/>
                          <a:ea typeface="Arial"/>
                          <a:cs typeface="Arial"/>
                        </a:rPr>
                        <a:t>Seize nouveaux cas jugés, dont réouverture STOP critique</a:t>
                      </a:r>
                    </a:p>
                  </a:txBody>
                  <a:tcPr marL="152400" marR="152400" marT="57150" marB="57150"/>
                </a:tc>
              </a:tr>
              <a:tr h="695325">
                <a:tc>
                  <a:txBody>
                    <a:bodyPr/>
                    <a:lstStyle/>
                    <a:p>
                      <a:r>
                        <a:rPr sz="1800">
                          <a:solidFill>
                            <a:srgbClr val="1B3547"/>
                          </a:solidFill>
                          <a:latin typeface="Arial"/>
                          <a:ea typeface="Arial"/>
                          <a:cs typeface="Arial"/>
                        </a:rPr>
                        <a:t>Revue DSI/RSSI et juridique</a:t>
                      </a:r>
                    </a:p>
                  </a:txBody>
                  <a:tcPr marL="152400" marR="152400" marT="57150" marB="57150"/>
                </a:tc>
                <a:tc>
                  <a:txBody>
                    <a:bodyPr/>
                    <a:lstStyle/>
                    <a:p>
                      <a:r>
                        <a:rPr sz="1800">
                          <a:solidFill>
                            <a:srgbClr val="1B3547"/>
                          </a:solidFill>
                          <a:latin typeface="Arial"/>
                          <a:ea typeface="Arial"/>
                          <a:cs typeface="Arial"/>
                        </a:rPr>
                        <a:t>Avis humains sur les branches et les preuves exactes</a:t>
                      </a:r>
                    </a:p>
                  </a:txBody>
                  <a:tcPr marL="152400" marR="152400" marT="57150" marB="57150"/>
                </a:tc>
              </a:tr>
              <a:tr h="695325">
                <a:tc>
                  <a:txBody>
                    <a:bodyPr/>
                    <a:lstStyle/>
                    <a:p>
                      <a:r>
                        <a:rPr sz="1800">
                          <a:solidFill>
                            <a:srgbClr val="1B3547"/>
                          </a:solidFill>
                          <a:latin typeface="Arial"/>
                          <a:ea typeface="Arial"/>
                          <a:cs typeface="Arial"/>
                        </a:rPr>
                        <a:t>PowerPoint et distribution</a:t>
                      </a:r>
                    </a:p>
                  </a:txBody>
                  <a:tcPr marL="152400" marR="152400" marT="57150" marB="57150"/>
                </a:tc>
                <a:tc>
                  <a:txBody>
                    <a:bodyPr/>
                    <a:lstStyle/>
                    <a:p>
                      <a:r>
                        <a:rPr sz="1800">
                          <a:solidFill>
                            <a:srgbClr val="1B3547"/>
                          </a:solidFill>
                          <a:latin typeface="Arial"/>
                          <a:ea typeface="Arial"/>
                          <a:cs typeface="Arial"/>
                        </a:rPr>
                        <a:t>Ouverture native, smoke du candidat et décision humaine</a:t>
                      </a:r>
                    </a:p>
                  </a:txBody>
                  <a:tcPr marL="152400" marR="152400" marT="57150" marB="57150"/>
                </a:tc>
              </a:tr>
            </a:tbl>
          </a:graphicData>
        </a:graphic>
      </p:graphicFrame>
      <p:sp>
        <p:nvSpPr>
          <p:cNvPr id="3" name="">
            <a:extLst xmlns:a="http://schemas.openxmlformats.org/drawingml/2006/main">
              <a:ext uri="{FF2B5EF4-FFF2-40B4-BE49-F238E27FC236}">
                <a16:creationId xmlns:a16="http://schemas.microsoft.com/office/drawing/2014/main" id="{CFB0F410-1D5E-4051-9320-84D15FE3BC5B}"/>
              </a:ext>
            </a:extLst>
          </p:cNvPr>
          <p:cNvSpPr>
            <a:spLocks xmlns:a="http://schemas.openxmlformats.org/drawingml/2006/main" noGrp="1"/>
          </p:cNvSpPr>
          <p:nvPr/>
        </p:nvSpPr>
        <p:spPr>
          <a:xfrm xmlns:a="http://schemas.openxmlformats.org/drawingml/2006/main">
            <a:off x="723900" y="60007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26774"/>
                </a:solidFill>
                <a:latin typeface="Arial"/>
                <a:ea typeface="Arial"/>
                <a:cs typeface="Arial"/>
              </a:defRPr>
            </a:pPr>
            <a:r>
              <a:rPr sz="1800" b="0">
                <a:solidFill>
                  <a:srgbClr val="526774"/>
                </a:solidFill>
                <a:latin typeface="Arial"/>
                <a:ea typeface="Arial"/>
                <a:cs typeface="Arial"/>
              </a:rPr>
              <a:t>Aucune nouvelle mesure. Avis humains en attente. release_ready=false.</a:t>
            </a:r>
          </a:p>
        </p:txBody>
      </p:sp>
    </p:spTree>
    <p:extLst>
      <p:ext uri="{BB962C8B-B14F-4D97-AF65-F5344CB8AC3E}">
        <p14:creationId xmlns:p14="http://schemas.microsoft.com/office/powerpoint/2010/main" val="7097419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2026-10-08T22:24:45.8480000Z</dcterms:created>
  <dcterms:modified xsi:type="dcterms:W3CDTF">2026-10-08T22:24:45.8480000Z</dcterms:modified>
</coreProperties>
</file>