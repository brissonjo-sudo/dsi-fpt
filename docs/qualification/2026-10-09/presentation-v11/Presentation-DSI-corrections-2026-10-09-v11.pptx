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059a0219697405d" /><Relationship Type="http://schemas.openxmlformats.org/officeDocument/2006/relationships/extended-properties" Target="/docProps/app.xml" Id="Rebd49bf927364275" /><Relationship Type="http://schemas.openxmlformats.org/officeDocument/2006/relationships/officeDocument" Target="/ppt/presentation.xml" Id="R048ee3a4c8e84090" /></Relationships>
</file>

<file path=ppt/presentation.xml><?xml version="1.0" encoding="utf-8"?>
<p:presentation xmlns:p="http://schemas.openxmlformats.org/presentationml/2006/main">
  <p:sldMasterIdLst>
    <p:sldMasterId xmlns:r="http://schemas.openxmlformats.org/officeDocument/2006/relationships" id="2147483648" r:id="Ra9cd6f72a7774997"/>
  </p:sldMasterIdLst>
  <p:notesMasterIdLst>
    <p:notesMasterId xmlns:r="http://schemas.openxmlformats.org/officeDocument/2006/relationships" r:id="R54cdbc343456479d"/>
  </p:notesMasterIdLst>
  <p:sldIdLst>
    <p:sldId xmlns:r="http://schemas.openxmlformats.org/officeDocument/2006/relationships" id="256" r:id="R823e20f9054a4269"/>
    <p:sldId xmlns:r="http://schemas.openxmlformats.org/officeDocument/2006/relationships" id="257" r:id="Rc214bc9820814cc3"/>
    <p:sldId xmlns:r="http://schemas.openxmlformats.org/officeDocument/2006/relationships" id="258" r:id="Rd276d5c5a68a48ed"/>
    <p:sldId xmlns:r="http://schemas.openxmlformats.org/officeDocument/2006/relationships" id="259" r:id="R32c1f262638042a2"/>
    <p:sldId xmlns:r="http://schemas.openxmlformats.org/officeDocument/2006/relationships" id="260" r:id="R12f364f5b9884ae0"/>
    <p:sldId xmlns:r="http://schemas.openxmlformats.org/officeDocument/2006/relationships" id="261" r:id="R1473cb6e959c4bbf"/>
    <p:sldId xmlns:r="http://schemas.openxmlformats.org/officeDocument/2006/relationships" id="262" r:id="R9b35b010f89a4a45"/>
    <p:sldId xmlns:r="http://schemas.openxmlformats.org/officeDocument/2006/relationships" id="263" r:id="R73f8bbcdc0954130"/>
    <p:sldId xmlns:r="http://schemas.openxmlformats.org/officeDocument/2006/relationships" id="264" r:id="R720d0d08a02340c1"/>
    <p:sldId xmlns:r="http://schemas.openxmlformats.org/officeDocument/2006/relationships" id="265" r:id="R8ee7933327d6403b"/>
    <p:sldId xmlns:r="http://schemas.openxmlformats.org/officeDocument/2006/relationships" id="266" r:id="R84fb816db9ba41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452cf6cad6424f" /><Relationship Type="http://schemas.openxmlformats.org/officeDocument/2006/relationships/slideMaster" Target="/ppt/slideMasters/slideMaster1.xml" Id="Ra9cd6f72a7774997" /><Relationship Type="http://schemas.openxmlformats.org/officeDocument/2006/relationships/notesMaster" Target="/ppt/notesMasters/notesMaster1.xml" Id="R54cdbc343456479d" /><Relationship Type="http://schemas.openxmlformats.org/officeDocument/2006/relationships/presProps" Target="/ppt/presProps.xml" Id="R9b5eee9fe553486f" /><Relationship Type="http://schemas.openxmlformats.org/officeDocument/2006/relationships/tableStyles" Target="/ppt/tableStyles.xml" Id="R2d12aa6c2cbf4b8c" /><Relationship Type="http://schemas.openxmlformats.org/officeDocument/2006/relationships/slide" Target="/ppt/slides/slide1.xml" Id="R823e20f9054a4269" /><Relationship Type="http://schemas.openxmlformats.org/officeDocument/2006/relationships/slide" Target="/ppt/slides/slide2.xml" Id="Rc214bc9820814cc3" /><Relationship Type="http://schemas.openxmlformats.org/officeDocument/2006/relationships/slide" Target="/ppt/slides/slide3.xml" Id="Rd276d5c5a68a48ed" /><Relationship Type="http://schemas.openxmlformats.org/officeDocument/2006/relationships/slide" Target="/ppt/slides/slide4.xml" Id="R32c1f262638042a2" /><Relationship Type="http://schemas.openxmlformats.org/officeDocument/2006/relationships/slide" Target="/ppt/slides/slide5.xml" Id="R12f364f5b9884ae0" /><Relationship Type="http://schemas.openxmlformats.org/officeDocument/2006/relationships/slide" Target="/ppt/slides/slide6.xml" Id="R1473cb6e959c4bbf" /><Relationship Type="http://schemas.openxmlformats.org/officeDocument/2006/relationships/slide" Target="/ppt/slides/slide7.xml" Id="R9b35b010f89a4a45" /><Relationship Type="http://schemas.openxmlformats.org/officeDocument/2006/relationships/slide" Target="/ppt/slides/slide8.xml" Id="R73f8bbcdc0954130" /><Relationship Type="http://schemas.openxmlformats.org/officeDocument/2006/relationships/slide" Target="/ppt/slides/slide9.xml" Id="R720d0d08a02340c1" /><Relationship Type="http://schemas.openxmlformats.org/officeDocument/2006/relationships/slide" Target="/ppt/slides/slide10.xml" Id="R8ee7933327d6403b" /><Relationship Type="http://schemas.openxmlformats.org/officeDocument/2006/relationships/slide" Target="/ppt/slides/slide11.xml" Id="R84fb816db9ba41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48d4dd22634c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ff7642f441470a" /><Relationship Type="http://schemas.openxmlformats.org/officeDocument/2006/relationships/notesMaster" Target="/ppt/notesMasters/notesMaster1.xml" Id="Rc0ea5db5760947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ca5ea9b5414693" /><Relationship Type="http://schemas.openxmlformats.org/officeDocument/2006/relationships/notesMaster" Target="/ppt/notesMasters/notesMaster1.xml" Id="R1ca032e61fa644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c660e3b0a94bc9" /><Relationship Type="http://schemas.openxmlformats.org/officeDocument/2006/relationships/notesMaster" Target="/ppt/notesMasters/notesMaster1.xml" Id="R7dd24b96c23145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cdc8e1002f4217" /><Relationship Type="http://schemas.openxmlformats.org/officeDocument/2006/relationships/notesMaster" Target="/ppt/notesMasters/notesMaster1.xml" Id="R96873d75ecf04e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6511e1256e47d3" /><Relationship Type="http://schemas.openxmlformats.org/officeDocument/2006/relationships/notesMaster" Target="/ppt/notesMasters/notesMaster1.xml" Id="Rb5ff8081311c4d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477fb9c7494c3f" /><Relationship Type="http://schemas.openxmlformats.org/officeDocument/2006/relationships/notesMaster" Target="/ppt/notesMasters/notesMaster1.xml" Id="Rad3aea9c594343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e2a0f22d274435" /><Relationship Type="http://schemas.openxmlformats.org/officeDocument/2006/relationships/notesMaster" Target="/ppt/notesMasters/notesMaster1.xml" Id="Rfc39ef4f81b54f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8bd202998e4ae6" /><Relationship Type="http://schemas.openxmlformats.org/officeDocument/2006/relationships/notesMaster" Target="/ppt/notesMasters/notesMaster1.xml" Id="R444029de413b40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22394b16524046" /><Relationship Type="http://schemas.openxmlformats.org/officeDocument/2006/relationships/notesMaster" Target="/ppt/notesMasters/notesMaster1.xml" Id="R4632215434f649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303b0e24b74506" /><Relationship Type="http://schemas.openxmlformats.org/officeDocument/2006/relationships/notesMaster" Target="/ppt/notesMasters/notesMaster1.xml" Id="R556059cac7344d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1b1f6f10104650" /><Relationship Type="http://schemas.openxmlformats.org/officeDocument/2006/relationships/notesMaster" Target="/ppt/notesMasters/notesMaster1.xml" Id="R62bce92cb8b34b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a:p xmlns:a="http://schemas.openxmlformats.org/drawingml/2006/main">
            <a:r>
              <a:t/>
            </a:r>
          </a:p>
          <a:p xmlns:a="http://schemas.openxmlformats.org/drawingml/2006/main">
            <a:r>
              <a:t>Mise à jour v11 au 9 octobre 2026, constat figé à 09:38:01 UTC. Les notes antérieures, conservées ci-dessus, documentent des snapshots historiques. La connexion juridique auparavant bloquée est désormais réussie. Le bilan comportemental R3 du 8 octobre reste inchangé.</a:t>
            </a:r>
          </a:p>
          <a:p xmlns:a="http://schemas.openxmlformats.org/drawingml/2006/main">
            <a:r>
              <a:t/>
            </a:r>
          </a:p>
          <a:p xmlns:a="http://schemas.openxmlformats.org/drawingml/2006/main">
            <a:r>
              <a:t>Le flux officiel OAuth confirme success=true et error=null à 09:25:09 UTC. La découverte native du candidat confirme oAuth, huit outils et aucune erreur de découverte à 09:25:53 UTC. La recherche native puis fetch à 09:33:11 UTC restituent 773 caractères d’un article et ses métadonnées, dont verified=true. Aucun corps juridique, règle ni identifiant d’article n’est reproduit dans les slides. La capacité de lecture constatée ne prouve ni la couverture de toutes les sources de campagne, ni une revue indépendante de la vigueur ou de l’applicabilité.</a:t>
            </a:r>
          </a:p>
          <a:p xmlns:a="http://schemas.openxmlformats.org/drawingml/2006/main">
            <a:r>
              <a:t/>
            </a:r>
          </a:p>
          <a:p xmlns:a="http://schemas.openxmlformats.org/drawingml/2006/main">
            <a:r>
              <a:t>Le précontrôle Windows à 09:38:01 UTC bloque encore sur le runtime CUA Node actif. Aucun processus n’est terminé automatiquement. La lecture native des skills à froid reste à vérifier. Les quatre erreurs historiques Windows 32 sur node.exe et les sondes application ouverte restent conservées, avec leurs limites. Aucun PID historique détenteur n’est déduit.</a:t>
            </a:r>
          </a:p>
          <a:p xmlns:a="http://schemas.openxmlformats.org/drawingml/2006/main">
            <a:r>
              <a:t/>
            </a:r>
          </a:p>
          <a:p xmlns:a="http://schemas.openxmlformats.org/drawingml/2006/main">
            <a:r>
              <a:t>Zéro nouveau répondant et zéro nouveau juge. Aucune suite complète préparée ou mesurée. Le normaliseur révisé et ses futurs contrôles ne constituent pas une nouvelle mesure comportementale. Le bilan R3 demeure trois cas sur seize, deux réussites et un échec, 16 critères vrais, un faux et six non vérifiables. Les treize cas bloqués avant la mesure R3 ne sont pas réévalués à partir de la connexion rétablie.</a:t>
            </a:r>
          </a:p>
          <a:p xmlns:a="http://schemas.openxmlformats.org/drawingml/2006/main">
            <a:r>
              <a:t/>
            </a:r>
          </a:p>
          <a:p xmlns:a="http://schemas.openxmlformats.org/drawingml/2006/main">
            <a:r>
              <a:t>Les avis DSI/RSSI et juridique, la réouverture STOP critique, le smoke du candidat et l’ouverture PowerPoint native restent ouverts. La décision humaine de distribution demeure requise. release_ready=false.</a:t>
            </a:r>
          </a:p>
          <a:p xmlns:a="http://schemas.openxmlformats.org/drawingml/2006/main">
            <a:r>
              <a:t/>
            </a:r>
          </a:p>
          <a:p xmlns:a="http://schemas.openxmlformats.org/drawingml/2006/main">
            <a:r>
              <a:t>Sources publiques assainies consultées pour cette mise à jour :</a:t>
            </a:r>
          </a:p>
          <a:p xmlns:a="http://schemas.openxmlformats.org/drawingml/2006/main">
            <a:r>
              <a:t>constat-connexion-dev7-20261009-093801-0a83c60e/constat-assaini.json</a:t>
            </a:r>
          </a:p>
          <a:p xmlns:a="http://schemas.openxmlformats.org/drawingml/2006/main">
            <a:r>
              <a:t>SHA-256 fae8a90a86039a313bd32691081aa6c5e5092b0150bba3d9741c97cd319615c6</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a:p xmlns:a="http://schemas.openxmlformats.org/drawingml/2006/main">
            <a:r>
              <a:t/>
            </a:r>
          </a:p>
          <a:p xmlns:a="http://schemas.openxmlformats.org/drawingml/2006/main">
            <a:r>
              <a:t>Mise à jour v11 au 9 octobre 2026, constat figé à 09:38:01 UTC. Les notes antérieures, conservées ci-dessus, documentent des snapshots historiques. La connexion juridique auparavant bloquée est désormais réussie. Le bilan comportemental R3 du 8 octobre reste inchangé.</a:t>
            </a:r>
          </a:p>
          <a:p xmlns:a="http://schemas.openxmlformats.org/drawingml/2006/main">
            <a:r>
              <a:t/>
            </a:r>
          </a:p>
          <a:p xmlns:a="http://schemas.openxmlformats.org/drawingml/2006/main">
            <a:r>
              <a:t>Le flux officiel OAuth confirme success=true et error=null à 09:25:09 UTC. La découverte native du candidat confirme oAuth, huit outils et aucune erreur de découverte à 09:25:53 UTC. La recherche native puis fetch à 09:33:11 UTC restituent 773 caractères d’un article et ses métadonnées, dont verified=true. Aucun corps juridique, règle ni identifiant d’article n’est reproduit dans les slides. La capacité de lecture constatée ne prouve ni la couverture de toutes les sources de campagne, ni une revue indépendante de la vigueur ou de l’applicabilité.</a:t>
            </a:r>
          </a:p>
          <a:p xmlns:a="http://schemas.openxmlformats.org/drawingml/2006/main">
            <a:r>
              <a:t/>
            </a:r>
          </a:p>
          <a:p xmlns:a="http://schemas.openxmlformats.org/drawingml/2006/main">
            <a:r>
              <a:t>Le précontrôle Windows à 09:38:01 UTC bloque encore sur le runtime CUA Node actif. Aucun processus n’est terminé automatiquement. La lecture native des skills à froid reste à vérifier. Les quatre erreurs historiques Windows 32 sur node.exe et les sondes application ouverte restent conservées, avec leurs limites. Aucun PID historique détenteur n’est déduit.</a:t>
            </a:r>
          </a:p>
          <a:p xmlns:a="http://schemas.openxmlformats.org/drawingml/2006/main">
            <a:r>
              <a:t/>
            </a:r>
          </a:p>
          <a:p xmlns:a="http://schemas.openxmlformats.org/drawingml/2006/main">
            <a:r>
              <a:t>Zéro nouveau répondant et zéro nouveau juge. Aucune suite complète préparée ou mesurée. Le normaliseur révisé et ses futurs contrôles ne constituent pas une nouvelle mesure comportementale. Le bilan R3 demeure trois cas sur seize, deux réussites et un échec, 16 critères vrais, un faux et six non vérifiables. Les treize cas bloqués avant la mesure R3 ne sont pas réévalués à partir de la connexion rétablie.</a:t>
            </a:r>
          </a:p>
          <a:p xmlns:a="http://schemas.openxmlformats.org/drawingml/2006/main">
            <a:r>
              <a:t/>
            </a:r>
          </a:p>
          <a:p xmlns:a="http://schemas.openxmlformats.org/drawingml/2006/main">
            <a:r>
              <a:t>Les avis DSI/RSSI et juridique, la réouverture STOP critique, le smoke du candidat et l’ouverture PowerPoint native restent ouverts. La décision humaine de distribution demeure requise. release_ready=false.</a:t>
            </a:r>
          </a:p>
          <a:p xmlns:a="http://schemas.openxmlformats.org/drawingml/2006/main">
            <a:r>
              <a:t/>
            </a:r>
          </a:p>
          <a:p xmlns:a="http://schemas.openxmlformats.org/drawingml/2006/main">
            <a:r>
              <a:t>Sources publiques assainies consultées pour cette mise à jour :</a:t>
            </a:r>
          </a:p>
          <a:p xmlns:a="http://schemas.openxmlformats.org/drawingml/2006/main">
            <a:r>
              <a:t>constat-connexion-dev7-20261009-093801-0a83c60e/constat-assaini.json</a:t>
            </a:r>
          </a:p>
          <a:p xmlns:a="http://schemas.openxmlformats.org/drawingml/2006/main">
            <a:r>
              <a:t>SHA-256 fae8a90a86039a313bd32691081aa6c5e5092b0150bba3d9741c97cd319615c6</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a:p xmlns:a="http://schemas.openxmlformats.org/drawingml/2006/main">
            <a:r>
              <a:t/>
            </a:r>
          </a:p>
          <a:p xmlns:a="http://schemas.openxmlformats.org/drawingml/2006/main">
            <a:r>
              <a:t>Mise à jour v11 au 9 octobre 2026, constat figé à 09:38:01 UTC. Les notes antérieures, conservées ci-dessus, documentent des snapshots historiques. La connexion juridique auparavant bloquée est désormais réussie. Le bilan comportemental R3 du 8 octobre reste inchangé.</a:t>
            </a:r>
          </a:p>
          <a:p xmlns:a="http://schemas.openxmlformats.org/drawingml/2006/main">
            <a:r>
              <a:t/>
            </a:r>
          </a:p>
          <a:p xmlns:a="http://schemas.openxmlformats.org/drawingml/2006/main">
            <a:r>
              <a:t>Le flux officiel OAuth confirme success=true et error=null à 09:25:09 UTC. La découverte native du candidat confirme oAuth, huit outils et aucune erreur de découverte à 09:25:53 UTC. La recherche native puis fetch à 09:33:11 UTC restituent 773 caractères d’un article et ses métadonnées, dont verified=true. Aucun corps juridique, règle ni identifiant d’article n’est reproduit dans les slides. La capacité de lecture constatée ne prouve ni la couverture de toutes les sources de campagne, ni une revue indépendante de la vigueur ou de l’applicabilité.</a:t>
            </a:r>
          </a:p>
          <a:p xmlns:a="http://schemas.openxmlformats.org/drawingml/2006/main">
            <a:r>
              <a:t/>
            </a:r>
          </a:p>
          <a:p xmlns:a="http://schemas.openxmlformats.org/drawingml/2006/main">
            <a:r>
              <a:t>Le précontrôle Windows à 09:38:01 UTC bloque encore sur le runtime CUA Node actif. Aucun processus n’est terminé automatiquement. La lecture native des skills à froid reste à vérifier. Les quatre erreurs historiques Windows 32 sur node.exe et les sondes application ouverte restent conservées, avec leurs limites. Aucun PID historique détenteur n’est déduit.</a:t>
            </a:r>
          </a:p>
          <a:p xmlns:a="http://schemas.openxmlformats.org/drawingml/2006/main">
            <a:r>
              <a:t/>
            </a:r>
          </a:p>
          <a:p xmlns:a="http://schemas.openxmlformats.org/drawingml/2006/main">
            <a:r>
              <a:t>Zéro nouveau répondant et zéro nouveau juge. Aucune suite complète préparée ou mesurée. Le normaliseur révisé et ses futurs contrôles ne constituent pas une nouvelle mesure comportementale. Le bilan R3 demeure trois cas sur seize, deux réussites et un échec, 16 critères vrais, un faux et six non vérifiables. Les treize cas bloqués avant la mesure R3 ne sont pas réévalués à partir de la connexion rétablie.</a:t>
            </a:r>
          </a:p>
          <a:p xmlns:a="http://schemas.openxmlformats.org/drawingml/2006/main">
            <a:r>
              <a:t/>
            </a:r>
          </a:p>
          <a:p xmlns:a="http://schemas.openxmlformats.org/drawingml/2006/main">
            <a:r>
              <a:t>Les avis DSI/RSSI et juridique, la réouverture STOP critique, le smoke du candidat et l’ouverture PowerPoint native restent ouverts. La décision humaine de distribution demeure requise. release_ready=false.</a:t>
            </a:r>
          </a:p>
          <a:p xmlns:a="http://schemas.openxmlformats.org/drawingml/2006/main">
            <a:r>
              <a:t/>
            </a:r>
          </a:p>
          <a:p xmlns:a="http://schemas.openxmlformats.org/drawingml/2006/main">
            <a:r>
              <a:t>Sources publiques assainies consultées pour cette mise à jour :</a:t>
            </a:r>
          </a:p>
          <a:p xmlns:a="http://schemas.openxmlformats.org/drawingml/2006/main">
            <a:r>
              <a:t>constat-connexion-dev7-20261009-093801-0a83c60e/constat-assaini.json</a:t>
            </a:r>
          </a:p>
          <a:p xmlns:a="http://schemas.openxmlformats.org/drawingml/2006/main">
            <a:r>
              <a:t>SHA-256 fae8a90a86039a313bd32691081aa6c5e5092b0150bba3d9741c97cd319615c6</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a:p xmlns:a="http://schemas.openxmlformats.org/drawingml/2006/main">
            <a:r>
              <a:t/>
            </a:r>
          </a:p>
          <a:p xmlns:a="http://schemas.openxmlformats.org/drawingml/2006/main">
            <a:r>
              <a:t>Mise à jour v11 au 9 octobre 2026, constat figé à 09:38:01 UTC. Les notes antérieures, conservées ci-dessus, documentent des snapshots historiques. La connexion juridique auparavant bloquée est désormais réussie. Le bilan comportemental R3 du 8 octobre reste inchangé.</a:t>
            </a:r>
          </a:p>
          <a:p xmlns:a="http://schemas.openxmlformats.org/drawingml/2006/main">
            <a:r>
              <a:t/>
            </a:r>
          </a:p>
          <a:p xmlns:a="http://schemas.openxmlformats.org/drawingml/2006/main">
            <a:r>
              <a:t>Le flux officiel OAuth confirme success=true et error=null à 09:25:09 UTC. La découverte native du candidat confirme oAuth, huit outils et aucune erreur de découverte à 09:25:53 UTC. La recherche native puis fetch à 09:33:11 UTC restituent 773 caractères d’un article et ses métadonnées, dont verified=true. Aucun corps juridique, règle ni identifiant d’article n’est reproduit dans les slides. La capacité de lecture constatée ne prouve ni la couverture de toutes les sources de campagne, ni une revue indépendante de la vigueur ou de l’applicabilité.</a:t>
            </a:r>
          </a:p>
          <a:p xmlns:a="http://schemas.openxmlformats.org/drawingml/2006/main">
            <a:r>
              <a:t/>
            </a:r>
          </a:p>
          <a:p xmlns:a="http://schemas.openxmlformats.org/drawingml/2006/main">
            <a:r>
              <a:t>Le précontrôle Windows à 09:38:01 UTC bloque encore sur le runtime CUA Node actif. Aucun processus n’est terminé automatiquement. La lecture native des skills à froid reste à vérifier. Les quatre erreurs historiques Windows 32 sur node.exe et les sondes application ouverte restent conservées, avec leurs limites. Aucun PID historique détenteur n’est déduit.</a:t>
            </a:r>
          </a:p>
          <a:p xmlns:a="http://schemas.openxmlformats.org/drawingml/2006/main">
            <a:r>
              <a:t/>
            </a:r>
          </a:p>
          <a:p xmlns:a="http://schemas.openxmlformats.org/drawingml/2006/main">
            <a:r>
              <a:t>Zéro nouveau répondant et zéro nouveau juge. Aucune suite complète préparée ou mesurée. Le normaliseur révisé et ses futurs contrôles ne constituent pas une nouvelle mesure comportementale. Le bilan R3 demeure trois cas sur seize, deux réussites et un échec, 16 critères vrais, un faux et six non vérifiables. Les treize cas bloqués avant la mesure R3 ne sont pas réévalués à partir de la connexion rétablie.</a:t>
            </a:r>
          </a:p>
          <a:p xmlns:a="http://schemas.openxmlformats.org/drawingml/2006/main">
            <a:r>
              <a:t/>
            </a:r>
          </a:p>
          <a:p xmlns:a="http://schemas.openxmlformats.org/drawingml/2006/main">
            <a:r>
              <a:t>Les avis DSI/RSSI et juridique, la réouverture STOP critique, le smoke du candidat et l’ouverture PowerPoint native restent ouverts. La décision humaine de distribution demeure requise. release_ready=false.</a:t>
            </a:r>
          </a:p>
          <a:p xmlns:a="http://schemas.openxmlformats.org/drawingml/2006/main">
            <a:r>
              <a:t/>
            </a:r>
          </a:p>
          <a:p xmlns:a="http://schemas.openxmlformats.org/drawingml/2006/main">
            <a:r>
              <a:t>Sources publiques assainies consultées pour cette mise à jour :</a:t>
            </a:r>
          </a:p>
          <a:p xmlns:a="http://schemas.openxmlformats.org/drawingml/2006/main">
            <a:r>
              <a:t>constat-connexion-dev7-20261009-093801-0a83c60e/constat-assaini.json</a:t>
            </a:r>
          </a:p>
          <a:p xmlns:a="http://schemas.openxmlformats.org/drawingml/2006/main">
            <a:r>
              <a:t>SHA-256 fae8a90a86039a313bd32691081aa6c5e5092b0150bba3d9741c97cd319615c6</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a:p xmlns:a="http://schemas.openxmlformats.org/drawingml/2006/main">
            <a:r>
              <a:t/>
            </a:r>
          </a:p>
          <a:p xmlns:a="http://schemas.openxmlformats.org/drawingml/2006/main">
            <a:r>
              <a:t>Mise à jour v11 au 9 octobre 2026, constat figé à 09:38:01 UTC. Les notes antérieures, conservées ci-dessus, documentent des snapshots historiques. La connexion juridique auparavant bloquée est désormais réussie. Le bilan comportemental R3 du 8 octobre reste inchangé.</a:t>
            </a:r>
          </a:p>
          <a:p xmlns:a="http://schemas.openxmlformats.org/drawingml/2006/main">
            <a:r>
              <a:t/>
            </a:r>
          </a:p>
          <a:p xmlns:a="http://schemas.openxmlformats.org/drawingml/2006/main">
            <a:r>
              <a:t>Le flux officiel OAuth confirme success=true et error=null à 09:25:09 UTC. La découverte native du candidat confirme oAuth, huit outils et aucune erreur de découverte à 09:25:53 UTC. La recherche native puis fetch à 09:33:11 UTC restituent 773 caractères d’un article et ses métadonnées, dont verified=true. Aucun corps juridique, règle ni identifiant d’article n’est reproduit dans les slides. La capacité de lecture constatée ne prouve ni la couverture de toutes les sources de campagne, ni une revue indépendante de la vigueur ou de l’applicabilité.</a:t>
            </a:r>
          </a:p>
          <a:p xmlns:a="http://schemas.openxmlformats.org/drawingml/2006/main">
            <a:r>
              <a:t/>
            </a:r>
          </a:p>
          <a:p xmlns:a="http://schemas.openxmlformats.org/drawingml/2006/main">
            <a:r>
              <a:t>Le précontrôle Windows à 09:38:01 UTC bloque encore sur le runtime CUA Node actif. Aucun processus n’est terminé automatiquement. La lecture native des skills à froid reste à vérifier. Les quatre erreurs historiques Windows 32 sur node.exe et les sondes application ouverte restent conservées, avec leurs limites. Aucun PID historique détenteur n’est déduit.</a:t>
            </a:r>
          </a:p>
          <a:p xmlns:a="http://schemas.openxmlformats.org/drawingml/2006/main">
            <a:r>
              <a:t/>
            </a:r>
          </a:p>
          <a:p xmlns:a="http://schemas.openxmlformats.org/drawingml/2006/main">
            <a:r>
              <a:t>Zéro nouveau répondant et zéro nouveau juge. Aucune suite complète préparée ou mesurée. Le normaliseur révisé et ses futurs contrôles ne constituent pas une nouvelle mesure comportementale. Le bilan R3 demeure trois cas sur seize, deux réussites et un échec, 16 critères vrais, un faux et six non vérifiables. Les treize cas bloqués avant la mesure R3 ne sont pas réévalués à partir de la connexion rétablie.</a:t>
            </a:r>
          </a:p>
          <a:p xmlns:a="http://schemas.openxmlformats.org/drawingml/2006/main">
            <a:r>
              <a:t/>
            </a:r>
          </a:p>
          <a:p xmlns:a="http://schemas.openxmlformats.org/drawingml/2006/main">
            <a:r>
              <a:t>Les avis DSI/RSSI et juridique, la réouverture STOP critique, le smoke du candidat et l’ouverture PowerPoint native restent ouverts. La décision humaine de distribution demeure requise. release_ready=false.</a:t>
            </a:r>
          </a:p>
          <a:p xmlns:a="http://schemas.openxmlformats.org/drawingml/2006/main">
            <a:r>
              <a:t/>
            </a:r>
          </a:p>
          <a:p xmlns:a="http://schemas.openxmlformats.org/drawingml/2006/main">
            <a:r>
              <a:t>Sources publiques assainies consultées pour cette mise à jour :</a:t>
            </a:r>
          </a:p>
          <a:p xmlns:a="http://schemas.openxmlformats.org/drawingml/2006/main">
            <a:r>
              <a:t>constat-connexion-dev7-20261009-093801-0a83c60e/constat-assaini.json</a:t>
            </a:r>
          </a:p>
          <a:p xmlns:a="http://schemas.openxmlformats.org/drawingml/2006/main">
            <a:r>
              <a:t>SHA-256 fae8a90a86039a313bd32691081aa6c5e5092b0150bba3d9741c97cd319615c6</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a:p xmlns:a="http://schemas.openxmlformats.org/drawingml/2006/main">
            <a:r>
              <a:t/>
            </a:r>
          </a:p>
          <a:p xmlns:a="http://schemas.openxmlformats.org/drawingml/2006/main">
            <a:r>
              <a:t>Mise à jour v11 au 9 octobre 2026, constat figé à 09:38:01 UTC. Les notes antérieures, conservées ci-dessus, documentent des snapshots historiques. La connexion juridique auparavant bloquée est désormais réussie. Le bilan comportemental R3 du 8 octobre reste inchangé.</a:t>
            </a:r>
          </a:p>
          <a:p xmlns:a="http://schemas.openxmlformats.org/drawingml/2006/main">
            <a:r>
              <a:t/>
            </a:r>
          </a:p>
          <a:p xmlns:a="http://schemas.openxmlformats.org/drawingml/2006/main">
            <a:r>
              <a:t>Le flux officiel OAuth confirme success=true et error=null à 09:25:09 UTC. La découverte native du candidat confirme oAuth, huit outils et aucune erreur de découverte à 09:25:53 UTC. La recherche native puis fetch à 09:33:11 UTC restituent 773 caractères d’un article et ses métadonnées, dont verified=true. Aucun corps juridique, règle ni identifiant d’article n’est reproduit dans les slides. La capacité de lecture constatée ne prouve ni la couverture de toutes les sources de campagne, ni une revue indépendante de la vigueur ou de l’applicabilité.</a:t>
            </a:r>
          </a:p>
          <a:p xmlns:a="http://schemas.openxmlformats.org/drawingml/2006/main">
            <a:r>
              <a:t/>
            </a:r>
          </a:p>
          <a:p xmlns:a="http://schemas.openxmlformats.org/drawingml/2006/main">
            <a:r>
              <a:t>Le précontrôle Windows à 09:38:01 UTC bloque encore sur le runtime CUA Node actif. Aucun processus n’est terminé automatiquement. La lecture native des skills à froid reste à vérifier. Les quatre erreurs historiques Windows 32 sur node.exe et les sondes application ouverte restent conservées, avec leurs limites. Aucun PID historique détenteur n’est déduit.</a:t>
            </a:r>
          </a:p>
          <a:p xmlns:a="http://schemas.openxmlformats.org/drawingml/2006/main">
            <a:r>
              <a:t/>
            </a:r>
          </a:p>
          <a:p xmlns:a="http://schemas.openxmlformats.org/drawingml/2006/main">
            <a:r>
              <a:t>Zéro nouveau répondant et zéro nouveau juge. Aucune suite complète préparée ou mesurée. Le normaliseur révisé et ses futurs contrôles ne constituent pas une nouvelle mesure comportementale. Le bilan R3 demeure trois cas sur seize, deux réussites et un échec, 16 critères vrais, un faux et six non vérifiables. Les treize cas bloqués avant la mesure R3 ne sont pas réévalués à partir de la connexion rétablie.</a:t>
            </a:r>
          </a:p>
          <a:p xmlns:a="http://schemas.openxmlformats.org/drawingml/2006/main">
            <a:r>
              <a:t/>
            </a:r>
          </a:p>
          <a:p xmlns:a="http://schemas.openxmlformats.org/drawingml/2006/main">
            <a:r>
              <a:t>Les avis DSI/RSSI et juridique, la réouverture STOP critique, le smoke du candidat et l’ouverture PowerPoint native restent ouverts. La décision humaine de distribution demeure requise. release_ready=false.</a:t>
            </a:r>
          </a:p>
          <a:p xmlns:a="http://schemas.openxmlformats.org/drawingml/2006/main">
            <a:r>
              <a:t/>
            </a:r>
          </a:p>
          <a:p xmlns:a="http://schemas.openxmlformats.org/drawingml/2006/main">
            <a:r>
              <a:t>Sources publiques assainies consultées pour cette mise à jour :</a:t>
            </a:r>
          </a:p>
          <a:p xmlns:a="http://schemas.openxmlformats.org/drawingml/2006/main">
            <a:r>
              <a:t>constat-connexion-dev7-20261009-093801-0a83c60e/constat-assaini.json</a:t>
            </a:r>
          </a:p>
          <a:p xmlns:a="http://schemas.openxmlformats.org/drawingml/2006/main">
            <a:r>
              <a:t>SHA-256 fae8a90a86039a313bd32691081aa6c5e5092b0150bba3d9741c97cd319615c6</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a:p xmlns:a="http://schemas.openxmlformats.org/drawingml/2006/main">
            <a:r>
              <a:t/>
            </a:r>
          </a:p>
          <a:p xmlns:a="http://schemas.openxmlformats.org/drawingml/2006/main">
            <a:r>
              <a:t>Mise à jour v11 au 9 octobre 2026, constat figé à 09:38:01 UTC. Les notes antérieures, conservées ci-dessus, documentent des snapshots historiques. La connexion juridique auparavant bloquée est désormais réussie. Le bilan comportemental R3 du 8 octobre reste inchangé.</a:t>
            </a:r>
          </a:p>
          <a:p xmlns:a="http://schemas.openxmlformats.org/drawingml/2006/main">
            <a:r>
              <a:t/>
            </a:r>
          </a:p>
          <a:p xmlns:a="http://schemas.openxmlformats.org/drawingml/2006/main">
            <a:r>
              <a:t>Le flux officiel OAuth confirme success=true et error=null à 09:25:09 UTC. La découverte native du candidat confirme oAuth, huit outils et aucune erreur de découverte à 09:25:53 UTC. La recherche native puis fetch à 09:33:11 UTC restituent 773 caractères d’un article et ses métadonnées, dont verified=true. Aucun corps juridique, règle ni identifiant d’article n’est reproduit dans les slides. La capacité de lecture constatée ne prouve ni la couverture de toutes les sources de campagne, ni une revue indépendante de la vigueur ou de l’applicabilité.</a:t>
            </a:r>
          </a:p>
          <a:p xmlns:a="http://schemas.openxmlformats.org/drawingml/2006/main">
            <a:r>
              <a:t/>
            </a:r>
          </a:p>
          <a:p xmlns:a="http://schemas.openxmlformats.org/drawingml/2006/main">
            <a:r>
              <a:t>Le précontrôle Windows à 09:38:01 UTC bloque encore sur le runtime CUA Node actif. Aucun processus n’est terminé automatiquement. La lecture native des skills à froid reste à vérifier. Les quatre erreurs historiques Windows 32 sur node.exe et les sondes application ouverte restent conservées, avec leurs limites. Aucun PID historique détenteur n’est déduit.</a:t>
            </a:r>
          </a:p>
          <a:p xmlns:a="http://schemas.openxmlformats.org/drawingml/2006/main">
            <a:r>
              <a:t/>
            </a:r>
          </a:p>
          <a:p xmlns:a="http://schemas.openxmlformats.org/drawingml/2006/main">
            <a:r>
              <a:t>Zéro nouveau répondant et zéro nouveau juge. Aucune suite complète préparée ou mesurée. Le normaliseur révisé et ses futurs contrôles ne constituent pas une nouvelle mesure comportementale. Le bilan R3 demeure trois cas sur seize, deux réussites et un échec, 16 critères vrais, un faux et six non vérifiables. Les treize cas bloqués avant la mesure R3 ne sont pas réévalués à partir de la connexion rétablie.</a:t>
            </a:r>
          </a:p>
          <a:p xmlns:a="http://schemas.openxmlformats.org/drawingml/2006/main">
            <a:r>
              <a:t/>
            </a:r>
          </a:p>
          <a:p xmlns:a="http://schemas.openxmlformats.org/drawingml/2006/main">
            <a:r>
              <a:t>Les avis DSI/RSSI et juridique, la réouverture STOP critique, le smoke du candidat et l’ouverture PowerPoint native restent ouverts. La décision humaine de distribution demeure requise. release_ready=false.</a:t>
            </a:r>
          </a:p>
          <a:p xmlns:a="http://schemas.openxmlformats.org/drawingml/2006/main">
            <a:r>
              <a:t/>
            </a:r>
          </a:p>
          <a:p xmlns:a="http://schemas.openxmlformats.org/drawingml/2006/main">
            <a:r>
              <a:t>Sources publiques assainies consultées pour cette mise à jour :</a:t>
            </a:r>
          </a:p>
          <a:p xmlns:a="http://schemas.openxmlformats.org/drawingml/2006/main">
            <a:r>
              <a:t>constat-connexion-dev7-20261009-093801-0a83c60e/constat-assaini.json</a:t>
            </a:r>
          </a:p>
          <a:p xmlns:a="http://schemas.openxmlformats.org/drawingml/2006/main">
            <a:r>
              <a:t>SHA-256 fae8a90a86039a313bd32691081aa6c5e5092b0150bba3d9741c97cd319615c6</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a:p xmlns:a="http://schemas.openxmlformats.org/drawingml/2006/main">
            <a:r>
              <a:t/>
            </a:r>
          </a:p>
          <a:p xmlns:a="http://schemas.openxmlformats.org/drawingml/2006/main">
            <a:r>
              <a:t>Mise à jour v11 au 9 octobre 2026, constat figé à 09:38:01 UTC. Les notes antérieures, conservées ci-dessus, documentent des snapshots historiques. La connexion juridique auparavant bloquée est désormais réussie. Le bilan comportemental R3 du 8 octobre reste inchangé.</a:t>
            </a:r>
          </a:p>
          <a:p xmlns:a="http://schemas.openxmlformats.org/drawingml/2006/main">
            <a:r>
              <a:t/>
            </a:r>
          </a:p>
          <a:p xmlns:a="http://schemas.openxmlformats.org/drawingml/2006/main">
            <a:r>
              <a:t>Le flux officiel OAuth confirme success=true et error=null à 09:25:09 UTC. La découverte native du candidat confirme oAuth, huit outils et aucune erreur de découverte à 09:25:53 UTC. La recherche native puis fetch à 09:33:11 UTC restituent 773 caractères d’un article et ses métadonnées, dont verified=true. Aucun corps juridique, règle ni identifiant d’article n’est reproduit dans les slides. La capacité de lecture constatée ne prouve ni la couverture de toutes les sources de campagne, ni une revue indépendante de la vigueur ou de l’applicabilité.</a:t>
            </a:r>
          </a:p>
          <a:p xmlns:a="http://schemas.openxmlformats.org/drawingml/2006/main">
            <a:r>
              <a:t/>
            </a:r>
          </a:p>
          <a:p xmlns:a="http://schemas.openxmlformats.org/drawingml/2006/main">
            <a:r>
              <a:t>Le précontrôle Windows à 09:38:01 UTC bloque encore sur le runtime CUA Node actif. Aucun processus n’est terminé automatiquement. La lecture native des skills à froid reste à vérifier. Les quatre erreurs historiques Windows 32 sur node.exe et les sondes application ouverte restent conservées, avec leurs limites. Aucun PID historique détenteur n’est déduit.</a:t>
            </a:r>
          </a:p>
          <a:p xmlns:a="http://schemas.openxmlformats.org/drawingml/2006/main">
            <a:r>
              <a:t/>
            </a:r>
          </a:p>
          <a:p xmlns:a="http://schemas.openxmlformats.org/drawingml/2006/main">
            <a:r>
              <a:t>Zéro nouveau répondant et zéro nouveau juge. Aucune suite complète préparée ou mesurée. Le normaliseur révisé et ses futurs contrôles ne constituent pas une nouvelle mesure comportementale. Le bilan R3 demeure trois cas sur seize, deux réussites et un échec, 16 critères vrais, un faux et six non vérifiables. Les treize cas bloqués avant la mesure R3 ne sont pas réévalués à partir de la connexion rétablie.</a:t>
            </a:r>
          </a:p>
          <a:p xmlns:a="http://schemas.openxmlformats.org/drawingml/2006/main">
            <a:r>
              <a:t/>
            </a:r>
          </a:p>
          <a:p xmlns:a="http://schemas.openxmlformats.org/drawingml/2006/main">
            <a:r>
              <a:t>Les avis DSI/RSSI et juridique, la réouverture STOP critique, le smoke du candidat et l’ouverture PowerPoint native restent ouverts. La décision humaine de distribution demeure requise. release_ready=false.</a:t>
            </a:r>
          </a:p>
          <a:p xmlns:a="http://schemas.openxmlformats.org/drawingml/2006/main">
            <a:r>
              <a:t/>
            </a:r>
          </a:p>
          <a:p xmlns:a="http://schemas.openxmlformats.org/drawingml/2006/main">
            <a:r>
              <a:t>Sources publiques assainies consultées pour cette mise à jour :</a:t>
            </a:r>
          </a:p>
          <a:p xmlns:a="http://schemas.openxmlformats.org/drawingml/2006/main">
            <a:r>
              <a:t>constat-connexion-dev7-20261009-093801-0a83c60e/constat-assaini.json</a:t>
            </a:r>
          </a:p>
          <a:p xmlns:a="http://schemas.openxmlformats.org/drawingml/2006/main">
            <a:r>
              <a:t>SHA-256 fae8a90a86039a313bd32691081aa6c5e5092b0150bba3d9741c97cd319615c6</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a:p xmlns:a="http://schemas.openxmlformats.org/drawingml/2006/main">
            <a:r>
              <a:t/>
            </a:r>
          </a:p>
          <a:p xmlns:a="http://schemas.openxmlformats.org/drawingml/2006/main">
            <a:r>
              <a:t>Mise à jour v11 au 9 octobre 2026, constat figé à 09:38:01 UTC. Les notes antérieures, conservées ci-dessus, documentent des snapshots historiques. La connexion juridique auparavant bloquée est désormais réussie. Le bilan comportemental R3 du 8 octobre reste inchangé.</a:t>
            </a:r>
          </a:p>
          <a:p xmlns:a="http://schemas.openxmlformats.org/drawingml/2006/main">
            <a:r>
              <a:t/>
            </a:r>
          </a:p>
          <a:p xmlns:a="http://schemas.openxmlformats.org/drawingml/2006/main">
            <a:r>
              <a:t>Le flux officiel OAuth confirme success=true et error=null à 09:25:09 UTC. La découverte native du candidat confirme oAuth, huit outils et aucune erreur de découverte à 09:25:53 UTC. La recherche native puis fetch à 09:33:11 UTC restituent 773 caractères d’un article et ses métadonnées, dont verified=true. Aucun corps juridique, règle ni identifiant d’article n’est reproduit dans les slides. La capacité de lecture constatée ne prouve ni la couverture de toutes les sources de campagne, ni une revue indépendante de la vigueur ou de l’applicabilité.</a:t>
            </a:r>
          </a:p>
          <a:p xmlns:a="http://schemas.openxmlformats.org/drawingml/2006/main">
            <a:r>
              <a:t/>
            </a:r>
          </a:p>
          <a:p xmlns:a="http://schemas.openxmlformats.org/drawingml/2006/main">
            <a:r>
              <a:t>Le précontrôle Windows à 09:38:01 UTC bloque encore sur le runtime CUA Node actif. Aucun processus n’est terminé automatiquement. La lecture native des skills à froid reste à vérifier. Les quatre erreurs historiques Windows 32 sur node.exe et les sondes application ouverte restent conservées, avec leurs limites. Aucun PID historique détenteur n’est déduit.</a:t>
            </a:r>
          </a:p>
          <a:p xmlns:a="http://schemas.openxmlformats.org/drawingml/2006/main">
            <a:r>
              <a:t/>
            </a:r>
          </a:p>
          <a:p xmlns:a="http://schemas.openxmlformats.org/drawingml/2006/main">
            <a:r>
              <a:t>Zéro nouveau répondant et zéro nouveau juge. Aucune suite complète préparée ou mesurée. Le normaliseur révisé et ses futurs contrôles ne constituent pas une nouvelle mesure comportementale. Le bilan R3 demeure trois cas sur seize, deux réussites et un échec, 16 critères vrais, un faux et six non vérifiables. Les treize cas bloqués avant la mesure R3 ne sont pas réévalués à partir de la connexion rétablie.</a:t>
            </a:r>
          </a:p>
          <a:p xmlns:a="http://schemas.openxmlformats.org/drawingml/2006/main">
            <a:r>
              <a:t/>
            </a:r>
          </a:p>
          <a:p xmlns:a="http://schemas.openxmlformats.org/drawingml/2006/main">
            <a:r>
              <a:t>Les avis DSI/RSSI et juridique, la réouverture STOP critique, le smoke du candidat et l’ouverture PowerPoint native restent ouverts. La décision humaine de distribution demeure requise. release_ready=false.</a:t>
            </a:r>
          </a:p>
          <a:p xmlns:a="http://schemas.openxmlformats.org/drawingml/2006/main">
            <a:r>
              <a:t/>
            </a:r>
          </a:p>
          <a:p xmlns:a="http://schemas.openxmlformats.org/drawingml/2006/main">
            <a:r>
              <a:t>Sources publiques assainies consultées pour cette mise à jour :</a:t>
            </a:r>
          </a:p>
          <a:p xmlns:a="http://schemas.openxmlformats.org/drawingml/2006/main">
            <a:r>
              <a:t>constat-connexion-dev7-20261009-093801-0a83c60e/constat-assaini.json</a:t>
            </a:r>
          </a:p>
          <a:p xmlns:a="http://schemas.openxmlformats.org/drawingml/2006/main">
            <a:r>
              <a:t>SHA-256 fae8a90a86039a313bd32691081aa6c5e5092b0150bba3d9741c97cd319615c6</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a:p xmlns:a="http://schemas.openxmlformats.org/drawingml/2006/main">
            <a:r>
              <a:t/>
            </a:r>
          </a:p>
          <a:p xmlns:a="http://schemas.openxmlformats.org/drawingml/2006/main">
            <a:r>
              <a:t>Mise à jour v11 au 9 octobre 2026, constat figé à 09:38:01 UTC. Les notes antérieures, conservées ci-dessus, documentent des snapshots historiques. La connexion juridique auparavant bloquée est désormais réussie. Le bilan comportemental R3 du 8 octobre reste inchangé.</a:t>
            </a:r>
          </a:p>
          <a:p xmlns:a="http://schemas.openxmlformats.org/drawingml/2006/main">
            <a:r>
              <a:t/>
            </a:r>
          </a:p>
          <a:p xmlns:a="http://schemas.openxmlformats.org/drawingml/2006/main">
            <a:r>
              <a:t>Le flux officiel OAuth confirme success=true et error=null à 09:25:09 UTC. La découverte native du candidat confirme oAuth, huit outils et aucune erreur de découverte à 09:25:53 UTC. La recherche native puis fetch à 09:33:11 UTC restituent 773 caractères d’un article et ses métadonnées, dont verified=true. Aucun corps juridique, règle ni identifiant d’article n’est reproduit dans les slides. La capacité de lecture constatée ne prouve ni la couverture de toutes les sources de campagne, ni une revue indépendante de la vigueur ou de l’applicabilité.</a:t>
            </a:r>
          </a:p>
          <a:p xmlns:a="http://schemas.openxmlformats.org/drawingml/2006/main">
            <a:r>
              <a:t/>
            </a:r>
          </a:p>
          <a:p xmlns:a="http://schemas.openxmlformats.org/drawingml/2006/main">
            <a:r>
              <a:t>Le précontrôle Windows à 09:38:01 UTC bloque encore sur le runtime CUA Node actif. Aucun processus n’est terminé automatiquement. La lecture native des skills à froid reste à vérifier. Les quatre erreurs historiques Windows 32 sur node.exe et les sondes application ouverte restent conservées, avec leurs limites. Aucun PID historique détenteur n’est déduit.</a:t>
            </a:r>
          </a:p>
          <a:p xmlns:a="http://schemas.openxmlformats.org/drawingml/2006/main">
            <a:r>
              <a:t/>
            </a:r>
          </a:p>
          <a:p xmlns:a="http://schemas.openxmlformats.org/drawingml/2006/main">
            <a:r>
              <a:t>Zéro nouveau répondant et zéro nouveau juge. Aucune suite complète préparée ou mesurée. Le normaliseur révisé et ses futurs contrôles ne constituent pas une nouvelle mesure comportementale. Le bilan R3 demeure trois cas sur seize, deux réussites et un échec, 16 critères vrais, un faux et six non vérifiables. Les treize cas bloqués avant la mesure R3 ne sont pas réévalués à partir de la connexion rétablie.</a:t>
            </a:r>
          </a:p>
          <a:p xmlns:a="http://schemas.openxmlformats.org/drawingml/2006/main">
            <a:r>
              <a:t/>
            </a:r>
          </a:p>
          <a:p xmlns:a="http://schemas.openxmlformats.org/drawingml/2006/main">
            <a:r>
              <a:t>Les avis DSI/RSSI et juridique, la réouverture STOP critique, le smoke du candidat et l’ouverture PowerPoint native restent ouverts. La décision humaine de distribution demeure requise. release_ready=false.</a:t>
            </a:r>
          </a:p>
          <a:p xmlns:a="http://schemas.openxmlformats.org/drawingml/2006/main">
            <a:r>
              <a:t/>
            </a:r>
          </a:p>
          <a:p xmlns:a="http://schemas.openxmlformats.org/drawingml/2006/main">
            <a:r>
              <a:t>Sources publiques assainies consultées pour cette mise à jour :</a:t>
            </a:r>
          </a:p>
          <a:p xmlns:a="http://schemas.openxmlformats.org/drawingml/2006/main">
            <a:r>
              <a:t>constat-connexion-dev7-20261009-093801-0a83c60e/constat-assaini.json</a:t>
            </a:r>
          </a:p>
          <a:p xmlns:a="http://schemas.openxmlformats.org/drawingml/2006/main">
            <a:r>
              <a:t>SHA-256 fae8a90a86039a313bd32691081aa6c5e5092b0150bba3d9741c97cd319615c6</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a:p xmlns:a="http://schemas.openxmlformats.org/drawingml/2006/main">
            <a:r>
              <a:t/>
            </a:r>
          </a:p>
          <a:p xmlns:a="http://schemas.openxmlformats.org/drawingml/2006/main">
            <a:r>
              <a:t>Mise à jour v11 au 9 octobre 2026, constat figé à 09:38:01 UTC. Les notes antérieures, conservées ci-dessus, documentent des snapshots historiques. La connexion juridique auparavant bloquée est désormais réussie. Le bilan comportemental R3 du 8 octobre reste inchangé.</a:t>
            </a:r>
          </a:p>
          <a:p xmlns:a="http://schemas.openxmlformats.org/drawingml/2006/main">
            <a:r>
              <a:t/>
            </a:r>
          </a:p>
          <a:p xmlns:a="http://schemas.openxmlformats.org/drawingml/2006/main">
            <a:r>
              <a:t>Le flux officiel OAuth confirme success=true et error=null à 09:25:09 UTC. La découverte native du candidat confirme oAuth, huit outils et aucune erreur de découverte à 09:25:53 UTC. La recherche native puis fetch à 09:33:11 UTC restituent 773 caractères d’un article et ses métadonnées, dont verified=true. Aucun corps juridique, règle ni identifiant d’article n’est reproduit dans les slides. La capacité de lecture constatée ne prouve ni la couverture de toutes les sources de campagne, ni une revue indépendante de la vigueur ou de l’applicabilité.</a:t>
            </a:r>
          </a:p>
          <a:p xmlns:a="http://schemas.openxmlformats.org/drawingml/2006/main">
            <a:r>
              <a:t/>
            </a:r>
          </a:p>
          <a:p xmlns:a="http://schemas.openxmlformats.org/drawingml/2006/main">
            <a:r>
              <a:t>Le précontrôle Windows à 09:38:01 UTC bloque encore sur le runtime CUA Node actif. Aucun processus n’est terminé automatiquement. La lecture native des skills à froid reste à vérifier. Les quatre erreurs historiques Windows 32 sur node.exe et les sondes application ouverte restent conservées, avec leurs limites. Aucun PID historique détenteur n’est déduit.</a:t>
            </a:r>
          </a:p>
          <a:p xmlns:a="http://schemas.openxmlformats.org/drawingml/2006/main">
            <a:r>
              <a:t/>
            </a:r>
          </a:p>
          <a:p xmlns:a="http://schemas.openxmlformats.org/drawingml/2006/main">
            <a:r>
              <a:t>Zéro nouveau répondant et zéro nouveau juge. Aucune suite complète préparée ou mesurée. Le normaliseur révisé et ses futurs contrôles ne constituent pas une nouvelle mesure comportementale. Le bilan R3 demeure trois cas sur seize, deux réussites et un échec, 16 critères vrais, un faux et six non vérifiables. Les treize cas bloqués avant la mesure R3 ne sont pas réévalués à partir de la connexion rétablie.</a:t>
            </a:r>
          </a:p>
          <a:p xmlns:a="http://schemas.openxmlformats.org/drawingml/2006/main">
            <a:r>
              <a:t/>
            </a:r>
          </a:p>
          <a:p xmlns:a="http://schemas.openxmlformats.org/drawingml/2006/main">
            <a:r>
              <a:t>Les avis DSI/RSSI et juridique, la réouverture STOP critique, le smoke du candidat et l’ouverture PowerPoint native restent ouverts. La décision humaine de distribution demeure requise. release_ready=false.</a:t>
            </a:r>
          </a:p>
          <a:p xmlns:a="http://schemas.openxmlformats.org/drawingml/2006/main">
            <a:r>
              <a:t/>
            </a:r>
          </a:p>
          <a:p xmlns:a="http://schemas.openxmlformats.org/drawingml/2006/main">
            <a:r>
              <a:t>Sources publiques assainies consultées pour cette mise à jour :</a:t>
            </a:r>
          </a:p>
          <a:p xmlns:a="http://schemas.openxmlformats.org/drawingml/2006/main">
            <a:r>
              <a:t>constat-connexion-dev7-20261009-093801-0a83c60e/constat-assaini.json</a:t>
            </a:r>
          </a:p>
          <a:p xmlns:a="http://schemas.openxmlformats.org/drawingml/2006/main">
            <a:r>
              <a:t>SHA-256 fae8a90a86039a313bd32691081aa6c5e5092b0150bba3d9741c97cd319615c6</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0b57a8c45544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8f83ec83dc4536" /><Relationship Type="http://schemas.openxmlformats.org/officeDocument/2006/relationships/slideLayout" Target="/ppt/slideLayouts/slideLayout1.xml" Id="R3e1f1ad1329d42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1f1ad1329d42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797d6698184f06" /><Relationship Type="http://schemas.openxmlformats.org/officeDocument/2006/relationships/notesSlide" Target="/ppt/notesSlides/notesSlide1.xml" Id="Rb687f39e2ded4b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201e282c3f4241" /><Relationship Type="http://schemas.openxmlformats.org/officeDocument/2006/relationships/notesSlide" Target="/ppt/notesSlides/notesSlide2.xml" Id="R056caa4c402547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f2c6f4d3dc4391" /><Relationship Type="http://schemas.openxmlformats.org/officeDocument/2006/relationships/notesSlide" Target="/ppt/notesSlides/notesSlide3.xml" Id="Ra888788e72114e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57f7764f3b494e" /><Relationship Type="http://schemas.openxmlformats.org/officeDocument/2006/relationships/chart" Target="/ppt/slides/charts/chart1.xml" Id="Reced6cdaf47746c9" /><Relationship Type="http://schemas.openxmlformats.org/officeDocument/2006/relationships/notesSlide" Target="/ppt/notesSlides/notesSlide4.xml" Id="Rea620027f20c41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7003c8fe8c4dfe" /><Relationship Type="http://schemas.openxmlformats.org/officeDocument/2006/relationships/notesSlide" Target="/ppt/notesSlides/notesSlide5.xml" Id="R049fdd3880f148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d6799927574dbb" /><Relationship Type="http://schemas.openxmlformats.org/officeDocument/2006/relationships/notesSlide" Target="/ppt/notesSlides/notesSlide6.xml" Id="R4734dfaef46349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df8a163fd74daf" /><Relationship Type="http://schemas.openxmlformats.org/officeDocument/2006/relationships/notesSlide" Target="/ppt/notesSlides/notesSlide7.xml" Id="R4f1ffa2a30224c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9601a96a654d70" /><Relationship Type="http://schemas.openxmlformats.org/officeDocument/2006/relationships/notesSlide" Target="/ppt/notesSlides/notesSlide8.xml" Id="R599a6b3cfd1047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0c873446ae4db2" /><Relationship Type="http://schemas.openxmlformats.org/officeDocument/2006/relationships/notesSlide" Target="/ppt/notesSlides/notesSlide9.xml" Id="R956a48f4cd2d4a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f21e6304984565" /><Relationship Type="http://schemas.openxmlformats.org/officeDocument/2006/relationships/notesSlide" Target="/ppt/notesSlides/notesSlide10.xml" Id="R5e14a7a8d0d24a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1b4875eec5a411c" /><Relationship Type="http://schemas.openxmlformats.org/officeDocument/2006/relationships/notesSlide" Target="/ppt/notesSlides/notesSlide11.xml" Id="R278bc091349f43c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ns1="http://schemas.openxmlformats.org/drawingml/2006/main" xmlns:ns2="http://schemas.openxmlformats.org/officeDocument/2006/relationships">
  <c:lang val="en-US"/>
  <c:chart>
    <c:plotArea>
      <c:barChart>
        <c:barDir val="bar"/>
        <c:grouping val="clustered"/>
        <c:varyColors val="0"/>
        <c:ser>
          <c:idx val="0"/>
          <c:order val="0"/>
          <c:tx>
            <c:v>Nombre de cas</c:v>
          </c:tx>
          <c:spPr>
            <ns1:solidFill>
              <ns1:srgbClr val="176E78"/>
            </ns1:solidFill>
          </c:spPr>
          <c:cat>
            <c:strRef>
              <c:f>'Chart Data'!$A$2:$A$4</c:f>
              <c:strCache>
                <c:ptCount val="3"/>
                <c:pt idx="0">
                  <c:v>Réussite</c:v>
                </c:pt>
                <c:pt idx="1">
                  <c:v>Demi-réussite</c:v>
                </c:pt>
                <c:pt idx="2">
                  <c:v>Échec</c:v>
                </c:pt>
              </c:strCache>
            </c:strRef>
          </c:cat>
          <c:val>
            <c:numRef>
              <c:f>'Chart Data'!$B$2:$B$4</c:f>
              <c:numCache>
                <c:formatCode>0</c:formatCode>
                <c:ptCount val="3"/>
                <c:pt idx="0">
                  <c:v>28</c:v>
                </c:pt>
                <c:pt idx="1">
                  <c:v>0</c:v>
                </c:pt>
                <c:pt idx="2">
                  <c:v>0</c:v>
                </c:pt>
              </c:numCache>
            </c:numRef>
          </c:val>
        </c:ser>
        <c:dLbls>
          <c:txPr>
            <ns1:bodyPr anchorCtr="1"/>
            <ns1:lstStyle/>
            <ns1:p>
              <ns1:pPr>
                <ns1:defRPr sz="1950" b="1">
                  <ns1:latin typeface="Arial"/>
                  <ns1:ea typeface="Arial"/>
                  <ns1:cs typeface="Arial"/>
                </ns1:defRPr>
              </ns1:pPr>
            </ns1: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ns1:ln w="9525">
            <ns1:solidFill>
              <ns1:srgbClr val="D4D4D4"/>
            </ns1:solidFill>
            <ns1:prstDash val="solid"/>
          </ns1:ln>
        </c:spPr>
        <c:txPr>
          <ns1:bodyPr anchorCtr="1"/>
          <ns1:lstStyle/>
          <ns1:p>
            <ns1:pPr>
              <ns1:defRPr sz="1800">
                <ns1:solidFill>
                  <ns1:srgbClr val="666666"/>
                </ns1:solidFill>
                <ns1:latin typeface="Arial"/>
                <ns1:ea typeface="Arial"/>
                <ns1:cs typeface="Arial"/>
              </ns1:defRPr>
            </ns1:pPr>
          </ns1:p>
        </c:txPr>
        <c:crossAx val="48672768"/>
      </c:catAx>
      <c:valAx>
        <c:axId val="48672768"/>
        <c:scaling>
          <c:orientation val="minMax"/>
        </c:scaling>
        <c:delete val="0"/>
        <c:axPos val="b"/>
        <c:numFmt formatCode="0"/>
        <c:majorTickMark val="none"/>
        <c:minorTickMark val="none"/>
        <c:spPr>
          <ns1:ln w="9525">
            <ns1:solidFill>
              <ns1:srgbClr val="D4D4D4"/>
            </ns1:solidFill>
            <ns1:prstDash val="solid"/>
          </ns1:ln>
        </c:spPr>
        <c:txPr>
          <ns1:bodyPr anchorCtr="1"/>
          <ns1:lstStyle/>
          <ns1:p>
            <ns1:pPr>
              <ns1:defRPr sz="1800">
                <ns1:solidFill>
                  <ns1:srgbClr val="666666"/>
                </ns1:solidFill>
                <ns1:latin typeface="Arial"/>
                <ns1:ea typeface="Arial"/>
                <ns1:cs typeface="Arial"/>
              </ns1:defRPr>
            </ns1:pPr>
          </ns1:p>
        </c:txPr>
        <c:crossAx val="48650112"/>
        <c:crossBetween val="between"/>
      </c:valAx>
      <c:spPr>
        <ns1:solidFill>
          <ns1:srgbClr val="FFFFFF"/>
        </ns1:solidFill>
      </c:spPr>
    </c:plotArea>
    <c:plotVisOnly val="1"/>
  </c:chart>
  <c:spPr>
    <ns1:solidFill>
      <ns1:srgbClr val="FFFFFF"/>
    </ns1:solidFill>
  </c:spPr>
  <c:externalData ns2:id="rIdChartSnapshot1">
    <c:autoUpdate val="0"/>
  </c:externalData>
</c:chartSpace>
</file>

<file path=ppt/slides/slide1.xml><?xml version="1.0" encoding="utf-8"?>
<p:sld xmlns:p="http://schemas.openxmlformats.org/presentationml/2006/main">
  <p:cSld>
    <p:bg>
      <p:bgPr>
        <a:solidFill xmlns:a="http://schemas.openxmlformats.org/drawingml/2006/main">
          <a:srgbClr val="112B4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CAE9A2-FD8D-4068-9CC7-A8065370D4B8}"/>
              </a:ext>
            </a:extLst>
          </p:cNvPr>
          <p:cNvSpPr>
            <a:spLocks xmlns:a="http://schemas.openxmlformats.org/drawingml/2006/main" noGrp="1"/>
          </p:cNvSpPr>
          <p:nvPr/>
        </p:nvSpPr>
        <p:spPr>
          <a:xfrm xmlns:a="http://schemas.openxmlformats.org/drawingml/2006/main">
            <a:off x="762000" y="16668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Arial"/>
                <a:ea typeface="Arial"/>
                <a:cs typeface="Arial"/>
              </a:defRPr>
            </a:pPr>
            <a:r>
              <a:rPr sz="5700" b="1">
                <a:solidFill>
                  <a:srgbClr val="FFFFFF"/>
                </a:solidFill>
                <a:latin typeface="Arial"/>
                <a:ea typeface="Arial"/>
                <a:cs typeface="Arial"/>
              </a:rPr>
              <a:t>DSI-fpt</a:t>
            </a:r>
          </a:p>
        </p:txBody>
      </p:sp>
      <p:sp>
        <p:nvSpPr>
          <p:cNvPr id="2" name="">
            <a:extLst xmlns:a="http://schemas.openxmlformats.org/drawingml/2006/main">
              <a:ext uri="{FF2B5EF4-FFF2-40B4-BE49-F238E27FC236}">
                <a16:creationId xmlns:a16="http://schemas.microsoft.com/office/drawing/2014/main" id="{52E18696-105B-4E85-89D4-02A7447F66AB}"/>
              </a:ext>
            </a:extLst>
          </p:cNvPr>
          <p:cNvSpPr>
            <a:spLocks xmlns:a="http://schemas.openxmlformats.org/drawingml/2006/main" noGrp="1"/>
          </p:cNvSpPr>
          <p:nvPr/>
        </p:nvSpPr>
        <p:spPr>
          <a:xfrm xmlns:a="http://schemas.openxmlformats.org/drawingml/2006/main">
            <a:off x="781050" y="28575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FFFFFF"/>
                </a:solidFill>
                <a:latin typeface="Arial"/>
                <a:ea typeface="Arial"/>
                <a:cs typeface="Arial"/>
              </a:defRPr>
            </a:pPr>
            <a:r>
              <a:rPr sz="3150" b="0">
                <a:solidFill>
                  <a:srgbClr val="FFFFFF"/>
                </a:solidFill>
                <a:latin typeface="Arial"/>
                <a:ea typeface="Arial"/>
                <a:cs typeface="Arial"/>
              </a:rPr>
              <a:t>Corrections et contrôles de coactivation</a:t>
            </a:r>
          </a:p>
        </p:txBody>
      </p:sp>
      <p:sp>
        <p:nvSpPr>
          <p:cNvPr id="3" name="">
            <a:extLst xmlns:a="http://schemas.openxmlformats.org/drawingml/2006/main">
              <a:ext uri="{FF2B5EF4-FFF2-40B4-BE49-F238E27FC236}">
                <a16:creationId xmlns:a16="http://schemas.microsoft.com/office/drawing/2014/main" id="{61F76213-5DDE-4572-8074-8655BEC366C5}"/>
              </a:ext>
            </a:extLst>
          </p:cNvPr>
          <p:cNvSpPr>
            <a:spLocks xmlns:a="http://schemas.openxmlformats.org/drawingml/2006/main" noGrp="1"/>
          </p:cNvSpPr>
          <p:nvPr/>
        </p:nvSpPr>
        <p:spPr>
          <a:xfrm xmlns:a="http://schemas.openxmlformats.org/drawingml/2006/main">
            <a:off x="781050" y="41338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C5D9E2"/>
                </a:solidFill>
                <a:latin typeface="Arial"/>
                <a:ea typeface="Arial"/>
                <a:cs typeface="Arial"/>
              </a:defRPr>
            </a:pPr>
            <a:r>
              <a:rPr sz="2100" b="0">
                <a:solidFill>
                  <a:srgbClr val="C5D9E2"/>
                </a:solidFill>
                <a:latin typeface="Arial"/>
                <a:ea typeface="Arial"/>
                <a:cs typeface="Arial"/>
              </a:rPr>
              <a:t>Collectivités territoriales, 9 octobre 2026</a:t>
            </a:r>
          </a:p>
        </p:txBody>
      </p:sp>
      <p:sp>
        <p:nvSpPr>
          <p:cNvPr id="4" name="">
            <a:extLst xmlns:a="http://schemas.openxmlformats.org/drawingml/2006/main">
              <a:ext uri="{FF2B5EF4-FFF2-40B4-BE49-F238E27FC236}">
                <a16:creationId xmlns:a16="http://schemas.microsoft.com/office/drawing/2014/main" id="{D111A41C-64C3-41CC-BECE-5430C3EF9C72}"/>
              </a:ext>
            </a:extLst>
          </p:cNvPr>
          <p:cNvSpPr>
            <a:spLocks xmlns:a="http://schemas.openxmlformats.org/drawingml/2006/main" noGrp="1"/>
          </p:cNvSpPr>
          <p:nvPr/>
        </p:nvSpPr>
        <p:spPr>
          <a:xfrm xmlns:a="http://schemas.openxmlformats.org/drawingml/2006/main">
            <a:off x="781050" y="48387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EFD49D"/>
                </a:solidFill>
                <a:latin typeface="Arial"/>
                <a:ea typeface="Arial"/>
                <a:cs typeface="Arial"/>
              </a:defRPr>
            </a:pPr>
            <a:r>
              <a:rPr sz="2250" b="0">
                <a:solidFill>
                  <a:srgbClr val="EFD49D"/>
                </a:solidFill>
                <a:latin typeface="Arial"/>
                <a:ea typeface="Arial"/>
                <a:cs typeface="Arial"/>
              </a:rPr>
              <a:t>Dev.7 : connexion juridique rétablie, qualification ouverte</a:t>
            </a:r>
          </a:p>
        </p:txBody>
      </p:sp>
    </p:spTree>
    <p:extLst>
      <p:ext uri="{BB962C8B-B14F-4D97-AF65-F5344CB8AC3E}">
        <p14:creationId xmlns:p14="http://schemas.microsoft.com/office/powerpoint/2010/main" val="5472100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3BAA5E-D97C-4490-A32F-EF74A5730741}"/>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Périmètre de la fonction SI</a:t>
            </a:r>
          </a:p>
        </p:txBody>
      </p:sp>
      <p:sp>
        <p:nvSpPr>
          <p:cNvPr id="2" name="">
            <a:extLst xmlns:a="http://schemas.openxmlformats.org/drawingml/2006/main">
              <a:ext uri="{FF2B5EF4-FFF2-40B4-BE49-F238E27FC236}">
                <a16:creationId xmlns:a16="http://schemas.microsoft.com/office/drawing/2014/main" id="{A9652F18-BC94-4C06-9782-A26605F095FD}"/>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Cadrer le besoin et les responsabilités, en informatique interne, mutualisée ou externalisée.</a:t>
            </a:r>
          </a:p>
        </p:txBody>
      </p:sp>
      <p:sp>
        <p:nvSpPr>
          <p:cNvPr id="3" name="">
            <a:extLst xmlns:a="http://schemas.openxmlformats.org/drawingml/2006/main">
              <a:ext uri="{FF2B5EF4-FFF2-40B4-BE49-F238E27FC236}">
                <a16:creationId xmlns:a16="http://schemas.microsoft.com/office/drawing/2014/main" id="{271EBF96-3B98-40E3-BB6F-CA276EAD4526}"/>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Gouvernance, sécurité, continuité, infrastructures, hébergement et applications métiers.</a:t>
            </a:r>
          </a:p>
        </p:txBody>
      </p:sp>
      <p:sp>
        <p:nvSpPr>
          <p:cNvPr id="4" name="">
            <a:extLst xmlns:a="http://schemas.openxmlformats.org/drawingml/2006/main">
              <a:ext uri="{FF2B5EF4-FFF2-40B4-BE49-F238E27FC236}">
                <a16:creationId xmlns:a16="http://schemas.microsoft.com/office/drawing/2014/main" id="{77911F68-FB50-4030-81CF-456B68985563}"/>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Téléservices, accessibilité, IA, exécution des contrats et réversibilité technique.</a:t>
            </a:r>
          </a:p>
        </p:txBody>
      </p:sp>
      <p:sp>
        <p:nvSpPr>
          <p:cNvPr id="5" name="">
            <a:extLst xmlns:a="http://schemas.openxmlformats.org/drawingml/2006/main">
              <a:ext uri="{FF2B5EF4-FFF2-40B4-BE49-F238E27FC236}">
                <a16:creationId xmlns:a16="http://schemas.microsoft.com/office/drawing/2014/main" id="{4FF599E0-D0C9-49E8-A3E6-20FBEF54B697}"/>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Livrables : fiche projet, rapport d’incident, cahier des charges technique, charte et note d’homologation.</a:t>
            </a:r>
          </a:p>
        </p:txBody>
      </p:sp>
    </p:spTree>
    <p:extLst>
      <p:ext uri="{BB962C8B-B14F-4D97-AF65-F5344CB8AC3E}">
        <p14:creationId xmlns:p14="http://schemas.microsoft.com/office/powerpoint/2010/main" val="11086350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A234660A-3F44-4C11-B82A-1E57E495414A}"/>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Responsabilités partagées</a:t>
            </a:r>
          </a:p>
        </p:txBody>
      </p:sp>
      <p:graphicFrame>
        <p:nvGraphicFramePr>
          <p:cNvPr id="6" name="">
            <a:extLst xmlns:a="http://schemas.openxmlformats.org/drawingml/2006/main">
              <a:ext uri="{FF2B5EF4-FFF2-40B4-BE49-F238E27FC236}">
                <a16:creationId xmlns:a16="http://schemas.microsoft.com/office/drawing/2014/main" id="{284D88BF-7A2C-43BF-B749-11DB9C3C9E1B}"/>
              </a:ext>
            </a:extLst>
          </p:cNvPr>
          <p:cNvGraphicFramePr/>
          <p:nvPr/>
        </p:nvGraphicFramePr>
        <p:xfrm>
          <a:off xmlns:a="http://schemas.openxmlformats.org/drawingml/2006/main" x="723900" y="1581150"/>
          <a:ext xmlns:a="http://schemas.openxmlformats.org/drawingml/2006/main" cx="10744200" cy="4286250"/>
        </p:xfrm>
        <a:graphic xmlns:a="http://schemas.openxmlformats.org/drawingml/2006/main">
          <a:graphicData uri="http://schemas.openxmlformats.org/drawingml/2006/table">
            <a:tbl>
              <a:tblPr/>
              <a:tblGrid>
                <a:gridCol w="3333750"/>
                <a:gridCol w="7410450"/>
              </a:tblGrid>
              <a:tr h="0">
                <a:tc>
                  <a:txBody>
                    <a:bodyPr/>
                    <a:lstStyle/>
                    <a:p>
                      <a:r>
                        <a:rPr sz="1800" b="1">
                          <a:solidFill>
                            <a:srgbClr val="FFFFFF"/>
                          </a:solidFill>
                          <a:latin typeface="Arial"/>
                          <a:ea typeface="Arial"/>
                          <a:cs typeface="Arial"/>
                        </a:rPr>
                        <a:t>Rôle</a:t>
                      </a:r>
                    </a:p>
                  </a:txBody>
                  <a:tcPr marL="152400" marR="152400" marT="57150" marB="57150">
                    <a:solidFill>
                      <a:srgbClr val="112B40"/>
                    </a:solidFill>
                  </a:tcPr>
                </a:tc>
                <a:tc>
                  <a:txBody>
                    <a:bodyPr/>
                    <a:lstStyle/>
                    <a:p>
                      <a:r>
                        <a:rPr sz="1800" b="1">
                          <a:solidFill>
                            <a:srgbClr val="FFFFFF"/>
                          </a:solidFill>
                          <a:latin typeface="Arial"/>
                          <a:ea typeface="Arial"/>
                          <a:cs typeface="Arial"/>
                        </a:rPr>
                        <a:t>Volet à instruire</a:t>
                      </a:r>
                    </a:p>
                  </a:txBody>
                  <a:tcPr marL="152400" marR="152400" marT="57150" marB="57150">
                    <a:solidFill>
                      <a:srgbClr val="112B40"/>
                    </a:solidFill>
                  </a:tcPr>
                </a:tc>
              </a:tr>
              <a:tr h="612321">
                <a:tc>
                  <a:txBody>
                    <a:bodyPr/>
                    <a:lstStyle/>
                    <a:p>
                      <a:r>
                        <a:rPr sz="1800">
                          <a:solidFill>
                            <a:srgbClr val="1B3547"/>
                          </a:solidFill>
                          <a:latin typeface="Arial"/>
                          <a:ea typeface="Arial"/>
                          <a:cs typeface="Arial"/>
                        </a:rPr>
                        <a:t>DSI / RSSI</a:t>
                      </a:r>
                    </a:p>
                  </a:txBody>
                  <a:tcPr marL="152400" marR="152400" marT="57150" marB="57150"/>
                </a:tc>
                <a:tc>
                  <a:txBody>
                    <a:bodyPr/>
                    <a:lstStyle/>
                    <a:p>
                      <a:r>
                        <a:rPr sz="1800">
                          <a:solidFill>
                            <a:srgbClr val="1B3547"/>
                          </a:solidFill>
                          <a:latin typeface="Arial"/>
                          <a:ea typeface="Arial"/>
                          <a:cs typeface="Arial"/>
                        </a:rPr>
                        <a:t>Besoins, mesures techniques et continuité</a:t>
                      </a:r>
                    </a:p>
                  </a:txBody>
                  <a:tcPr marL="152400" marR="152400" marT="57150" marB="57150"/>
                </a:tc>
              </a:tr>
              <a:tr h="612321">
                <a:tc>
                  <a:txBody>
                    <a:bodyPr/>
                    <a:lstStyle/>
                    <a:p>
                      <a:r>
                        <a:rPr sz="1800">
                          <a:solidFill>
                            <a:srgbClr val="1B3547"/>
                          </a:solidFill>
                          <a:latin typeface="Arial"/>
                          <a:ea typeface="Arial"/>
                          <a:cs typeface="Arial"/>
                        </a:rPr>
                        <a:t>DPO</a:t>
                      </a:r>
                    </a:p>
                  </a:txBody>
                  <a:tcPr marL="152400" marR="152400" marT="57150" marB="57150"/>
                </a:tc>
                <a:tc>
                  <a:txBody>
                    <a:bodyPr/>
                    <a:lstStyle/>
                    <a:p>
                      <a:r>
                        <a:rPr sz="1800">
                          <a:solidFill>
                            <a:srgbClr val="1B3547"/>
                          </a:solidFill>
                          <a:latin typeface="Arial"/>
                          <a:ea typeface="Arial"/>
                          <a:cs typeface="Arial"/>
                        </a:rPr>
                        <a:t>Qualification RGPD et risques pour les personnes</a:t>
                      </a:r>
                    </a:p>
                  </a:txBody>
                  <a:tcPr marL="152400" marR="152400" marT="57150" marB="57150"/>
                </a:tc>
              </a:tr>
              <a:tr h="612321">
                <a:tc>
                  <a:txBody>
                    <a:bodyPr/>
                    <a:lstStyle/>
                    <a:p>
                      <a:r>
                        <a:rPr sz="1800">
                          <a:solidFill>
                            <a:srgbClr val="1B3547"/>
                          </a:solidFill>
                          <a:latin typeface="Arial"/>
                          <a:ea typeface="Arial"/>
                          <a:cs typeface="Arial"/>
                        </a:rPr>
                        <a:t>DRH</a:t>
                      </a:r>
                    </a:p>
                  </a:txBody>
                  <a:tcPr marL="152400" marR="152400" marT="57150" marB="57150"/>
                </a:tc>
                <a:tc>
                  <a:txBody>
                    <a:bodyPr/>
                    <a:lstStyle/>
                    <a:p>
                      <a:r>
                        <a:rPr sz="1800">
                          <a:solidFill>
                            <a:srgbClr val="1B3547"/>
                          </a:solidFill>
                          <a:latin typeface="Arial"/>
                          <a:ea typeface="Arial"/>
                          <a:cs typeface="Arial"/>
                        </a:rPr>
                        <a:t>Fonctions et conséquences statutaires</a:t>
                      </a:r>
                    </a:p>
                  </a:txBody>
                  <a:tcPr marL="152400" marR="152400" marT="57150" marB="57150"/>
                </a:tc>
              </a:tr>
              <a:tr h="612321">
                <a:tc>
                  <a:txBody>
                    <a:bodyPr/>
                    <a:lstStyle/>
                    <a:p>
                      <a:r>
                        <a:rPr sz="1800">
                          <a:solidFill>
                            <a:srgbClr val="1B3547"/>
                          </a:solidFill>
                          <a:latin typeface="Arial"/>
                          <a:ea typeface="Arial"/>
                          <a:cs typeface="Arial"/>
                        </a:rPr>
                        <a:t>Police municipale</a:t>
                      </a:r>
                    </a:p>
                  </a:txBody>
                  <a:tcPr marL="152400" marR="152400" marT="57150" marB="57150"/>
                </a:tc>
                <a:tc>
                  <a:txBody>
                    <a:bodyPr/>
                    <a:lstStyle/>
                    <a:p>
                      <a:r>
                        <a:rPr sz="1800">
                          <a:solidFill>
                            <a:srgbClr val="1B3547"/>
                          </a:solidFill>
                          <a:latin typeface="Arial"/>
                          <a:ea typeface="Arial"/>
                          <a:cs typeface="Arial"/>
                        </a:rPr>
                        <a:t>Doctrine et autorisations de vidéoprotection</a:t>
                      </a:r>
                    </a:p>
                  </a:txBody>
                  <a:tcPr marL="152400" marR="152400" marT="57150" marB="57150"/>
                </a:tc>
              </a:tr>
              <a:tr h="612321">
                <a:tc>
                  <a:txBody>
                    <a:bodyPr/>
                    <a:lstStyle/>
                    <a:p>
                      <a:r>
                        <a:rPr sz="1800">
                          <a:solidFill>
                            <a:srgbClr val="1B3547"/>
                          </a:solidFill>
                          <a:latin typeface="Arial"/>
                          <a:ea typeface="Arial"/>
                          <a:cs typeface="Arial"/>
                        </a:rPr>
                        <a:t>Direction des finances</a:t>
                      </a:r>
                    </a:p>
                  </a:txBody>
                  <a:tcPr marL="152400" marR="152400" marT="57150" marB="57150"/>
                </a:tc>
                <a:tc>
                  <a:txBody>
                    <a:bodyPr/>
                    <a:lstStyle/>
                    <a:p>
                      <a:r>
                        <a:rPr sz="1800">
                          <a:solidFill>
                            <a:srgbClr val="1B3547"/>
                          </a:solidFill>
                          <a:latin typeface="Arial"/>
                          <a:ea typeface="Arial"/>
                          <a:cs typeface="Arial"/>
                        </a:rPr>
                        <a:t>Arbitrage et qualification budgétaire</a:t>
                      </a:r>
                    </a:p>
                  </a:txBody>
                  <a:tcPr marL="152400" marR="152400" marT="57150" marB="57150"/>
                </a:tc>
              </a:tr>
              <a:tr h="612321">
                <a:tc>
                  <a:txBody>
                    <a:bodyPr/>
                    <a:lstStyle/>
                    <a:p>
                      <a:r>
                        <a:rPr sz="1800">
                          <a:solidFill>
                            <a:srgbClr val="1B3547"/>
                          </a:solidFill>
                          <a:latin typeface="Arial"/>
                          <a:ea typeface="Arial"/>
                          <a:cs typeface="Arial"/>
                        </a:rPr>
                        <a:t>Recherche juridique</a:t>
                      </a:r>
                    </a:p>
                  </a:txBody>
                  <a:tcPr marL="152400" marR="152400" marT="57150" marB="57150"/>
                </a:tc>
                <a:tc>
                  <a:txBody>
                    <a:bodyPr/>
                    <a:lstStyle/>
                    <a:p>
                      <a:r>
                        <a:rPr sz="1800">
                          <a:solidFill>
                            <a:srgbClr val="1B3547"/>
                          </a:solidFill>
                          <a:latin typeface="Arial"/>
                          <a:ea typeface="Arial"/>
                          <a:cs typeface="Arial"/>
                        </a:rPr>
                        <a:t>Sources officielles, vigueur et applicabilité</a:t>
                      </a:r>
                    </a:p>
                  </a:txBody>
                  <a:tcPr marL="152400" marR="152400" marT="57150" marB="57150"/>
                </a:tc>
              </a:tr>
            </a:tbl>
          </a:graphicData>
        </a:graphic>
      </p:graphicFrame>
    </p:spTree>
    <p:extLst>
      <p:ext uri="{BB962C8B-B14F-4D97-AF65-F5344CB8AC3E}">
        <p14:creationId xmlns:p14="http://schemas.microsoft.com/office/powerpoint/2010/main" val="15375670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D8F674-999F-4999-83B3-0E5947F1175F}"/>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Mesure DSI autonome</a:t>
            </a:r>
          </a:p>
        </p:txBody>
      </p:sp>
      <p:graphicFrame>
        <p:nvGraphicFramePr>
          <p:cNvPr id="8" name="Chart">
            <a:extLst xmlns:a="http://schemas.openxmlformats.org/drawingml/2006/main">
              <a:ext uri="{FF2B5EF4-FFF2-40B4-BE49-F238E27FC236}">
                <a16:creationId xmlns:a16="http://schemas.microsoft.com/office/drawing/2014/main" id="{69146B26-140B-47E0-8F55-C25DE0B1B516}"/>
              </a:ext>
            </a:extLst>
          </p:cNvPr>
          <p:cNvGraphicFramePr/>
          <p:nvPr/>
        </p:nvGraphicFramePr>
        <p:xfrm>
          <a:off xmlns:a="http://schemas.openxmlformats.org/drawingml/2006/main" x="781050" y="1657350"/>
          <a:ext xmlns:a="http://schemas.openxmlformats.org/drawingml/2006/main" cx="7143750" cy="3562350"/>
        </p:xfrm>
        <a:graphic xmlns:a="http://schemas.openxmlformats.org/drawingml/2006/main">
          <a:graphicData uri="http://schemas.openxmlformats.org/drawingml/2006/chart">
            <c:chart xmlns:r="http://schemas.openxmlformats.org/officeDocument/2006/relationships" xmlns:c="http://schemas.openxmlformats.org/drawingml/2006/chart" r:id="Reced6cdaf47746c9"/>
          </a:graphicData>
        </a:graphic>
      </p:graphicFrame>
      <p:sp>
        <p:nvSpPr>
          <p:cNvPr id="3" name="">
            <a:extLst xmlns:a="http://schemas.openxmlformats.org/drawingml/2006/main">
              <a:ext uri="{FF2B5EF4-FFF2-40B4-BE49-F238E27FC236}">
                <a16:creationId xmlns:a16="http://schemas.microsoft.com/office/drawing/2014/main" id="{E2E9B84F-7DD2-4215-9CAC-9A3C2642F736}"/>
              </a:ext>
            </a:extLst>
          </p:cNvPr>
          <p:cNvSpPr>
            <a:spLocks xmlns:a="http://schemas.openxmlformats.org/drawingml/2006/main" noGrp="1"/>
          </p:cNvSpPr>
          <p:nvPr/>
        </p:nvSpPr>
        <p:spPr>
          <a:xfrm xmlns:a="http://schemas.openxmlformats.org/drawingml/2006/main">
            <a:off x="8420100" y="2047875"/>
            <a:ext cx="29718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28 cas réussis</a:t>
            </a:r>
          </a:p>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56 rôles retenus</a:t>
            </a:r>
          </a:p>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8 critiques réussis</a:t>
            </a:r>
          </a:p>
        </p:txBody>
      </p:sp>
      <p:sp>
        <p:nvSpPr>
          <p:cNvPr id="4" name="">
            <a:extLst xmlns:a="http://schemas.openxmlformats.org/drawingml/2006/main">
              <a:ext uri="{FF2B5EF4-FFF2-40B4-BE49-F238E27FC236}">
                <a16:creationId xmlns:a16="http://schemas.microsoft.com/office/drawing/2014/main" id="{5CBE5592-5ABA-4FCB-8EF8-00A786871C4E}"/>
              </a:ext>
            </a:extLst>
          </p:cNvPr>
          <p:cNvSpPr>
            <a:spLocks xmlns:a="http://schemas.openxmlformats.org/drawingml/2006/main" noGrp="1"/>
          </p:cNvSpPr>
          <p:nvPr/>
        </p:nvSpPr>
        <p:spPr>
          <a:xfrm xmlns:a="http://schemas.openxmlformats.org/drawingml/2006/main">
            <a:off x="781050" y="55911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B3547"/>
                </a:solidFill>
                <a:latin typeface="Arial"/>
                <a:ea typeface="Arial"/>
                <a:cs typeface="Arial"/>
              </a:defRPr>
            </a:pPr>
            <a:r>
              <a:rPr sz="2100" b="0">
                <a:solidFill>
                  <a:srgbClr val="1B3547"/>
                </a:solidFill>
                <a:latin typeface="Arial"/>
                <a:ea typeface="Arial"/>
                <a:cs typeface="Arial"/>
              </a:rPr>
              <a:t>Source 704e5dd mesurée. Revue DSI/RSSI et qualification du plugin encore ouvertes.</a:t>
            </a:r>
          </a:p>
        </p:txBody>
      </p:sp>
    </p:spTree>
    <p:extLst>
      <p:ext uri="{BB962C8B-B14F-4D97-AF65-F5344CB8AC3E}">
        <p14:creationId xmlns:p14="http://schemas.microsoft.com/office/powerpoint/2010/main" val="18129620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CAAC88-D6DB-46D8-8174-F2B9AE31B973}"/>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Corrections de la mesure autonome</a:t>
            </a:r>
          </a:p>
        </p:txBody>
      </p:sp>
      <p:sp>
        <p:nvSpPr>
          <p:cNvPr id="2" name="">
            <a:extLst xmlns:a="http://schemas.openxmlformats.org/drawingml/2006/main">
              <a:ext uri="{FF2B5EF4-FFF2-40B4-BE49-F238E27FC236}">
                <a16:creationId xmlns:a16="http://schemas.microsoft.com/office/drawing/2014/main" id="{45996A96-FC70-4787-99B4-3A26BBA30C6D}"/>
              </a:ext>
            </a:extLst>
          </p:cNvPr>
          <p:cNvSpPr>
            <a:spLocks xmlns:a="http://schemas.openxmlformats.org/drawingml/2006/main" noGrp="1"/>
          </p:cNvSpPr>
          <p:nvPr/>
        </p:nvSpPr>
        <p:spPr>
          <a:xfrm xmlns:a="http://schemas.openxmlformats.org/drawingml/2006/main">
            <a:off x="723900" y="1619250"/>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Cas 10 — réversibilité contractuelle</a:t>
            </a:r>
          </a:p>
        </p:txBody>
      </p:sp>
      <p:sp>
        <p:nvSpPr>
          <p:cNvPr id="3" name="">
            <a:extLst xmlns:a="http://schemas.openxmlformats.org/drawingml/2006/main">
              <a:ext uri="{FF2B5EF4-FFF2-40B4-BE49-F238E27FC236}">
                <a16:creationId xmlns:a16="http://schemas.microsoft.com/office/drawing/2014/main" id="{970E3549-BBE8-4DF3-A822-1D6F0ED6DCF6}"/>
              </a:ext>
            </a:extLst>
          </p:cNvPr>
          <p:cNvSpPr>
            <a:spLocks xmlns:a="http://schemas.openxmlformats.org/drawingml/2006/main" noGrp="1"/>
          </p:cNvSpPr>
          <p:nvPr/>
        </p:nvSpPr>
        <p:spPr>
          <a:xfrm xmlns:a="http://schemas.openxmlformats.org/drawingml/2006/main">
            <a:off x="723900" y="2228850"/>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Bascule vers le rôle compétent et abstention sans source. Le cas 10 réussit sur le candidat corrigé.</a:t>
            </a:r>
          </a:p>
        </p:txBody>
      </p:sp>
      <p:sp>
        <p:nvSpPr>
          <p:cNvPr id="4" name="">
            <a:extLst xmlns:a="http://schemas.openxmlformats.org/drawingml/2006/main">
              <a:ext uri="{FF2B5EF4-FFF2-40B4-BE49-F238E27FC236}">
                <a16:creationId xmlns:a16="http://schemas.microsoft.com/office/drawing/2014/main" id="{B35CFCBE-7FEA-4806-92FB-90424BC4F87B}"/>
              </a:ext>
            </a:extLst>
          </p:cNvPr>
          <p:cNvSpPr>
            <a:spLocks xmlns:a="http://schemas.openxmlformats.org/drawingml/2006/main" noGrp="1"/>
          </p:cNvSpPr>
          <p:nvPr/>
        </p:nvSpPr>
        <p:spPr>
          <a:xfrm xmlns:a="http://schemas.openxmlformats.org/drawingml/2006/main">
            <a:off x="723900" y="3724275"/>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Cas 14 — clôture d’un incident ancien</a:t>
            </a:r>
          </a:p>
        </p:txBody>
      </p:sp>
      <p:sp>
        <p:nvSpPr>
          <p:cNvPr id="5" name="">
            <a:extLst xmlns:a="http://schemas.openxmlformats.org/drawingml/2006/main">
              <a:ext uri="{FF2B5EF4-FFF2-40B4-BE49-F238E27FC236}">
                <a16:creationId xmlns:a16="http://schemas.microsoft.com/office/drawing/2014/main" id="{B1F85975-C1A3-4508-973D-AD0A05584EDF}"/>
              </a:ext>
            </a:extLst>
          </p:cNvPr>
          <p:cNvSpPr>
            <a:spLocks xmlns:a="http://schemas.openxmlformats.org/drawingml/2006/main" noGrp="1"/>
          </p:cNvSpPr>
          <p:nvPr/>
        </p:nvSpPr>
        <p:spPr>
          <a:xfrm xmlns:a="http://schemas.openxmlformats.org/drawingml/2006/main">
            <a:off x="723900" y="4333875"/>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Clôture de l’objet ancien, puis réouverture si un nouvel indice la contredit. Le cas 14 réussit.</a:t>
            </a:r>
          </a:p>
        </p:txBody>
      </p:sp>
      <p:sp>
        <p:nvSpPr>
          <p:cNvPr id="6" name="">
            <a:extLst xmlns:a="http://schemas.openxmlformats.org/drawingml/2006/main">
              <a:ext uri="{FF2B5EF4-FFF2-40B4-BE49-F238E27FC236}">
                <a16:creationId xmlns:a16="http://schemas.microsoft.com/office/drawing/2014/main" id="{3B2FA573-B096-49C1-AF03-DE15317C7E66}"/>
              </a:ext>
            </a:extLst>
          </p:cNvPr>
          <p:cNvSpPr>
            <a:spLocks xmlns:a="http://schemas.openxmlformats.org/drawingml/2006/main" noGrp="1"/>
          </p:cNvSpPr>
          <p:nvPr/>
        </p:nvSpPr>
        <p:spPr>
          <a:xfrm xmlns:a="http://schemas.openxmlformats.org/drawingml/2006/main">
            <a:off x="723900" y="5867400"/>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4"/>
                </a:solidFill>
                <a:latin typeface="Arial"/>
                <a:ea typeface="Arial"/>
                <a:cs typeface="Arial"/>
              </a:defRPr>
            </a:pPr>
            <a:r>
              <a:rPr sz="1875" b="0">
                <a:solidFill>
                  <a:srgbClr val="526774"/>
                </a:solidFill>
                <a:latin typeface="Arial"/>
                <a:ea typeface="Arial"/>
                <a:cs typeface="Arial"/>
              </a:rPr>
              <a:t>Les anciennes mesures restent conservées. Le cache est exclu du paquet autonome.</a:t>
            </a:r>
          </a:p>
        </p:txBody>
      </p:sp>
    </p:spTree>
    <p:extLst>
      <p:ext uri="{BB962C8B-B14F-4D97-AF65-F5344CB8AC3E}">
        <p14:creationId xmlns:p14="http://schemas.microsoft.com/office/powerpoint/2010/main" val="12633320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8C7C5E4-4424-414A-8DF8-6BD50B0D280A}"/>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Coactivation du candidat à six skills</a:t>
            </a:r>
          </a:p>
        </p:txBody>
      </p:sp>
      <p:graphicFrame>
        <p:nvGraphicFramePr>
          <p:cNvPr id="7" name="">
            <a:extLst xmlns:a="http://schemas.openxmlformats.org/drawingml/2006/main">
              <a:ext uri="{FF2B5EF4-FFF2-40B4-BE49-F238E27FC236}">
                <a16:creationId xmlns:a16="http://schemas.microsoft.com/office/drawing/2014/main" id="{EB059DE6-09B3-407C-B139-2245F72FE85D}"/>
              </a:ext>
            </a:extLst>
          </p:cNvPr>
          <p:cNvGraphicFramePr/>
          <p:nvPr/>
        </p:nvGraphicFramePr>
        <p:xfrm>
          <a:off xmlns:a="http://schemas.openxmlformats.org/drawingml/2006/main" x="723900" y="1581150"/>
          <a:ext xmlns:a="http://schemas.openxmlformats.org/drawingml/2006/main" cx="10744200" cy="4191000"/>
        </p:xfrm>
        <a:graphic xmlns:a="http://schemas.openxmlformats.org/drawingml/2006/main">
          <a:graphicData uri="http://schemas.openxmlformats.org/drawingml/2006/table">
            <a:tbl>
              <a:tblPr/>
              <a:tblGrid>
                <a:gridCol w="4667250"/>
                <a:gridCol w="6076950"/>
              </a:tblGrid>
              <a:tr h="0">
                <a:tc>
                  <a:txBody>
                    <a:bodyPr/>
                    <a:lstStyle/>
                    <a:p>
                      <a:r>
                        <a:rPr sz="1800" b="1">
                          <a:solidFill>
                            <a:srgbClr val="FFFFFF"/>
                          </a:solidFill>
                          <a:latin typeface="Arial"/>
                          <a:ea typeface="Arial"/>
                          <a:cs typeface="Arial"/>
                        </a:rPr>
                        <a:t>Contrôle</a:t>
                      </a:r>
                    </a:p>
                  </a:txBody>
                  <a:tcPr marL="152400" marR="152400" marT="57150" marB="57150">
                    <a:solidFill>
                      <a:srgbClr val="112B40"/>
                    </a:solidFill>
                  </a:tcPr>
                </a:tc>
                <a:tc>
                  <a:txBody>
                    <a:bodyPr/>
                    <a:lstStyle/>
                    <a:p>
                      <a:r>
                        <a:rPr sz="1800" b="1">
                          <a:solidFill>
                            <a:srgbClr val="FFFFFF"/>
                          </a:solidFill>
                          <a:latin typeface="Arial"/>
                          <a:ea typeface="Arial"/>
                          <a:cs typeface="Arial"/>
                        </a:rPr>
                        <a:t>État et portée</a:t>
                      </a:r>
                    </a:p>
                  </a:txBody>
                  <a:tcPr marL="152400" marR="152400" marT="57150" marB="57150">
                    <a:solidFill>
                      <a:srgbClr val="112B40"/>
                    </a:solidFill>
                  </a:tcPr>
                </a:tc>
              </a:tr>
              <a:tr h="698500">
                <a:tc>
                  <a:txBody>
                    <a:bodyPr/>
                    <a:lstStyle/>
                    <a:p>
                      <a:r>
                        <a:rPr sz="1800">
                          <a:solidFill>
                            <a:srgbClr val="1B3547"/>
                          </a:solidFill>
                          <a:latin typeface="Arial"/>
                          <a:ea typeface="Arial"/>
                          <a:cs typeface="Arial"/>
                        </a:rPr>
                        <a:t>Composition</a:t>
                      </a:r>
                    </a:p>
                  </a:txBody>
                  <a:tcPr marL="152400" marR="152400" marT="57150" marB="57150"/>
                </a:tc>
                <a:tc>
                  <a:txBody>
                    <a:bodyPr/>
                    <a:lstStyle/>
                    <a:p>
                      <a:r>
                        <a:rPr sz="1800">
                          <a:solidFill>
                            <a:srgbClr val="1B3547"/>
                          </a:solidFill>
                          <a:latin typeface="Arial"/>
                          <a:ea typeface="Arial"/>
                          <a:cs typeface="Arial"/>
                        </a:rPr>
                        <a:t>Six skills, 166 fichiers runtime</a:t>
                      </a:r>
                    </a:p>
                  </a:txBody>
                  <a:tcPr marL="152400" marR="152400" marT="57150" marB="57150"/>
                </a:tc>
              </a:tr>
              <a:tr h="698500">
                <a:tc>
                  <a:txBody>
                    <a:bodyPr/>
                    <a:lstStyle/>
                    <a:p>
                      <a:r>
                        <a:rPr sz="1800">
                          <a:solidFill>
                            <a:srgbClr val="1B3547"/>
                          </a:solidFill>
                          <a:latin typeface="Arial"/>
                          <a:ea typeface="Arial"/>
                          <a:cs typeface="Arial"/>
                        </a:rPr>
                        <a:t>Dev.5 historique</a:t>
                      </a:r>
                    </a:p>
                  </a:txBody>
                  <a:tcPr marL="152400" marR="152400" marT="57150" marB="57150"/>
                </a:tc>
                <a:tc>
                  <a:txBody>
                    <a:bodyPr/>
                    <a:lstStyle/>
                    <a:p>
                      <a:r>
                        <a:rPr sz="1800">
                          <a:solidFill>
                            <a:srgbClr val="1B3547"/>
                          </a:solidFill>
                          <a:latin typeface="Arial"/>
                          <a:ea typeface="Arial"/>
                          <a:cs typeface="Arial"/>
                        </a:rPr>
                        <a:t>16 cas : 4 réussites, 6 échecs, 6 bloqués</a:t>
                      </a:r>
                    </a:p>
                  </a:txBody>
                  <a:tcPr marL="152400" marR="152400" marT="57150" marB="57150"/>
                </a:tc>
              </a:tr>
              <a:tr h="698500">
                <a:tc>
                  <a:txBody>
                    <a:bodyPr/>
                    <a:lstStyle/>
                    <a:p>
                      <a:r>
                        <a:rPr sz="1800">
                          <a:solidFill>
                            <a:srgbClr val="1B3547"/>
                          </a:solidFill>
                          <a:latin typeface="Arial"/>
                          <a:ea typeface="Arial"/>
                          <a:cs typeface="Arial"/>
                        </a:rPr>
                        <a:t>Dev.6, pilote partiel</a:t>
                      </a:r>
                    </a:p>
                  </a:txBody>
                  <a:tcPr marL="152400" marR="152400" marT="57150" marB="57150"/>
                </a:tc>
                <a:tc>
                  <a:txBody>
                    <a:bodyPr/>
                    <a:lstStyle/>
                    <a:p>
                      <a:r>
                        <a:rPr sz="1800">
                          <a:solidFill>
                            <a:srgbClr val="1B3547"/>
                          </a:solidFill>
                          <a:latin typeface="Arial"/>
                          <a:ea typeface="Arial"/>
                          <a:cs typeface="Arial"/>
                        </a:rPr>
                        <a:t>5 cas jugés : 1 réussite, 1 échec, 3 bloqués</a:t>
                      </a:r>
                    </a:p>
                  </a:txBody>
                  <a:tcPr marL="152400" marR="152400" marT="57150" marB="57150"/>
                </a:tc>
              </a:tr>
              <a:tr h="698500">
                <a:tc>
                  <a:txBody>
                    <a:bodyPr/>
                    <a:lstStyle/>
                    <a:p>
                      <a:r>
                        <a:rPr sz="1800">
                          <a:solidFill>
                            <a:srgbClr val="1B3547"/>
                          </a:solidFill>
                          <a:latin typeface="Arial"/>
                          <a:ea typeface="Arial"/>
                          <a:cs typeface="Arial"/>
                        </a:rPr>
                        <a:t>Dev.6, smoke CLI</a:t>
                      </a:r>
                    </a:p>
                  </a:txBody>
                  <a:tcPr marL="152400" marR="152400" marT="57150" marB="57150"/>
                </a:tc>
                <a:tc>
                  <a:txBody>
                    <a:bodyPr/>
                    <a:lstStyle/>
                    <a:p>
                      <a:r>
                        <a:rPr sz="1800">
                          <a:solidFill>
                            <a:srgbClr val="1B3547"/>
                          </a:solidFill>
                          <a:latin typeface="Arial"/>
                          <a:ea typeface="Arial"/>
                          <a:cs typeface="Arial"/>
                        </a:rPr>
                        <a:t>4 sessions, DSI vérifié / bloqué / partiel / partiel</a:t>
                      </a:r>
                    </a:p>
                  </a:txBody>
                  <a:tcPr marL="152400" marR="152400" marT="57150" marB="57150"/>
                </a:tc>
              </a:tr>
              <a:tr h="698500">
                <a:tc>
                  <a:txBody>
                    <a:bodyPr/>
                    <a:lstStyle/>
                    <a:p>
                      <a:r>
                        <a:rPr sz="1800">
                          <a:solidFill>
                            <a:srgbClr val="1B3547"/>
                          </a:solidFill>
                          <a:latin typeface="Arial"/>
                          <a:ea typeface="Arial"/>
                          <a:cs typeface="Arial"/>
                        </a:rPr>
                        <a:t>Dev.7, candidat courant</a:t>
                      </a:r>
                    </a:p>
                  </a:txBody>
                  <a:tcPr marL="152400" marR="152400" marT="57150" marB="57150"/>
                </a:tc>
                <a:tc>
                  <a:txBody>
                    <a:bodyPr/>
                    <a:lstStyle/>
                    <a:p>
                      <a:r>
                        <a:rPr sz="1800">
                          <a:solidFill>
                            <a:srgbClr val="1B3547"/>
                          </a:solidFill>
                          <a:latin typeface="Arial"/>
                          <a:ea typeface="Arial"/>
                          <a:cs typeface="Arial"/>
                        </a:rPr>
                        <a:t>3 cas jugés : 2 réussites, 1 échec ; 23 critères</a:t>
                      </a:r>
                    </a:p>
                  </a:txBody>
                  <a:tcPr marL="152400" marR="152400" marT="57150" marB="57150"/>
                </a:tc>
              </a:tr>
            </a:tbl>
          </a:graphicData>
        </a:graphic>
      </p:graphicFrame>
      <p:sp>
        <p:nvSpPr>
          <p:cNvPr id="3" name="">
            <a:extLst xmlns:a="http://schemas.openxmlformats.org/drawingml/2006/main">
              <a:ext uri="{FF2B5EF4-FFF2-40B4-BE49-F238E27FC236}">
                <a16:creationId xmlns:a16="http://schemas.microsoft.com/office/drawing/2014/main" id="{78A8F169-3F06-4801-AC22-2B9BBBCADB1F}"/>
              </a:ext>
            </a:extLst>
          </p:cNvPr>
          <p:cNvSpPr>
            <a:spLocks xmlns:a="http://schemas.openxmlformats.org/drawingml/2006/main" noGrp="1"/>
          </p:cNvSpPr>
          <p:nvPr/>
        </p:nvSpPr>
        <p:spPr>
          <a:xfrm xmlns:a="http://schemas.openxmlformats.org/drawingml/2006/main">
            <a:off x="723900" y="6038850"/>
            <a:ext cx="10744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Dev.7 : 3 cas exécutés sur 16. Treize cas bloqués avant exécution. Revues ouvertes.</a:t>
            </a:r>
          </a:p>
        </p:txBody>
      </p:sp>
    </p:spTree>
    <p:extLst>
      <p:ext uri="{BB962C8B-B14F-4D97-AF65-F5344CB8AC3E}">
        <p14:creationId xmlns:p14="http://schemas.microsoft.com/office/powerpoint/2010/main" val="15214036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A96D43-3917-4C44-93DD-C1EFD655B1B2}"/>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STOP : correction et qualification ouverte</a:t>
            </a:r>
          </a:p>
        </p:txBody>
      </p:sp>
      <p:sp>
        <p:nvSpPr>
          <p:cNvPr id="2" name="">
            <a:extLst xmlns:a="http://schemas.openxmlformats.org/drawingml/2006/main">
              <a:ext uri="{FF2B5EF4-FFF2-40B4-BE49-F238E27FC236}">
                <a16:creationId xmlns:a16="http://schemas.microsoft.com/office/drawing/2014/main" id="{A0C4E5CE-1E0B-4656-83EF-C079199ABA61}"/>
              </a:ext>
            </a:extLst>
          </p:cNvPr>
          <p:cNvSpPr>
            <a:spLocks xmlns:a="http://schemas.openxmlformats.org/drawingml/2006/main" noGrp="1"/>
          </p:cNvSpPr>
          <p:nvPr/>
        </p:nvSpPr>
        <p:spPr>
          <a:xfrm xmlns:a="http://schemas.openxmlformats.org/drawingml/2006/main">
            <a:off x="723900" y="1619250"/>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Pilote dev.6 par fichiers</a:t>
            </a:r>
          </a:p>
        </p:txBody>
      </p:sp>
      <p:sp>
        <p:nvSpPr>
          <p:cNvPr id="3" name="">
            <a:extLst xmlns:a="http://schemas.openxmlformats.org/drawingml/2006/main">
              <a:ext uri="{FF2B5EF4-FFF2-40B4-BE49-F238E27FC236}">
                <a16:creationId xmlns:a16="http://schemas.microsoft.com/office/drawing/2014/main" id="{C7FE9D25-9E0A-4BCB-B869-5A7E726802B9}"/>
              </a:ext>
            </a:extLst>
          </p:cNvPr>
          <p:cNvSpPr>
            <a:spLocks xmlns:a="http://schemas.openxmlformats.org/drawingml/2006/main" noGrp="1"/>
          </p:cNvSpPr>
          <p:nvPr/>
        </p:nvSpPr>
        <p:spPr>
          <a:xfrm xmlns:a="http://schemas.openxmlformats.org/drawingml/2006/main">
            <a:off x="723900" y="2228850"/>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Une annonce précède le STOP du cas réouverture. L’échec historique reste acquis, même avec un STOP en tête de réponse finale.</a:t>
            </a:r>
          </a:p>
        </p:txBody>
      </p:sp>
      <p:sp>
        <p:nvSpPr>
          <p:cNvPr id="4" name="">
            <a:extLst xmlns:a="http://schemas.openxmlformats.org/drawingml/2006/main">
              <a:ext uri="{FF2B5EF4-FFF2-40B4-BE49-F238E27FC236}">
                <a16:creationId xmlns:a16="http://schemas.microsoft.com/office/drawing/2014/main" id="{CC714B17-9DB8-4F00-BBA6-6AC9C2AD5246}"/>
              </a:ext>
            </a:extLst>
          </p:cNvPr>
          <p:cNvSpPr>
            <a:spLocks xmlns:a="http://schemas.openxmlformats.org/drawingml/2006/main" noGrp="1"/>
          </p:cNvSpPr>
          <p:nvPr/>
        </p:nvSpPr>
        <p:spPr>
          <a:xfrm xmlns:a="http://schemas.openxmlformats.org/drawingml/2006/main">
            <a:off x="723900" y="3724275"/>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Correctif dev.7 à qualifier sur réouverture</a:t>
            </a:r>
          </a:p>
        </p:txBody>
      </p:sp>
      <p:sp>
        <p:nvSpPr>
          <p:cNvPr id="5" name="">
            <a:extLst xmlns:a="http://schemas.openxmlformats.org/drawingml/2006/main">
              <a:ext uri="{FF2B5EF4-FFF2-40B4-BE49-F238E27FC236}">
                <a16:creationId xmlns:a16="http://schemas.microsoft.com/office/drawing/2014/main" id="{2FCD77AB-3960-42D0-9E6B-49AA771BD0D6}"/>
              </a:ext>
            </a:extLst>
          </p:cNvPr>
          <p:cNvSpPr>
            <a:spLocks xmlns:a="http://schemas.openxmlformats.org/drawingml/2006/main" noGrp="1"/>
          </p:cNvSpPr>
          <p:nvPr/>
        </p:nvSpPr>
        <p:spPr>
          <a:xfrm xmlns:a="http://schemas.openxmlformats.org/drawingml/2006/main">
            <a:off x="723900" y="4333875"/>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Dev.7 exige le STOP au premier commentaire avant outils. Les trois cas exécutés ne couvrent pas la réouverture critique.</a:t>
            </a:r>
          </a:p>
        </p:txBody>
      </p:sp>
      <p:sp>
        <p:nvSpPr>
          <p:cNvPr id="6" name="">
            <a:extLst xmlns:a="http://schemas.openxmlformats.org/drawingml/2006/main">
              <a:ext uri="{FF2B5EF4-FFF2-40B4-BE49-F238E27FC236}">
                <a16:creationId xmlns:a16="http://schemas.microsoft.com/office/drawing/2014/main" id="{4BAFE0F8-5372-4B8B-8DF6-B30B95B106BC}"/>
              </a:ext>
            </a:extLst>
          </p:cNvPr>
          <p:cNvSpPr>
            <a:spLocks xmlns:a="http://schemas.openxmlformats.org/drawingml/2006/main" noGrp="1"/>
          </p:cNvSpPr>
          <p:nvPr/>
        </p:nvSpPr>
        <p:spPr>
          <a:xfrm xmlns:a="http://schemas.openxmlformats.org/drawingml/2006/main">
            <a:off x="723900" y="5867400"/>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4"/>
                </a:solidFill>
                <a:latin typeface="Arial"/>
                <a:ea typeface="Arial"/>
                <a:cs typeface="Arial"/>
              </a:defRPr>
            </a:pPr>
            <a:r>
              <a:rPr sz="1875" b="0">
                <a:solidFill>
                  <a:srgbClr val="526774"/>
                </a:solidFill>
                <a:latin typeface="Arial"/>
                <a:ea typeface="Arial"/>
                <a:cs typeface="Arial"/>
              </a:rPr>
              <a:t>Dev.7 fb186b4 : 213 fichiers gelés, dont 166 runtime. Aucun score transféré.</a:t>
            </a:r>
          </a:p>
        </p:txBody>
      </p:sp>
    </p:spTree>
    <p:extLst>
      <p:ext uri="{BB962C8B-B14F-4D97-AF65-F5344CB8AC3E}">
        <p14:creationId xmlns:p14="http://schemas.microsoft.com/office/powerpoint/2010/main" val="11252865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C581B2-4DCA-4554-8D5B-DFBABEF42623}"/>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Dev.7 : trois cas et leurs limites</a:t>
            </a:r>
          </a:p>
        </p:txBody>
      </p:sp>
      <p:sp>
        <p:nvSpPr>
          <p:cNvPr id="2" name="">
            <a:extLst xmlns:a="http://schemas.openxmlformats.org/drawingml/2006/main">
              <a:ext uri="{FF2B5EF4-FFF2-40B4-BE49-F238E27FC236}">
                <a16:creationId xmlns:a16="http://schemas.microsoft.com/office/drawing/2014/main" id="{52098BD2-4FD2-4E39-B160-0573C0172F02}"/>
              </a:ext>
            </a:extLst>
          </p:cNvPr>
          <p:cNvSpPr>
            <a:spLocks xmlns:a="http://schemas.openxmlformats.org/drawingml/2006/main" noGrp="1"/>
          </p:cNvSpPr>
          <p:nvPr/>
        </p:nvSpPr>
        <p:spPr>
          <a:xfrm xmlns:a="http://schemas.openxmlformats.org/drawingml/2006/main">
            <a:off x="723900" y="150495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CLI 0.162.0-alpha.2 ; modèle observé : gpt-6.1-sol. 16 vrais, 1 faux, 6 non vérifiables.</a:t>
            </a:r>
          </a:p>
        </p:txBody>
      </p:sp>
      <p:graphicFrame>
        <p:nvGraphicFramePr>
          <p:cNvPr id="9" name="">
            <a:extLst xmlns:a="http://schemas.openxmlformats.org/drawingml/2006/main">
              <a:ext uri="{FF2B5EF4-FFF2-40B4-BE49-F238E27FC236}">
                <a16:creationId xmlns:a16="http://schemas.microsoft.com/office/drawing/2014/main" id="{FA7CDAAE-5D72-472B-AEDA-7F6EAFF10DBF}"/>
              </a:ext>
            </a:extLst>
          </p:cNvPr>
          <p:cNvGraphicFramePr/>
          <p:nvPr/>
        </p:nvGraphicFramePr>
        <p:xfrm>
          <a:off xmlns:a="http://schemas.openxmlformats.org/drawingml/2006/main" x="723900" y="2686050"/>
          <a:ext xmlns:a="http://schemas.openxmlformats.org/drawingml/2006/main" cx="10744200" cy="3048000"/>
        </p:xfrm>
        <a:graphic xmlns:a="http://schemas.openxmlformats.org/drawingml/2006/main">
          <a:graphicData uri="http://schemas.openxmlformats.org/drawingml/2006/table">
            <a:tbl>
              <a:tblPr/>
              <a:tblGrid>
                <a:gridCol w="3238500"/>
                <a:gridCol w="7505700"/>
              </a:tblGrid>
              <a:tr h="0">
                <a:tc>
                  <a:txBody>
                    <a:bodyPr/>
                    <a:lstStyle/>
                    <a:p>
                      <a:r>
                        <a:rPr sz="1800" b="1">
                          <a:solidFill>
                            <a:srgbClr val="FFFFFF"/>
                          </a:solidFill>
                          <a:latin typeface="Arial"/>
                          <a:ea typeface="Arial"/>
                          <a:cs typeface="Arial"/>
                        </a:rPr>
                        <a:t>Cas et conclusion</a:t>
                      </a:r>
                    </a:p>
                  </a:txBody>
                  <a:tcPr marL="152400" marR="152400" marT="57150" marB="57150">
                    <a:solidFill>
                      <a:srgbClr val="112B40"/>
                    </a:solidFill>
                  </a:tcPr>
                </a:tc>
                <a:tc>
                  <a:txBody>
                    <a:bodyPr/>
                    <a:lstStyle/>
                    <a:p>
                      <a:r>
                        <a:rPr sz="1800" b="1">
                          <a:solidFill>
                            <a:srgbClr val="FFFFFF"/>
                          </a:solidFill>
                          <a:latin typeface="Arial"/>
                          <a:ea typeface="Arial"/>
                          <a:cs typeface="Arial"/>
                        </a:rPr>
                        <a:t>Preuve et limite</a:t>
                      </a:r>
                    </a:p>
                  </a:txBody>
                  <a:tcPr marL="152400" marR="152400" marT="57150" marB="57150">
                    <a:solidFill>
                      <a:srgbClr val="112B40"/>
                    </a:solidFill>
                  </a:tcPr>
                </a:tc>
              </a:tr>
              <a:tr h="609600">
                <a:tc>
                  <a:txBody>
                    <a:bodyPr/>
                    <a:lstStyle/>
                    <a:p>
                      <a:r>
                        <a:rPr sz="1800">
                          <a:solidFill>
                            <a:srgbClr val="1B3547"/>
                          </a:solidFill>
                          <a:latin typeface="Arial"/>
                          <a:ea typeface="Arial"/>
                          <a:cs typeface="Arial"/>
                        </a:rPr>
                        <a:t>MCP indisponible : réussite</a:t>
                      </a:r>
                    </a:p>
                  </a:txBody>
                  <a:tcPr marL="152400" marR="152400" marT="57150" marB="57150"/>
                </a:tc>
                <a:tc>
                  <a:txBody>
                    <a:bodyPr/>
                    <a:lstStyle/>
                    <a:p>
                      <a:r>
                        <a:rPr sz="1800">
                          <a:solidFill>
                            <a:srgbClr val="1B3547"/>
                          </a:solidFill>
                          <a:latin typeface="Arial"/>
                          <a:ea typeface="Arial"/>
                          <a:cs typeface="Arial"/>
                        </a:rPr>
                        <a:t>5/5 critères. Méthode injectée ;</a:t>
                      </a:r>
                    </a:p>
                    <a:p>
                      <a:r>
                        <a:rPr sz="1800">
                          <a:solidFill>
                            <a:srgbClr val="1B3547"/>
                          </a:solidFill>
                          <a:latin typeface="Arial"/>
                          <a:ea typeface="Arial"/>
                          <a:cs typeface="Arial"/>
                        </a:rPr>
                        <a:t>aucun texte primaire récupéré.</a:t>
                      </a:r>
                    </a:p>
                  </a:txBody>
                  <a:tcPr marL="152400" marR="152400" marT="57150" marB="57150"/>
                </a:tc>
              </a:tr>
              <a:tr h="609600">
                <a:tc>
                  <a:txBody>
                    <a:bodyPr/>
                    <a:lstStyle/>
                    <a:p>
                      <a:r>
                        <a:rPr sz="1800">
                          <a:solidFill>
                            <a:srgbClr val="1B3547"/>
                          </a:solidFill>
                          <a:latin typeface="Arial"/>
                          <a:ea typeface="Arial"/>
                          <a:cs typeface="Arial"/>
                        </a:rPr>
                        <a:t>DSI technique : échec</a:t>
                      </a:r>
                    </a:p>
                  </a:txBody>
                  <a:tcPr marL="152400" marR="152400" marT="57150" marB="57150"/>
                </a:tc>
                <a:tc>
                  <a:txBody>
                    <a:bodyPr/>
                    <a:lstStyle/>
                    <a:p>
                      <a:r>
                        <a:rPr sz="1800">
                          <a:solidFill>
                            <a:srgbClr val="1B3547"/>
                          </a:solidFill>
                          <a:latin typeface="Arial"/>
                          <a:ea typeface="Arial"/>
                          <a:cs typeface="Arial"/>
                        </a:rPr>
                        <a:t>3 vrais, 1 faux, 6 non vérifiables.</a:t>
                      </a:r>
                    </a:p>
                    <a:p>
                      <a:r>
                        <a:rPr sz="1800">
                          <a:solidFill>
                            <a:srgbClr val="1B3547"/>
                          </a:solidFill>
                          <a:latin typeface="Arial"/>
                          <a:ea typeface="Arial"/>
                          <a:cs typeface="Arial"/>
                        </a:rPr>
                        <a:t>Skill DSI annoncé, lecture impossible.</a:t>
                      </a:r>
                    </a:p>
                  </a:txBody>
                  <a:tcPr marL="152400" marR="152400" marT="57150" marB="57150"/>
                </a:tc>
              </a:tr>
              <a:tr h="609600">
                <a:tc>
                  <a:txBody>
                    <a:bodyPr/>
                    <a:lstStyle/>
                    <a:p>
                      <a:r>
                        <a:rPr sz="1800">
                          <a:solidFill>
                            <a:srgbClr val="1B3547"/>
                          </a:solidFill>
                          <a:latin typeface="Arial"/>
                          <a:ea typeface="Arial"/>
                          <a:cs typeface="Arial"/>
                        </a:rPr>
                        <a:t>Source indisponible : réussite</a:t>
                      </a:r>
                    </a:p>
                  </a:txBody>
                  <a:tcPr marL="152400" marR="152400" marT="57150" marB="57150"/>
                </a:tc>
                <a:tc>
                  <a:txBody>
                    <a:bodyPr/>
                    <a:lstStyle/>
                    <a:p>
                      <a:r>
                        <a:rPr sz="1800">
                          <a:solidFill>
                            <a:srgbClr val="1B3547"/>
                          </a:solidFill>
                          <a:latin typeface="Arial"/>
                          <a:ea typeface="Arial"/>
                          <a:cs typeface="Arial"/>
                        </a:rPr>
                        <a:t>8/8 critères. DSI + juridique injectés ;</a:t>
                      </a:r>
                    </a:p>
                    <a:p>
                      <a:r>
                        <a:rPr sz="1800">
                          <a:solidFill>
                            <a:srgbClr val="1B3547"/>
                          </a:solidFill>
                          <a:latin typeface="Arial"/>
                          <a:ea typeface="Arial"/>
                          <a:cs typeface="Arial"/>
                        </a:rPr>
                        <a:t>applicabilité et calendrier non vérifiés.</a:t>
                      </a:r>
                    </a:p>
                  </a:txBody>
                  <a:tcPr marL="152400" marR="152400" marT="57150" marB="57150"/>
                </a:tc>
              </a:tr>
              <a:tr h="609600">
                <a:tc>
                  <a:txBody>
                    <a:bodyPr/>
                    <a:lstStyle/>
                    <a:p>
                      <a:r>
                        <a:rPr sz="1800">
                          <a:solidFill>
                            <a:srgbClr val="1B3547"/>
                          </a:solidFill>
                          <a:latin typeface="Arial"/>
                          <a:ea typeface="Arial"/>
                          <a:cs typeface="Arial"/>
                        </a:rPr>
                        <a:t>Treize cas non exécutés</a:t>
                      </a:r>
                    </a:p>
                  </a:txBody>
                  <a:tcPr marL="152400" marR="152400" marT="57150" marB="57150"/>
                </a:tc>
                <a:tc>
                  <a:txBody>
                    <a:bodyPr/>
                    <a:lstStyle/>
                    <a:p>
                      <a:r>
                        <a:rPr sz="1800">
                          <a:solidFill>
                            <a:srgbClr val="1B3547"/>
                          </a:solidFill>
                          <a:latin typeface="Arial"/>
                          <a:ea typeface="Arial"/>
                          <a:cs typeface="Arial"/>
                        </a:rPr>
                        <a:t>Sources primaires requises, préflight bloqué</a:t>
                      </a:r>
                    </a:p>
                  </a:txBody>
                  <a:tcPr marL="152400" marR="152400" marT="57150" marB="57150"/>
                </a:tc>
              </a:tr>
            </a:tbl>
          </a:graphicData>
        </a:graphic>
      </p:graphicFrame>
      <p:sp>
        <p:nvSpPr>
          <p:cNvPr id="4" name="">
            <a:extLst xmlns:a="http://schemas.openxmlformats.org/drawingml/2006/main">
              <a:ext uri="{FF2B5EF4-FFF2-40B4-BE49-F238E27FC236}">
                <a16:creationId xmlns:a16="http://schemas.microsoft.com/office/drawing/2014/main" id="{05D3452A-E7A5-41C3-A5E5-533D7E5DAFC5}"/>
              </a:ext>
            </a:extLst>
          </p:cNvPr>
          <p:cNvSpPr>
            <a:spLocks xmlns:a="http://schemas.openxmlformats.org/drawingml/2006/main" noGrp="1"/>
          </p:cNvSpPr>
          <p:nvPr/>
        </p:nvSpPr>
        <p:spPr>
          <a:xfrm xmlns:a="http://schemas.openxmlformats.org/drawingml/2006/main">
            <a:off x="723900" y="6076950"/>
            <a:ext cx="1074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Quatre erreurs natives « setup refresh » pendant les lectures. STOP critique non couvert.</a:t>
            </a:r>
          </a:p>
        </p:txBody>
      </p:sp>
    </p:spTree>
    <p:extLst>
      <p:ext uri="{BB962C8B-B14F-4D97-AF65-F5344CB8AC3E}">
        <p14:creationId xmlns:p14="http://schemas.microsoft.com/office/powerpoint/2010/main" val="18445352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A8E0EC-B8BF-4A24-BD69-4F3FD6B3CD97}"/>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Connexion juridique et reprise Windows</a:t>
            </a:r>
          </a:p>
        </p:txBody>
      </p:sp>
      <p:sp>
        <p:nvSpPr>
          <p:cNvPr id="2" name="">
            <a:extLst xmlns:a="http://schemas.openxmlformats.org/drawingml/2006/main">
              <a:ext uri="{FF2B5EF4-FFF2-40B4-BE49-F238E27FC236}">
                <a16:creationId xmlns:a16="http://schemas.microsoft.com/office/drawing/2014/main" id="{7A9D555A-AE93-4CE6-B9DA-ABB8925D73B1}"/>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Connexion juridique réussie le 9 octobre : OAuth confirmé, huit outils MCP disponibles.</a:t>
            </a:r>
          </a:p>
        </p:txBody>
      </p:sp>
      <p:sp>
        <p:nvSpPr>
          <p:cNvPr id="3" name="">
            <a:extLst xmlns:a="http://schemas.openxmlformats.org/drawingml/2006/main">
              <a:ext uri="{FF2B5EF4-FFF2-40B4-BE49-F238E27FC236}">
                <a16:creationId xmlns:a16="http://schemas.microsoft.com/office/drawing/2014/main" id="{B8B36402-0895-43C3-852F-6CC2D845E9CE}"/>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Une lecture native MCP restitue un article et ses métadonnées. La couverture des cas et l’analyse juridique restent à vérifier.</a:t>
            </a:r>
          </a:p>
        </p:txBody>
      </p:sp>
      <p:sp>
        <p:nvSpPr>
          <p:cNvPr id="4" name="">
            <a:extLst xmlns:a="http://schemas.openxmlformats.org/drawingml/2006/main">
              <a:ext uri="{FF2B5EF4-FFF2-40B4-BE49-F238E27FC236}">
                <a16:creationId xmlns:a16="http://schemas.microsoft.com/office/drawing/2014/main" id="{20A0FF96-3299-4AC1-B225-0398D08A45CB}"/>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Reprise Windows encore bloquée : des processus CUA Node restent actifs. Aucune terminaison automatique. Lecture des skills à froid à valider.</a:t>
            </a:r>
          </a:p>
        </p:txBody>
      </p:sp>
      <p:sp>
        <p:nvSpPr>
          <p:cNvPr id="5" name="">
            <a:extLst xmlns:a="http://schemas.openxmlformats.org/drawingml/2006/main">
              <a:ext uri="{FF2B5EF4-FFF2-40B4-BE49-F238E27FC236}">
                <a16:creationId xmlns:a16="http://schemas.microsoft.com/office/drawing/2014/main" id="{F3BECB94-56B6-4A20-95F5-9D3859819595}"/>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Aucun nouveau répondant. Le bilan R3 reste : trois cas jugés sur seize, deux réussites et un échec. STOP critique non couvert.</a:t>
            </a:r>
          </a:p>
        </p:txBody>
      </p:sp>
    </p:spTree>
    <p:extLst>
      <p:ext uri="{BB962C8B-B14F-4D97-AF65-F5344CB8AC3E}">
        <p14:creationId xmlns:p14="http://schemas.microsoft.com/office/powerpoint/2010/main" val="6013729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FC9737-9514-4257-8916-54FA92DE950F}"/>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Points soumis au DSI / RSSI</a:t>
            </a:r>
          </a:p>
        </p:txBody>
      </p:sp>
      <p:sp>
        <p:nvSpPr>
          <p:cNvPr id="2" name="">
            <a:extLst xmlns:a="http://schemas.openxmlformats.org/drawingml/2006/main">
              <a:ext uri="{FF2B5EF4-FFF2-40B4-BE49-F238E27FC236}">
                <a16:creationId xmlns:a16="http://schemas.microsoft.com/office/drawing/2014/main" id="{22714846-B704-4133-806D-5EEC31B68E20}"/>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branches et livrables correspondent-ils aux situations de votre collectivité et à son mode d’exploitation ?</a:t>
            </a:r>
          </a:p>
        </p:txBody>
      </p:sp>
      <p:sp>
        <p:nvSpPr>
          <p:cNvPr id="3" name="">
            <a:extLst xmlns:a="http://schemas.openxmlformats.org/drawingml/2006/main">
              <a:ext uri="{FF2B5EF4-FFF2-40B4-BE49-F238E27FC236}">
                <a16:creationId xmlns:a16="http://schemas.microsoft.com/office/drawing/2014/main" id="{36E6494C-EC37-41BB-9C78-9D68061916CD}"/>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responsabilités DSI, RSSI, DPO, RH et finances sont-elles attribuées aux bons interlocuteurs ?</a:t>
            </a:r>
          </a:p>
        </p:txBody>
      </p:sp>
      <p:sp>
        <p:nvSpPr>
          <p:cNvPr id="4" name="">
            <a:extLst xmlns:a="http://schemas.openxmlformats.org/drawingml/2006/main">
              <a:ext uri="{FF2B5EF4-FFF2-40B4-BE49-F238E27FC236}">
                <a16:creationId xmlns:a16="http://schemas.microsoft.com/office/drawing/2014/main" id="{7EDA6FE2-DC23-4AB4-9E22-9B697497C7F7}"/>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STOP, préservations de preuves et conditions de reprise sont-ils suffisamment opérationnels ?</a:t>
            </a:r>
          </a:p>
        </p:txBody>
      </p:sp>
      <p:sp>
        <p:nvSpPr>
          <p:cNvPr id="5" name="">
            <a:extLst xmlns:a="http://schemas.openxmlformats.org/drawingml/2006/main">
              <a:ext uri="{FF2B5EF4-FFF2-40B4-BE49-F238E27FC236}">
                <a16:creationId xmlns:a16="http://schemas.microsoft.com/office/drawing/2014/main" id="{FA064C68-B75F-4300-A244-BB86559C3AE3}"/>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Quelles informations manque-t-il pour utiliser les fiches dans un dossier réel, sans données sensibles ?</a:t>
            </a:r>
          </a:p>
        </p:txBody>
      </p:sp>
    </p:spTree>
    <p:extLst>
      <p:ext uri="{BB962C8B-B14F-4D97-AF65-F5344CB8AC3E}">
        <p14:creationId xmlns:p14="http://schemas.microsoft.com/office/powerpoint/2010/main" val="15665134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64CE54D-0B5C-450E-A077-D655834A9498}"/>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Conditions de poursuite</a:t>
            </a:r>
          </a:p>
        </p:txBody>
      </p:sp>
      <p:graphicFrame>
        <p:nvGraphicFramePr>
          <p:cNvPr id="7" name="">
            <a:extLst xmlns:a="http://schemas.openxmlformats.org/drawingml/2006/main">
              <a:ext uri="{FF2B5EF4-FFF2-40B4-BE49-F238E27FC236}">
                <a16:creationId xmlns:a16="http://schemas.microsoft.com/office/drawing/2014/main" id="{F104F692-7CBF-4106-AFB3-0A9C5DB14A79}"/>
              </a:ext>
            </a:extLst>
          </p:cNvPr>
          <p:cNvGraphicFramePr/>
          <p:nvPr/>
        </p:nvGraphicFramePr>
        <p:xfrm>
          <a:off xmlns:a="http://schemas.openxmlformats.org/drawingml/2006/main" x="723900" y="1581150"/>
          <a:ext xmlns:a="http://schemas.openxmlformats.org/drawingml/2006/main" cx="10744200" cy="4171950"/>
        </p:xfrm>
        <a:graphic xmlns:a="http://schemas.openxmlformats.org/drawingml/2006/main">
          <a:graphicData uri="http://schemas.openxmlformats.org/drawingml/2006/table">
            <a:tbl>
              <a:tblPr/>
              <a:tblGrid>
                <a:gridCol w="4191000"/>
                <a:gridCol w="6553200"/>
              </a:tblGrid>
              <a:tr h="0">
                <a:tc>
                  <a:txBody>
                    <a:bodyPr/>
                    <a:lstStyle/>
                    <a:p>
                      <a:r>
                        <a:rPr sz="1800" b="1">
                          <a:solidFill>
                            <a:srgbClr val="FFFFFF"/>
                          </a:solidFill>
                          <a:latin typeface="Arial"/>
                          <a:ea typeface="Arial"/>
                          <a:cs typeface="Arial"/>
                        </a:rPr>
                        <a:t>Étape</a:t>
                      </a:r>
                    </a:p>
                  </a:txBody>
                  <a:tcPr marL="152400" marR="152400" marT="57150" marB="57150">
                    <a:solidFill>
                      <a:srgbClr val="112B40"/>
                    </a:solidFill>
                  </a:tcPr>
                </a:tc>
                <a:tc>
                  <a:txBody>
                    <a:bodyPr/>
                    <a:lstStyle/>
                    <a:p>
                      <a:r>
                        <a:rPr sz="1800" b="1">
                          <a:solidFill>
                            <a:srgbClr val="FFFFFF"/>
                          </a:solidFill>
                          <a:latin typeface="Arial"/>
                          <a:ea typeface="Arial"/>
                          <a:cs typeface="Arial"/>
                        </a:rPr>
                        <a:t>État et preuve attendue</a:t>
                      </a:r>
                    </a:p>
                  </a:txBody>
                  <a:tcPr marL="152400" marR="152400" marT="57150" marB="57150">
                    <a:solidFill>
                      <a:srgbClr val="112B40"/>
                    </a:solidFill>
                  </a:tcPr>
                </a:tc>
              </a:tr>
              <a:tr h="695325">
                <a:tc>
                  <a:txBody>
                    <a:bodyPr/>
                    <a:lstStyle/>
                    <a:p>
                      <a:r>
                        <a:rPr sz="1800">
                          <a:solidFill>
                            <a:srgbClr val="1B3547"/>
                          </a:solidFill>
                          <a:latin typeface="Arial"/>
                          <a:ea typeface="Arial"/>
                          <a:cs typeface="Arial"/>
                        </a:rPr>
                        <a:t>Connexion juridique vérifiée</a:t>
                      </a:r>
                    </a:p>
                  </a:txBody>
                  <a:tcPr marL="152400" marR="152400" marT="57150" marB="57150"/>
                </a:tc>
                <a:tc>
                  <a:txBody>
                    <a:bodyPr/>
                    <a:lstStyle/>
                    <a:p>
                      <a:r>
                        <a:rPr sz="1800">
                          <a:solidFill>
                            <a:srgbClr val="1B3547"/>
                          </a:solidFill>
                          <a:latin typeface="Arial"/>
                          <a:ea typeface="Arial"/>
                          <a:cs typeface="Arial"/>
                        </a:rPr>
                        <a:t>OAuth réussi, huit outils et une lecture native MCP</a:t>
                      </a:r>
                    </a:p>
                  </a:txBody>
                  <a:tcPr marL="152400" marR="152400" marT="57150" marB="57150"/>
                </a:tc>
              </a:tr>
              <a:tr h="695325">
                <a:tc>
                  <a:txBody>
                    <a:bodyPr/>
                    <a:lstStyle/>
                    <a:p>
                      <a:r>
                        <a:rPr sz="1800">
                          <a:solidFill>
                            <a:srgbClr val="1B3547"/>
                          </a:solidFill>
                          <a:latin typeface="Arial"/>
                          <a:ea typeface="Arial"/>
                          <a:cs typeface="Arial"/>
                        </a:rPr>
                        <a:t>Reprise Windows à froid</a:t>
                      </a:r>
                    </a:p>
                  </a:txBody>
                  <a:tcPr marL="152400" marR="152400" marT="57150" marB="57150"/>
                </a:tc>
                <a:tc>
                  <a:txBody>
                    <a:bodyPr/>
                    <a:lstStyle/>
                    <a:p>
                      <a:r>
                        <a:rPr sz="1800">
                          <a:solidFill>
                            <a:srgbClr val="1B3547"/>
                          </a:solidFill>
                          <a:latin typeface="Arial"/>
                          <a:ea typeface="Arial"/>
                          <a:cs typeface="Arial"/>
                        </a:rPr>
                        <a:t>Lecture native des skills réussie, processus CUA inactifs</a:t>
                      </a:r>
                    </a:p>
                  </a:txBody>
                  <a:tcPr marL="152400" marR="152400" marT="57150" marB="57150"/>
                </a:tc>
              </a:tr>
              <a:tr h="695325">
                <a:tc>
                  <a:txBody>
                    <a:bodyPr/>
                    <a:lstStyle/>
                    <a:p>
                      <a:r>
                        <a:rPr sz="1800">
                          <a:solidFill>
                            <a:srgbClr val="1B3547"/>
                          </a:solidFill>
                          <a:latin typeface="Arial"/>
                          <a:ea typeface="Arial"/>
                          <a:cs typeface="Arial"/>
                        </a:rPr>
                        <a:t>Suite complète dev.7</a:t>
                      </a:r>
                    </a:p>
                  </a:txBody>
                  <a:tcPr marL="152400" marR="152400" marT="57150" marB="57150"/>
                </a:tc>
                <a:tc>
                  <a:txBody>
                    <a:bodyPr/>
                    <a:lstStyle/>
                    <a:p>
                      <a:r>
                        <a:rPr sz="1800">
                          <a:solidFill>
                            <a:srgbClr val="1B3547"/>
                          </a:solidFill>
                          <a:latin typeface="Arial"/>
                          <a:ea typeface="Arial"/>
                          <a:cs typeface="Arial"/>
                        </a:rPr>
                        <a:t>Seize nouveaux cas jugés, dont réouverture STOP critique</a:t>
                      </a:r>
                    </a:p>
                  </a:txBody>
                  <a:tcPr marL="152400" marR="152400" marT="57150" marB="57150"/>
                </a:tc>
              </a:tr>
              <a:tr h="695325">
                <a:tc>
                  <a:txBody>
                    <a:bodyPr/>
                    <a:lstStyle/>
                    <a:p>
                      <a:r>
                        <a:rPr sz="1800">
                          <a:solidFill>
                            <a:srgbClr val="1B3547"/>
                          </a:solidFill>
                          <a:latin typeface="Arial"/>
                          <a:ea typeface="Arial"/>
                          <a:cs typeface="Arial"/>
                        </a:rPr>
                        <a:t>Revue DSI/RSSI et juridique</a:t>
                      </a:r>
                    </a:p>
                  </a:txBody>
                  <a:tcPr marL="152400" marR="152400" marT="57150" marB="57150"/>
                </a:tc>
                <a:tc>
                  <a:txBody>
                    <a:bodyPr/>
                    <a:lstStyle/>
                    <a:p>
                      <a:r>
                        <a:rPr sz="1800">
                          <a:solidFill>
                            <a:srgbClr val="1B3547"/>
                          </a:solidFill>
                          <a:latin typeface="Arial"/>
                          <a:ea typeface="Arial"/>
                          <a:cs typeface="Arial"/>
                        </a:rPr>
                        <a:t>Avis humains sur les branches et les preuves exactes</a:t>
                      </a:r>
                    </a:p>
                  </a:txBody>
                  <a:tcPr marL="152400" marR="152400" marT="57150" marB="57150"/>
                </a:tc>
              </a:tr>
              <a:tr h="695325">
                <a:tc>
                  <a:txBody>
                    <a:bodyPr/>
                    <a:lstStyle/>
                    <a:p>
                      <a:r>
                        <a:rPr sz="1800">
                          <a:solidFill>
                            <a:srgbClr val="1B3547"/>
                          </a:solidFill>
                          <a:latin typeface="Arial"/>
                          <a:ea typeface="Arial"/>
                          <a:cs typeface="Arial"/>
                        </a:rPr>
                        <a:t>PowerPoint et distribution</a:t>
                      </a:r>
                    </a:p>
                  </a:txBody>
                  <a:tcPr marL="152400" marR="152400" marT="57150" marB="57150"/>
                </a:tc>
                <a:tc>
                  <a:txBody>
                    <a:bodyPr/>
                    <a:lstStyle/>
                    <a:p>
                      <a:r>
                        <a:rPr sz="1800">
                          <a:solidFill>
                            <a:srgbClr val="1B3547"/>
                          </a:solidFill>
                          <a:latin typeface="Arial"/>
                          <a:ea typeface="Arial"/>
                          <a:cs typeface="Arial"/>
                        </a:rPr>
                        <a:t>Ouverture native, smoke du candidat et décision humaine</a:t>
                      </a:r>
                    </a:p>
                  </a:txBody>
                  <a:tcPr marL="152400" marR="152400" marT="57150" marB="57150"/>
                </a:tc>
              </a:tr>
            </a:tbl>
          </a:graphicData>
        </a:graphic>
      </p:graphicFrame>
      <p:sp>
        <p:nvSpPr>
          <p:cNvPr id="3" name="">
            <a:extLst xmlns:a="http://schemas.openxmlformats.org/drawingml/2006/main">
              <a:ext uri="{FF2B5EF4-FFF2-40B4-BE49-F238E27FC236}">
                <a16:creationId xmlns:a16="http://schemas.microsoft.com/office/drawing/2014/main" id="{CFB0F410-1D5E-4051-9320-84D15FE3BC5B}"/>
              </a:ext>
            </a:extLst>
          </p:cNvPr>
          <p:cNvSpPr>
            <a:spLocks xmlns:a="http://schemas.openxmlformats.org/drawingml/2006/main" noGrp="1"/>
          </p:cNvSpPr>
          <p:nvPr/>
        </p:nvSpPr>
        <p:spPr>
          <a:xfrm xmlns:a="http://schemas.openxmlformats.org/drawingml/2006/main">
            <a:off x="723900" y="60007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Bilan R3 inchangé. Avis humains en attente. release_ready=false.</a:t>
            </a:r>
          </a:p>
        </p:txBody>
      </p:sp>
    </p:spTree>
    <p:extLst>
      <p:ext uri="{BB962C8B-B14F-4D97-AF65-F5344CB8AC3E}">
        <p14:creationId xmlns:p14="http://schemas.microsoft.com/office/powerpoint/2010/main" val="7097419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2026-10-09T09:40:56.6110000Z</dcterms:created>
  <dcterms:modified xsi:type="dcterms:W3CDTF">2026-10-09T09:40:56.6110000Z</dcterms:modified>
</coreProperties>
</file>